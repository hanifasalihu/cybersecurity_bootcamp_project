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4"/>
  </p:notesMasterIdLst>
  <p:sldIdLst>
    <p:sldId id="256" r:id="rId2"/>
    <p:sldId id="258" r:id="rId3"/>
    <p:sldId id="259" r:id="rId4"/>
    <p:sldId id="268" r:id="rId5"/>
    <p:sldId id="265" r:id="rId6"/>
    <p:sldId id="266" r:id="rId7"/>
    <p:sldId id="267" r:id="rId8"/>
    <p:sldId id="279" r:id="rId9"/>
    <p:sldId id="260" r:id="rId10"/>
    <p:sldId id="277" r:id="rId11"/>
    <p:sldId id="269" r:id="rId12"/>
    <p:sldId id="271" r:id="rId13"/>
    <p:sldId id="276" r:id="rId14"/>
    <p:sldId id="270" r:id="rId15"/>
    <p:sldId id="272" r:id="rId16"/>
    <p:sldId id="275" r:id="rId17"/>
    <p:sldId id="273" r:id="rId18"/>
    <p:sldId id="261" r:id="rId19"/>
    <p:sldId id="280" r:id="rId20"/>
    <p:sldId id="278" r:id="rId21"/>
    <p:sldId id="262" r:id="rId22"/>
    <p:sldId id="263" r:id="rId2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6" roundtripDataSignature="AMtx7mjBb122vIqdX3IgMWKn3EVI0zoJH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47" d="100"/>
          <a:sy n="47" d="100"/>
        </p:scale>
        <p:origin x="1027"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customschemas.google.com/relationships/presentationmetadata" Target="meta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4" name="Google Shape;10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5" name="Google Shape;115;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a:extLst>
            <a:ext uri="{FF2B5EF4-FFF2-40B4-BE49-F238E27FC236}">
              <a16:creationId xmlns:a16="http://schemas.microsoft.com/office/drawing/2014/main" id="{1C54E3F9-8963-7854-A673-9D4A6CF4EEC0}"/>
            </a:ext>
          </a:extLst>
        </p:cNvPr>
        <p:cNvGrpSpPr/>
        <p:nvPr/>
      </p:nvGrpSpPr>
      <p:grpSpPr>
        <a:xfrm>
          <a:off x="0" y="0"/>
          <a:ext cx="0" cy="0"/>
          <a:chOff x="0" y="0"/>
          <a:chExt cx="0" cy="0"/>
        </a:xfrm>
      </p:grpSpPr>
      <p:sp>
        <p:nvSpPr>
          <p:cNvPr id="114" name="Google Shape;114;p4:notes">
            <a:extLst>
              <a:ext uri="{FF2B5EF4-FFF2-40B4-BE49-F238E27FC236}">
                <a16:creationId xmlns:a16="http://schemas.microsoft.com/office/drawing/2014/main" id="{9B325F7D-CA88-62D4-6B0E-302F2B261BA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5" name="Google Shape;115;p4:notes">
            <a:extLst>
              <a:ext uri="{FF2B5EF4-FFF2-40B4-BE49-F238E27FC236}">
                <a16:creationId xmlns:a16="http://schemas.microsoft.com/office/drawing/2014/main" id="{2D22D264-5948-6AEC-8CFB-7AAA0C0D09F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35199845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a:extLst>
            <a:ext uri="{FF2B5EF4-FFF2-40B4-BE49-F238E27FC236}">
              <a16:creationId xmlns:a16="http://schemas.microsoft.com/office/drawing/2014/main" id="{026ED37D-13E8-E70F-46AB-62C1FE6435D0}"/>
            </a:ext>
          </a:extLst>
        </p:cNvPr>
        <p:cNvGrpSpPr/>
        <p:nvPr/>
      </p:nvGrpSpPr>
      <p:grpSpPr>
        <a:xfrm>
          <a:off x="0" y="0"/>
          <a:ext cx="0" cy="0"/>
          <a:chOff x="0" y="0"/>
          <a:chExt cx="0" cy="0"/>
        </a:xfrm>
      </p:grpSpPr>
      <p:sp>
        <p:nvSpPr>
          <p:cNvPr id="114" name="Google Shape;114;p4:notes">
            <a:extLst>
              <a:ext uri="{FF2B5EF4-FFF2-40B4-BE49-F238E27FC236}">
                <a16:creationId xmlns:a16="http://schemas.microsoft.com/office/drawing/2014/main" id="{E26A58E0-CB2C-941E-1982-54AA08DF13F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5" name="Google Shape;115;p4:notes">
            <a:extLst>
              <a:ext uri="{FF2B5EF4-FFF2-40B4-BE49-F238E27FC236}">
                <a16:creationId xmlns:a16="http://schemas.microsoft.com/office/drawing/2014/main" id="{2A517FF6-D99F-D0A3-234C-82CC8EB0C1F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14816078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a:extLst>
            <a:ext uri="{FF2B5EF4-FFF2-40B4-BE49-F238E27FC236}">
              <a16:creationId xmlns:a16="http://schemas.microsoft.com/office/drawing/2014/main" id="{769C3167-124A-C7D7-179A-65F653B62AC6}"/>
            </a:ext>
          </a:extLst>
        </p:cNvPr>
        <p:cNvGrpSpPr/>
        <p:nvPr/>
      </p:nvGrpSpPr>
      <p:grpSpPr>
        <a:xfrm>
          <a:off x="0" y="0"/>
          <a:ext cx="0" cy="0"/>
          <a:chOff x="0" y="0"/>
          <a:chExt cx="0" cy="0"/>
        </a:xfrm>
      </p:grpSpPr>
      <p:sp>
        <p:nvSpPr>
          <p:cNvPr id="114" name="Google Shape;114;p4:notes">
            <a:extLst>
              <a:ext uri="{FF2B5EF4-FFF2-40B4-BE49-F238E27FC236}">
                <a16:creationId xmlns:a16="http://schemas.microsoft.com/office/drawing/2014/main" id="{68076DE9-E0AA-B5AD-4B3C-1B0F1A5B95F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5" name="Google Shape;115;p4:notes">
            <a:extLst>
              <a:ext uri="{FF2B5EF4-FFF2-40B4-BE49-F238E27FC236}">
                <a16:creationId xmlns:a16="http://schemas.microsoft.com/office/drawing/2014/main" id="{F6AD7A13-A718-B9B4-62F6-829E349488B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7129085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a:extLst>
            <a:ext uri="{FF2B5EF4-FFF2-40B4-BE49-F238E27FC236}">
              <a16:creationId xmlns:a16="http://schemas.microsoft.com/office/drawing/2014/main" id="{7F4B9EBC-B936-3E48-4C41-F5353C663FD0}"/>
            </a:ext>
          </a:extLst>
        </p:cNvPr>
        <p:cNvGrpSpPr/>
        <p:nvPr/>
      </p:nvGrpSpPr>
      <p:grpSpPr>
        <a:xfrm>
          <a:off x="0" y="0"/>
          <a:ext cx="0" cy="0"/>
          <a:chOff x="0" y="0"/>
          <a:chExt cx="0" cy="0"/>
        </a:xfrm>
      </p:grpSpPr>
      <p:sp>
        <p:nvSpPr>
          <p:cNvPr id="114" name="Google Shape;114;p4:notes">
            <a:extLst>
              <a:ext uri="{FF2B5EF4-FFF2-40B4-BE49-F238E27FC236}">
                <a16:creationId xmlns:a16="http://schemas.microsoft.com/office/drawing/2014/main" id="{870512D2-05B9-059F-0BF0-3947F7C2C83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5" name="Google Shape;115;p4:notes">
            <a:extLst>
              <a:ext uri="{FF2B5EF4-FFF2-40B4-BE49-F238E27FC236}">
                <a16:creationId xmlns:a16="http://schemas.microsoft.com/office/drawing/2014/main" id="{9606C704-ADE1-FDDF-6BB0-7413E0AAF93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33642652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a:extLst>
            <a:ext uri="{FF2B5EF4-FFF2-40B4-BE49-F238E27FC236}">
              <a16:creationId xmlns:a16="http://schemas.microsoft.com/office/drawing/2014/main" id="{0643EC88-6406-BFCE-DBEB-F0D254DE6845}"/>
            </a:ext>
          </a:extLst>
        </p:cNvPr>
        <p:cNvGrpSpPr/>
        <p:nvPr/>
      </p:nvGrpSpPr>
      <p:grpSpPr>
        <a:xfrm>
          <a:off x="0" y="0"/>
          <a:ext cx="0" cy="0"/>
          <a:chOff x="0" y="0"/>
          <a:chExt cx="0" cy="0"/>
        </a:xfrm>
      </p:grpSpPr>
      <p:sp>
        <p:nvSpPr>
          <p:cNvPr id="114" name="Google Shape;114;p4:notes">
            <a:extLst>
              <a:ext uri="{FF2B5EF4-FFF2-40B4-BE49-F238E27FC236}">
                <a16:creationId xmlns:a16="http://schemas.microsoft.com/office/drawing/2014/main" id="{F419CD9A-A857-4DAC-D703-3ED79292DF8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5" name="Google Shape;115;p4:notes">
            <a:extLst>
              <a:ext uri="{FF2B5EF4-FFF2-40B4-BE49-F238E27FC236}">
                <a16:creationId xmlns:a16="http://schemas.microsoft.com/office/drawing/2014/main" id="{220A9A61-04F2-CF9A-A941-52455BB255D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24371291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6" name="Google Shape;126;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a:extLst>
            <a:ext uri="{FF2B5EF4-FFF2-40B4-BE49-F238E27FC236}">
              <a16:creationId xmlns:a16="http://schemas.microsoft.com/office/drawing/2014/main" id="{2C23D3C5-5C18-5CBD-2EEF-49E6CA8811C1}"/>
            </a:ext>
          </a:extLst>
        </p:cNvPr>
        <p:cNvGrpSpPr/>
        <p:nvPr/>
      </p:nvGrpSpPr>
      <p:grpSpPr>
        <a:xfrm>
          <a:off x="0" y="0"/>
          <a:ext cx="0" cy="0"/>
          <a:chOff x="0" y="0"/>
          <a:chExt cx="0" cy="0"/>
        </a:xfrm>
      </p:grpSpPr>
      <p:sp>
        <p:nvSpPr>
          <p:cNvPr id="125" name="Google Shape;125;p5:notes">
            <a:extLst>
              <a:ext uri="{FF2B5EF4-FFF2-40B4-BE49-F238E27FC236}">
                <a16:creationId xmlns:a16="http://schemas.microsoft.com/office/drawing/2014/main" id="{ACF9ACB2-8865-FE1E-95C8-04B01ABC92C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6" name="Google Shape;126;p5:notes">
            <a:extLst>
              <a:ext uri="{FF2B5EF4-FFF2-40B4-BE49-F238E27FC236}">
                <a16:creationId xmlns:a16="http://schemas.microsoft.com/office/drawing/2014/main" id="{67C91498-DBF1-747E-715D-C1311B2F78D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21428439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a:extLst>
            <a:ext uri="{FF2B5EF4-FFF2-40B4-BE49-F238E27FC236}">
              <a16:creationId xmlns:a16="http://schemas.microsoft.com/office/drawing/2014/main" id="{B7095E52-22FE-2DD7-61CD-D521631B004E}"/>
            </a:ext>
          </a:extLst>
        </p:cNvPr>
        <p:cNvGrpSpPr/>
        <p:nvPr/>
      </p:nvGrpSpPr>
      <p:grpSpPr>
        <a:xfrm>
          <a:off x="0" y="0"/>
          <a:ext cx="0" cy="0"/>
          <a:chOff x="0" y="0"/>
          <a:chExt cx="0" cy="0"/>
        </a:xfrm>
      </p:grpSpPr>
      <p:sp>
        <p:nvSpPr>
          <p:cNvPr id="125" name="Google Shape;125;p5:notes">
            <a:extLst>
              <a:ext uri="{FF2B5EF4-FFF2-40B4-BE49-F238E27FC236}">
                <a16:creationId xmlns:a16="http://schemas.microsoft.com/office/drawing/2014/main" id="{4631F6EA-AF22-4C2E-AFE6-95CD5C4E675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6" name="Google Shape;126;p5:notes">
            <a:extLst>
              <a:ext uri="{FF2B5EF4-FFF2-40B4-BE49-F238E27FC236}">
                <a16:creationId xmlns:a16="http://schemas.microsoft.com/office/drawing/2014/main" id="{DBAC53C2-7BDB-537B-7D85-D6D0F2AC1B9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13682564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a:extLst>
            <a:ext uri="{FF2B5EF4-FFF2-40B4-BE49-F238E27FC236}">
              <a16:creationId xmlns:a16="http://schemas.microsoft.com/office/drawing/2014/main" id="{F289BB3E-35AC-DCA0-5B03-8AB20F95A951}"/>
            </a:ext>
          </a:extLst>
        </p:cNvPr>
        <p:cNvGrpSpPr/>
        <p:nvPr/>
      </p:nvGrpSpPr>
      <p:grpSpPr>
        <a:xfrm>
          <a:off x="0" y="0"/>
          <a:ext cx="0" cy="0"/>
          <a:chOff x="0" y="0"/>
          <a:chExt cx="0" cy="0"/>
        </a:xfrm>
      </p:grpSpPr>
      <p:sp>
        <p:nvSpPr>
          <p:cNvPr id="125" name="Google Shape;125;p5:notes">
            <a:extLst>
              <a:ext uri="{FF2B5EF4-FFF2-40B4-BE49-F238E27FC236}">
                <a16:creationId xmlns:a16="http://schemas.microsoft.com/office/drawing/2014/main" id="{04508141-6D2D-4456-D5A0-49F15F14177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6" name="Google Shape;126;p5:notes">
            <a:extLst>
              <a:ext uri="{FF2B5EF4-FFF2-40B4-BE49-F238E27FC236}">
                <a16:creationId xmlns:a16="http://schemas.microsoft.com/office/drawing/2014/main" id="{9E7BC306-812C-3BA0-F8B6-8C47F89E8E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10102374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a:extLst>
            <a:ext uri="{FF2B5EF4-FFF2-40B4-BE49-F238E27FC236}">
              <a16:creationId xmlns:a16="http://schemas.microsoft.com/office/drawing/2014/main" id="{1B81535D-10DE-3ED0-6E18-BC52E690C385}"/>
            </a:ext>
          </a:extLst>
        </p:cNvPr>
        <p:cNvGrpSpPr/>
        <p:nvPr/>
      </p:nvGrpSpPr>
      <p:grpSpPr>
        <a:xfrm>
          <a:off x="0" y="0"/>
          <a:ext cx="0" cy="0"/>
          <a:chOff x="0" y="0"/>
          <a:chExt cx="0" cy="0"/>
        </a:xfrm>
      </p:grpSpPr>
      <p:sp>
        <p:nvSpPr>
          <p:cNvPr id="125" name="Google Shape;125;p5:notes">
            <a:extLst>
              <a:ext uri="{FF2B5EF4-FFF2-40B4-BE49-F238E27FC236}">
                <a16:creationId xmlns:a16="http://schemas.microsoft.com/office/drawing/2014/main" id="{66944A48-D52A-CCFB-5EA6-50E43FA1CD6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6" name="Google Shape;126;p5:notes">
            <a:extLst>
              <a:ext uri="{FF2B5EF4-FFF2-40B4-BE49-F238E27FC236}">
                <a16:creationId xmlns:a16="http://schemas.microsoft.com/office/drawing/2014/main" id="{CEFC2ECC-17F1-E568-A0E2-68DF94B12B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610837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a:extLst>
            <a:ext uri="{FF2B5EF4-FFF2-40B4-BE49-F238E27FC236}">
              <a16:creationId xmlns:a16="http://schemas.microsoft.com/office/drawing/2014/main" id="{AA13091C-1742-4904-C4E6-823EB29C7972}"/>
            </a:ext>
          </a:extLst>
        </p:cNvPr>
        <p:cNvGrpSpPr/>
        <p:nvPr/>
      </p:nvGrpSpPr>
      <p:grpSpPr>
        <a:xfrm>
          <a:off x="0" y="0"/>
          <a:ext cx="0" cy="0"/>
          <a:chOff x="0" y="0"/>
          <a:chExt cx="0" cy="0"/>
        </a:xfrm>
      </p:grpSpPr>
      <p:sp>
        <p:nvSpPr>
          <p:cNvPr id="125" name="Google Shape;125;p5:notes">
            <a:extLst>
              <a:ext uri="{FF2B5EF4-FFF2-40B4-BE49-F238E27FC236}">
                <a16:creationId xmlns:a16="http://schemas.microsoft.com/office/drawing/2014/main" id="{F5572849-04E5-95EF-3AB8-4D85B5012AA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6" name="Google Shape;126;p5:notes">
            <a:extLst>
              <a:ext uri="{FF2B5EF4-FFF2-40B4-BE49-F238E27FC236}">
                <a16:creationId xmlns:a16="http://schemas.microsoft.com/office/drawing/2014/main" id="{F573AC80-E39F-159C-BA0B-8DF006DFEAF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27044957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a:extLst>
            <a:ext uri="{FF2B5EF4-FFF2-40B4-BE49-F238E27FC236}">
              <a16:creationId xmlns:a16="http://schemas.microsoft.com/office/drawing/2014/main" id="{CADE6FB6-1D16-C1A8-5FB2-07F1F966FC3C}"/>
            </a:ext>
          </a:extLst>
        </p:cNvPr>
        <p:cNvGrpSpPr/>
        <p:nvPr/>
      </p:nvGrpSpPr>
      <p:grpSpPr>
        <a:xfrm>
          <a:off x="0" y="0"/>
          <a:ext cx="0" cy="0"/>
          <a:chOff x="0" y="0"/>
          <a:chExt cx="0" cy="0"/>
        </a:xfrm>
      </p:grpSpPr>
      <p:sp>
        <p:nvSpPr>
          <p:cNvPr id="125" name="Google Shape;125;p5:notes">
            <a:extLst>
              <a:ext uri="{FF2B5EF4-FFF2-40B4-BE49-F238E27FC236}">
                <a16:creationId xmlns:a16="http://schemas.microsoft.com/office/drawing/2014/main" id="{C9505C40-7E13-13CC-50F8-7FCDE134CD8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6" name="Google Shape;126;p5:notes">
            <a:extLst>
              <a:ext uri="{FF2B5EF4-FFF2-40B4-BE49-F238E27FC236}">
                <a16:creationId xmlns:a16="http://schemas.microsoft.com/office/drawing/2014/main" id="{0AF5C323-3C07-5913-6EC2-E2B30D02933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36937127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a:extLst>
            <a:ext uri="{FF2B5EF4-FFF2-40B4-BE49-F238E27FC236}">
              <a16:creationId xmlns:a16="http://schemas.microsoft.com/office/drawing/2014/main" id="{B5FE35B5-86D9-DAB1-9C13-D8FAAFB299E9}"/>
            </a:ext>
          </a:extLst>
        </p:cNvPr>
        <p:cNvGrpSpPr/>
        <p:nvPr/>
      </p:nvGrpSpPr>
      <p:grpSpPr>
        <a:xfrm>
          <a:off x="0" y="0"/>
          <a:ext cx="0" cy="0"/>
          <a:chOff x="0" y="0"/>
          <a:chExt cx="0" cy="0"/>
        </a:xfrm>
      </p:grpSpPr>
      <p:sp>
        <p:nvSpPr>
          <p:cNvPr id="125" name="Google Shape;125;p5:notes">
            <a:extLst>
              <a:ext uri="{FF2B5EF4-FFF2-40B4-BE49-F238E27FC236}">
                <a16:creationId xmlns:a16="http://schemas.microsoft.com/office/drawing/2014/main" id="{EE7C29B4-7345-EA37-4344-7EBCEADF67B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6" name="Google Shape;126;p5:notes">
            <a:extLst>
              <a:ext uri="{FF2B5EF4-FFF2-40B4-BE49-F238E27FC236}">
                <a16:creationId xmlns:a16="http://schemas.microsoft.com/office/drawing/2014/main" id="{CD7849D9-2752-AD1F-0D40-87625E97C82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23076032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a:extLst>
            <a:ext uri="{FF2B5EF4-FFF2-40B4-BE49-F238E27FC236}">
              <a16:creationId xmlns:a16="http://schemas.microsoft.com/office/drawing/2014/main" id="{7E193C09-6980-2369-8A99-4F2BA164F1BD}"/>
            </a:ext>
          </a:extLst>
        </p:cNvPr>
        <p:cNvGrpSpPr/>
        <p:nvPr/>
      </p:nvGrpSpPr>
      <p:grpSpPr>
        <a:xfrm>
          <a:off x="0" y="0"/>
          <a:ext cx="0" cy="0"/>
          <a:chOff x="0" y="0"/>
          <a:chExt cx="0" cy="0"/>
        </a:xfrm>
      </p:grpSpPr>
      <p:sp>
        <p:nvSpPr>
          <p:cNvPr id="125" name="Google Shape;125;p5:notes">
            <a:extLst>
              <a:ext uri="{FF2B5EF4-FFF2-40B4-BE49-F238E27FC236}">
                <a16:creationId xmlns:a16="http://schemas.microsoft.com/office/drawing/2014/main" id="{C6323B36-ED1E-ADFE-1B0E-B0EF0C0EE1F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26" name="Google Shape;126;p5:notes">
            <a:extLst>
              <a:ext uri="{FF2B5EF4-FFF2-40B4-BE49-F238E27FC236}">
                <a16:creationId xmlns:a16="http://schemas.microsoft.com/office/drawing/2014/main" id="{A6294243-0AA9-9E05-5CA2-4DD0F89D3D8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73830530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7" name="Google Shape;137;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a:extLst>
            <a:ext uri="{FF2B5EF4-FFF2-40B4-BE49-F238E27FC236}">
              <a16:creationId xmlns:a16="http://schemas.microsoft.com/office/drawing/2014/main" id="{32BB38FE-1F8F-95ED-AD64-D97D855736E8}"/>
            </a:ext>
          </a:extLst>
        </p:cNvPr>
        <p:cNvGrpSpPr/>
        <p:nvPr/>
      </p:nvGrpSpPr>
      <p:grpSpPr>
        <a:xfrm>
          <a:off x="0" y="0"/>
          <a:ext cx="0" cy="0"/>
          <a:chOff x="0" y="0"/>
          <a:chExt cx="0" cy="0"/>
        </a:xfrm>
      </p:grpSpPr>
      <p:sp>
        <p:nvSpPr>
          <p:cNvPr id="136" name="Google Shape;136;p6:notes">
            <a:extLst>
              <a:ext uri="{FF2B5EF4-FFF2-40B4-BE49-F238E27FC236}">
                <a16:creationId xmlns:a16="http://schemas.microsoft.com/office/drawing/2014/main" id="{A5DA7962-4FEA-E2D8-E425-4651E7FFAA6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7" name="Google Shape;137;p6:notes">
            <a:extLst>
              <a:ext uri="{FF2B5EF4-FFF2-40B4-BE49-F238E27FC236}">
                <a16:creationId xmlns:a16="http://schemas.microsoft.com/office/drawing/2014/main" id="{45DCB98D-1C5E-D592-108C-C578906DC3C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41020629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a:extLst>
            <a:ext uri="{FF2B5EF4-FFF2-40B4-BE49-F238E27FC236}">
              <a16:creationId xmlns:a16="http://schemas.microsoft.com/office/drawing/2014/main" id="{22306E9F-A4F8-2984-9542-59C5F1F4545D}"/>
            </a:ext>
          </a:extLst>
        </p:cNvPr>
        <p:cNvGrpSpPr/>
        <p:nvPr/>
      </p:nvGrpSpPr>
      <p:grpSpPr>
        <a:xfrm>
          <a:off x="0" y="0"/>
          <a:ext cx="0" cy="0"/>
          <a:chOff x="0" y="0"/>
          <a:chExt cx="0" cy="0"/>
        </a:xfrm>
      </p:grpSpPr>
      <p:sp>
        <p:nvSpPr>
          <p:cNvPr id="136" name="Google Shape;136;p6:notes">
            <a:extLst>
              <a:ext uri="{FF2B5EF4-FFF2-40B4-BE49-F238E27FC236}">
                <a16:creationId xmlns:a16="http://schemas.microsoft.com/office/drawing/2014/main" id="{1A4481FF-DC12-0A9B-756F-9E88F83C5E5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7" name="Google Shape;137;p6:notes">
            <a:extLst>
              <a:ext uri="{FF2B5EF4-FFF2-40B4-BE49-F238E27FC236}">
                <a16:creationId xmlns:a16="http://schemas.microsoft.com/office/drawing/2014/main" id="{04B1722F-FB83-9281-30CE-EF204B57596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322371547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8" name="Google Shape;14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9" name="Google Shape;159;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10"/>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10"/>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12"/>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12"/>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3"/>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13"/>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14"/>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4"/>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14"/>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14"/>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14"/>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1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7"/>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17"/>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8"/>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8"/>
          <p:cNvSpPr>
            <a:spLocks noGrp="1"/>
          </p:cNvSpPr>
          <p:nvPr>
            <p:ph type="pic" idx="2"/>
          </p:nvPr>
        </p:nvSpPr>
        <p:spPr>
          <a:xfrm>
            <a:off x="5183188" y="987425"/>
            <a:ext cx="6172200" cy="4873625"/>
          </a:xfrm>
          <a:prstGeom prst="rect">
            <a:avLst/>
          </a:prstGeom>
          <a:noFill/>
          <a:ln>
            <a:noFill/>
          </a:ln>
        </p:spPr>
        <p:txBody>
          <a:bodyPr/>
          <a:lstStyle/>
          <a:p>
            <a:endParaRPr lang="en-US"/>
          </a:p>
        </p:txBody>
      </p:sp>
      <p:sp>
        <p:nvSpPr>
          <p:cNvPr id="64" name="Google Shape;64;p18"/>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9"/>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20"/>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0"/>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p:nvPr/>
        </p:nvSpPr>
        <p:spPr>
          <a:xfrm>
            <a:off x="-39756" y="-25341"/>
            <a:ext cx="10067365" cy="488589"/>
          </a:xfrm>
          <a:prstGeom prst="rect">
            <a:avLst/>
          </a:prstGeom>
          <a:solidFill>
            <a:srgbClr val="FE4A5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a:solidFill>
                  <a:schemeClr val="lt1"/>
                </a:solidFill>
                <a:latin typeface="Calibri"/>
                <a:ea typeface="Calibri"/>
                <a:cs typeface="Calibri"/>
                <a:sym typeface="Calibri"/>
              </a:rPr>
              <a:t>CAPSTONE PROJECT</a:t>
            </a:r>
            <a:endParaRPr sz="1400" b="0" i="0" u="none" strike="noStrike" cap="none">
              <a:solidFill>
                <a:srgbClr val="000000"/>
              </a:solidFill>
              <a:latin typeface="Arial"/>
              <a:ea typeface="Arial"/>
              <a:cs typeface="Arial"/>
              <a:sym typeface="Arial"/>
            </a:endParaRPr>
          </a:p>
        </p:txBody>
      </p:sp>
      <p:pic>
        <p:nvPicPr>
          <p:cNvPr id="85" name="Google Shape;85;p1"/>
          <p:cNvPicPr preferRelativeResize="0"/>
          <p:nvPr/>
        </p:nvPicPr>
        <p:blipFill rotWithShape="1">
          <a:blip r:embed="rId3">
            <a:alphaModFix/>
          </a:blip>
          <a:srcRect/>
          <a:stretch/>
        </p:blipFill>
        <p:spPr>
          <a:xfrm>
            <a:off x="10206443" y="0"/>
            <a:ext cx="1886945" cy="502031"/>
          </a:xfrm>
          <a:prstGeom prst="rect">
            <a:avLst/>
          </a:prstGeom>
          <a:noFill/>
          <a:ln>
            <a:noFill/>
          </a:ln>
        </p:spPr>
      </p:pic>
      <p:sp>
        <p:nvSpPr>
          <p:cNvPr id="86" name="Google Shape;86;p1"/>
          <p:cNvSpPr/>
          <p:nvPr/>
        </p:nvSpPr>
        <p:spPr>
          <a:xfrm>
            <a:off x="-3" y="528340"/>
            <a:ext cx="10067365" cy="161941"/>
          </a:xfrm>
          <a:prstGeom prst="rect">
            <a:avLst/>
          </a:prstGeom>
          <a:solidFill>
            <a:schemeClr val="dk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7" name="Google Shape;87;p1"/>
          <p:cNvSpPr txBox="1"/>
          <p:nvPr/>
        </p:nvSpPr>
        <p:spPr>
          <a:xfrm>
            <a:off x="1138518" y="6472519"/>
            <a:ext cx="760207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1" u="none" strike="noStrike" cap="none" dirty="0">
                <a:solidFill>
                  <a:schemeClr val="dk1"/>
                </a:solidFill>
                <a:latin typeface="Calibri"/>
                <a:ea typeface="Calibri"/>
                <a:cs typeface="Calibri"/>
                <a:sym typeface="Calibri"/>
              </a:rPr>
              <a:t>Disclaimer: This training material belongs to </a:t>
            </a:r>
            <a:r>
              <a:rPr lang="en-US" sz="1800" b="0" i="1" u="none" strike="noStrike" cap="none" dirty="0" err="1">
                <a:solidFill>
                  <a:schemeClr val="dk1"/>
                </a:solidFill>
                <a:latin typeface="Calibri"/>
                <a:ea typeface="Calibri"/>
                <a:cs typeface="Calibri"/>
                <a:sym typeface="Calibri"/>
              </a:rPr>
              <a:t>techcrush</a:t>
            </a:r>
            <a:r>
              <a:rPr lang="en-US" sz="1800" b="0" i="1" u="none" strike="noStrike" cap="none" dirty="0">
                <a:solidFill>
                  <a:schemeClr val="dk1"/>
                </a:solidFill>
                <a:latin typeface="Calibri"/>
                <a:ea typeface="Calibri"/>
                <a:cs typeface="Calibri"/>
                <a:sym typeface="Calibri"/>
              </a:rPr>
              <a:t> and shouldn’t be shared</a:t>
            </a:r>
            <a:endParaRPr sz="1400" b="0" i="0" u="none" strike="noStrike" cap="none" dirty="0">
              <a:solidFill>
                <a:srgbClr val="000000"/>
              </a:solidFill>
              <a:latin typeface="Arial"/>
              <a:ea typeface="Arial"/>
              <a:cs typeface="Arial"/>
              <a:sym typeface="Arial"/>
            </a:endParaRPr>
          </a:p>
        </p:txBody>
      </p:sp>
      <p:pic>
        <p:nvPicPr>
          <p:cNvPr id="88" name="Google Shape;88;p1"/>
          <p:cNvPicPr preferRelativeResize="0"/>
          <p:nvPr/>
        </p:nvPicPr>
        <p:blipFill rotWithShape="1">
          <a:blip r:embed="rId3">
            <a:alphaModFix amt="26000"/>
          </a:blip>
          <a:srcRect/>
          <a:stretch/>
        </p:blipFill>
        <p:spPr>
          <a:xfrm>
            <a:off x="825004" y="1951993"/>
            <a:ext cx="10541991" cy="2804748"/>
          </a:xfrm>
          <a:prstGeom prst="rect">
            <a:avLst/>
          </a:prstGeom>
          <a:noFill/>
          <a:ln>
            <a:noFill/>
          </a:ln>
          <a:effectLst>
            <a:outerShdw dist="50800" sx="1000" sy="1000" algn="ctr" rotWithShape="0">
              <a:srgbClr val="000000"/>
            </a:outerShdw>
          </a:effectLst>
        </p:spPr>
      </p:pic>
      <p:pic>
        <p:nvPicPr>
          <p:cNvPr id="89" name="Google Shape;89;p1"/>
          <p:cNvPicPr preferRelativeResize="0"/>
          <p:nvPr/>
        </p:nvPicPr>
        <p:blipFill rotWithShape="1">
          <a:blip r:embed="rId4">
            <a:alphaModFix/>
          </a:blip>
          <a:srcRect/>
          <a:stretch/>
        </p:blipFill>
        <p:spPr>
          <a:xfrm>
            <a:off x="8646453" y="1232642"/>
            <a:ext cx="502028" cy="502028"/>
          </a:xfrm>
          <a:prstGeom prst="rect">
            <a:avLst/>
          </a:prstGeom>
          <a:noFill/>
          <a:ln>
            <a:noFill/>
          </a:ln>
        </p:spPr>
      </p:pic>
      <p:sp>
        <p:nvSpPr>
          <p:cNvPr id="90" name="Google Shape;90;p1"/>
          <p:cNvSpPr txBox="1"/>
          <p:nvPr/>
        </p:nvSpPr>
        <p:spPr>
          <a:xfrm>
            <a:off x="-825005" y="1056283"/>
            <a:ext cx="12192000" cy="5938445"/>
          </a:xfrm>
          <a:prstGeom prst="rect">
            <a:avLst/>
          </a:prstGeom>
          <a:noFill/>
          <a:ln>
            <a:noFill/>
          </a:ln>
        </p:spPr>
        <p:txBody>
          <a:bodyPr spcFirstLastPara="1" wrap="square" lIns="91425" tIns="45700" rIns="91425" bIns="45700" anchor="t" anchorCtr="0">
            <a:spAutoFit/>
          </a:bodyPr>
          <a:lstStyle/>
          <a:p>
            <a:pPr marL="457200" marR="0" lvl="0" indent="457200" algn="ctr" rtl="0">
              <a:lnSpc>
                <a:spcPct val="114000"/>
              </a:lnSpc>
              <a:spcBef>
                <a:spcPts val="0"/>
              </a:spcBef>
              <a:spcAft>
                <a:spcPts val="0"/>
              </a:spcAft>
              <a:buClr>
                <a:srgbClr val="000000"/>
              </a:buClr>
              <a:buSzPts val="4800"/>
              <a:buFont typeface="Arial"/>
              <a:buNone/>
            </a:pPr>
            <a:br>
              <a:rPr lang="en-US" sz="4800" b="1" i="0" u="none" strike="noStrike" cap="none" dirty="0">
                <a:solidFill>
                  <a:schemeClr val="dk1"/>
                </a:solidFill>
                <a:latin typeface="Arial"/>
                <a:ea typeface="Arial"/>
                <a:cs typeface="Arial"/>
                <a:sym typeface="Arial"/>
              </a:rPr>
            </a:br>
            <a:r>
              <a:rPr lang="en-US" sz="4800" b="1" i="0" u="none" strike="noStrike" cap="none" dirty="0">
                <a:solidFill>
                  <a:schemeClr val="dk1"/>
                </a:solidFill>
                <a:latin typeface="Arial"/>
                <a:ea typeface="Arial"/>
                <a:cs typeface="Arial"/>
                <a:sym typeface="Arial"/>
              </a:rPr>
              <a:t>TechCrush Capstone Project  </a:t>
            </a:r>
            <a:endParaRPr sz="1400" b="0" i="0" u="none" strike="noStrike" cap="none" dirty="0">
              <a:solidFill>
                <a:srgbClr val="000000"/>
              </a:solidFill>
              <a:latin typeface="Arial"/>
              <a:ea typeface="Arial"/>
              <a:cs typeface="Arial"/>
              <a:sym typeface="Arial"/>
            </a:endParaRPr>
          </a:p>
          <a:p>
            <a:pPr marL="457200" indent="457200" algn="ctr">
              <a:lnSpc>
                <a:spcPct val="114000"/>
              </a:lnSpc>
              <a:spcBef>
                <a:spcPts val="800"/>
              </a:spcBef>
              <a:buSzPts val="4800"/>
            </a:pPr>
            <a:r>
              <a:rPr lang="en-US" sz="4800" b="1" i="0" u="none" strike="noStrike" cap="none" dirty="0">
                <a:solidFill>
                  <a:schemeClr val="dk1"/>
                </a:solidFill>
                <a:latin typeface="Arial"/>
                <a:ea typeface="Arial"/>
                <a:cs typeface="Arial"/>
                <a:sym typeface="Arial"/>
              </a:rPr>
              <a:t>TOPIC 1:</a:t>
            </a:r>
          </a:p>
          <a:p>
            <a:pPr marL="457200" indent="457200" algn="ctr">
              <a:lnSpc>
                <a:spcPct val="114000"/>
              </a:lnSpc>
              <a:spcBef>
                <a:spcPts val="800"/>
              </a:spcBef>
              <a:buSzPts val="4800"/>
            </a:pPr>
            <a:r>
              <a:rPr lang="en-US" sz="4800" b="1" dirty="0"/>
              <a:t>Incident Response Playbooks</a:t>
            </a:r>
          </a:p>
          <a:p>
            <a:pPr marL="457200" marR="0" lvl="0" indent="457200" algn="ctr" rtl="0">
              <a:lnSpc>
                <a:spcPct val="114000"/>
              </a:lnSpc>
              <a:spcBef>
                <a:spcPts val="800"/>
              </a:spcBef>
              <a:spcAft>
                <a:spcPts val="0"/>
              </a:spcAft>
              <a:buClr>
                <a:srgbClr val="000000"/>
              </a:buClr>
              <a:buSzPts val="4800"/>
              <a:buFont typeface="Arial"/>
              <a:buNone/>
            </a:pPr>
            <a:endParaRPr sz="4800" b="1" i="0" u="none" strike="noStrike" cap="none" dirty="0">
              <a:solidFill>
                <a:schemeClr val="dk1"/>
              </a:solidFill>
              <a:latin typeface="Arial"/>
              <a:ea typeface="Arial"/>
              <a:cs typeface="Arial"/>
              <a:sym typeface="Arial"/>
            </a:endParaRPr>
          </a:p>
          <a:p>
            <a:pPr marL="457200" marR="0" lvl="0" indent="457200" algn="ctr" rtl="0">
              <a:lnSpc>
                <a:spcPct val="114000"/>
              </a:lnSpc>
              <a:spcBef>
                <a:spcPts val="800"/>
              </a:spcBef>
              <a:spcAft>
                <a:spcPts val="0"/>
              </a:spcAft>
              <a:buClr>
                <a:srgbClr val="000000"/>
              </a:buClr>
              <a:buSzPts val="3200"/>
              <a:buFont typeface="Arial"/>
              <a:buNone/>
            </a:pPr>
            <a:endParaRPr sz="3200" b="1" i="0" u="none" strike="noStrike" cap="none" dirty="0">
              <a:solidFill>
                <a:schemeClr val="dk1"/>
              </a:solidFill>
              <a:latin typeface="Arial"/>
              <a:ea typeface="Arial"/>
              <a:cs typeface="Arial"/>
              <a:sym typeface="Arial"/>
            </a:endParaRPr>
          </a:p>
          <a:p>
            <a:pPr marL="457200" marR="0" lvl="0" indent="457200" algn="ctr" rtl="0">
              <a:lnSpc>
                <a:spcPct val="114000"/>
              </a:lnSpc>
              <a:spcBef>
                <a:spcPts val="800"/>
              </a:spcBef>
              <a:spcAft>
                <a:spcPts val="0"/>
              </a:spcAft>
              <a:buClr>
                <a:srgbClr val="000000"/>
              </a:buClr>
              <a:buSzPts val="3200"/>
              <a:buFont typeface="Arial"/>
              <a:buNone/>
            </a:pPr>
            <a:r>
              <a:rPr lang="en-US" sz="3200" b="1" i="0" u="none" strike="noStrike" cap="none" dirty="0">
                <a:solidFill>
                  <a:schemeClr val="dk1"/>
                </a:solidFill>
                <a:latin typeface="Arial"/>
                <a:ea typeface="Arial"/>
                <a:cs typeface="Arial"/>
                <a:sym typeface="Arial"/>
              </a:rPr>
              <a:t>						         </a:t>
            </a:r>
            <a:endParaRPr sz="2000" b="1" i="0" u="none" strike="noStrike" cap="none" dirty="0">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3"/>
          <p:cNvSpPr/>
          <p:nvPr/>
        </p:nvSpPr>
        <p:spPr>
          <a:xfrm>
            <a:off x="-39756" y="-25341"/>
            <a:ext cx="10067365" cy="488589"/>
          </a:xfrm>
          <a:prstGeom prst="rect">
            <a:avLst/>
          </a:prstGeom>
          <a:solidFill>
            <a:srgbClr val="FE4A5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a:solidFill>
                  <a:schemeClr val="lt1"/>
                </a:solidFill>
                <a:latin typeface="Calibri"/>
                <a:ea typeface="Calibri"/>
                <a:cs typeface="Calibri"/>
                <a:sym typeface="Calibri"/>
              </a:rPr>
              <a:t>CAPSTONE PROJECT</a:t>
            </a:r>
            <a:endParaRPr sz="1400" b="0" i="0" u="none" strike="noStrike" cap="none">
              <a:solidFill>
                <a:srgbClr val="000000"/>
              </a:solidFill>
              <a:latin typeface="Arial"/>
              <a:ea typeface="Arial"/>
              <a:cs typeface="Arial"/>
              <a:sym typeface="Arial"/>
            </a:endParaRPr>
          </a:p>
        </p:txBody>
      </p:sp>
      <p:pic>
        <p:nvPicPr>
          <p:cNvPr id="107" name="Google Shape;107;p3"/>
          <p:cNvPicPr preferRelativeResize="0"/>
          <p:nvPr/>
        </p:nvPicPr>
        <p:blipFill rotWithShape="1">
          <a:blip r:embed="rId3">
            <a:alphaModFix/>
          </a:blip>
          <a:srcRect/>
          <a:stretch/>
        </p:blipFill>
        <p:spPr>
          <a:xfrm>
            <a:off x="10206443" y="0"/>
            <a:ext cx="1886945" cy="502031"/>
          </a:xfrm>
          <a:prstGeom prst="rect">
            <a:avLst/>
          </a:prstGeom>
          <a:noFill/>
          <a:ln>
            <a:noFill/>
          </a:ln>
        </p:spPr>
      </p:pic>
      <p:sp>
        <p:nvSpPr>
          <p:cNvPr id="108" name="Google Shape;108;p3"/>
          <p:cNvSpPr/>
          <p:nvPr/>
        </p:nvSpPr>
        <p:spPr>
          <a:xfrm>
            <a:off x="-3" y="528340"/>
            <a:ext cx="10067365" cy="161941"/>
          </a:xfrm>
          <a:prstGeom prst="rect">
            <a:avLst/>
          </a:prstGeom>
          <a:solidFill>
            <a:schemeClr val="dk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9" name="Google Shape;109;p3"/>
          <p:cNvSpPr txBox="1"/>
          <p:nvPr/>
        </p:nvSpPr>
        <p:spPr>
          <a:xfrm>
            <a:off x="1138518" y="6472519"/>
            <a:ext cx="760207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1" u="none" strike="noStrike" cap="none" dirty="0">
                <a:solidFill>
                  <a:schemeClr val="dk1"/>
                </a:solidFill>
                <a:latin typeface="Calibri"/>
                <a:ea typeface="Calibri"/>
                <a:cs typeface="Calibri"/>
                <a:sym typeface="Calibri"/>
              </a:rPr>
              <a:t>Disclaimer: This training material belongs to </a:t>
            </a:r>
            <a:r>
              <a:rPr lang="en-US" sz="1800" b="0" i="1" u="none" strike="noStrike" cap="none" dirty="0" err="1">
                <a:solidFill>
                  <a:schemeClr val="dk1"/>
                </a:solidFill>
                <a:latin typeface="Calibri"/>
                <a:ea typeface="Calibri"/>
                <a:cs typeface="Calibri"/>
                <a:sym typeface="Calibri"/>
              </a:rPr>
              <a:t>techcrush</a:t>
            </a:r>
            <a:r>
              <a:rPr lang="en-US" sz="1800" b="0" i="1" u="none" strike="noStrike" cap="none" dirty="0">
                <a:solidFill>
                  <a:schemeClr val="dk1"/>
                </a:solidFill>
                <a:latin typeface="Calibri"/>
                <a:ea typeface="Calibri"/>
                <a:cs typeface="Calibri"/>
                <a:sym typeface="Calibri"/>
              </a:rPr>
              <a:t> and shouldn’t be shared</a:t>
            </a:r>
            <a:endParaRPr sz="1400" b="0" i="0" u="none" strike="noStrike" cap="none" dirty="0">
              <a:solidFill>
                <a:srgbClr val="000000"/>
              </a:solidFill>
              <a:latin typeface="Arial"/>
              <a:ea typeface="Arial"/>
              <a:cs typeface="Arial"/>
              <a:sym typeface="Arial"/>
            </a:endParaRPr>
          </a:p>
        </p:txBody>
      </p:sp>
      <p:pic>
        <p:nvPicPr>
          <p:cNvPr id="110" name="Google Shape;110;p3"/>
          <p:cNvPicPr preferRelativeResize="0"/>
          <p:nvPr/>
        </p:nvPicPr>
        <p:blipFill rotWithShape="1">
          <a:blip r:embed="rId3">
            <a:alphaModFix amt="26000"/>
          </a:blip>
          <a:srcRect/>
          <a:stretch/>
        </p:blipFill>
        <p:spPr>
          <a:xfrm>
            <a:off x="825004" y="1951993"/>
            <a:ext cx="10541991" cy="2804748"/>
          </a:xfrm>
          <a:prstGeom prst="rect">
            <a:avLst/>
          </a:prstGeom>
          <a:noFill/>
          <a:ln>
            <a:noFill/>
          </a:ln>
          <a:effectLst>
            <a:outerShdw dist="50800" sx="1000" sy="1000" algn="ctr" rotWithShape="0">
              <a:srgbClr val="000000"/>
            </a:outerShdw>
          </a:effectLst>
        </p:spPr>
      </p:pic>
      <p:pic>
        <p:nvPicPr>
          <p:cNvPr id="111" name="Google Shape;111;p3"/>
          <p:cNvPicPr preferRelativeResize="0"/>
          <p:nvPr/>
        </p:nvPicPr>
        <p:blipFill rotWithShape="1">
          <a:blip r:embed="rId4">
            <a:alphaModFix/>
          </a:blip>
          <a:srcRect/>
          <a:stretch/>
        </p:blipFill>
        <p:spPr>
          <a:xfrm>
            <a:off x="8646453" y="1232642"/>
            <a:ext cx="502028" cy="502028"/>
          </a:xfrm>
          <a:prstGeom prst="rect">
            <a:avLst/>
          </a:prstGeom>
          <a:noFill/>
          <a:ln>
            <a:noFill/>
          </a:ln>
        </p:spPr>
      </p:pic>
      <p:sp>
        <p:nvSpPr>
          <p:cNvPr id="112" name="Google Shape;112;p3"/>
          <p:cNvSpPr txBox="1"/>
          <p:nvPr/>
        </p:nvSpPr>
        <p:spPr>
          <a:xfrm>
            <a:off x="79834" y="860949"/>
            <a:ext cx="11748053" cy="6781047"/>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Clr>
                <a:srgbClr val="000000"/>
              </a:buClr>
              <a:buSzPts val="3200"/>
              <a:buFont typeface="Arial"/>
              <a:buNone/>
            </a:pPr>
            <a:r>
              <a:rPr lang="en-US" sz="3200" b="1" i="0" u="none" strike="noStrike" cap="none" dirty="0">
                <a:solidFill>
                  <a:schemeClr val="dk1"/>
                </a:solidFill>
                <a:latin typeface="Arial"/>
                <a:ea typeface="Arial"/>
                <a:cs typeface="Arial"/>
                <a:sym typeface="Arial"/>
              </a:rPr>
              <a:t>Outline </a:t>
            </a:r>
            <a:endParaRPr sz="1400" b="0" i="0" u="none" strike="noStrike" cap="none" dirty="0">
              <a:solidFill>
                <a:srgbClr val="000000"/>
              </a:solidFill>
              <a:latin typeface="Arial"/>
              <a:ea typeface="Arial"/>
              <a:cs typeface="Arial"/>
              <a:sym typeface="Arial"/>
            </a:endParaRPr>
          </a:p>
          <a:p>
            <a:pPr marL="457200" marR="0" lvl="0" indent="-457200" rtl="0">
              <a:lnSpc>
                <a:spcPct val="115000"/>
              </a:lnSpc>
              <a:spcBef>
                <a:spcPts val="800"/>
              </a:spcBef>
              <a:spcAft>
                <a:spcPts val="0"/>
              </a:spcAft>
              <a:buClr>
                <a:schemeClr val="dk1"/>
              </a:buClr>
              <a:buSzPts val="3200"/>
              <a:buFont typeface="Wingdings" panose="05000000000000000000" pitchFamily="2" charset="2"/>
              <a:buChar char="§"/>
            </a:pPr>
            <a:r>
              <a:rPr lang="en-US" sz="1500" b="1" i="0" u="none" strike="noStrike" cap="none" dirty="0">
                <a:solidFill>
                  <a:schemeClr val="dk1"/>
                </a:solidFill>
                <a:latin typeface="Arial"/>
                <a:ea typeface="Arial"/>
                <a:cs typeface="Arial"/>
                <a:sym typeface="Arial"/>
              </a:rPr>
              <a:t>TITLE</a:t>
            </a:r>
          </a:p>
          <a:p>
            <a:pPr marL="457200" marR="0" lvl="0" indent="-457200" rtl="0">
              <a:lnSpc>
                <a:spcPct val="115000"/>
              </a:lnSpc>
              <a:spcBef>
                <a:spcPts val="800"/>
              </a:spcBef>
              <a:spcAft>
                <a:spcPts val="0"/>
              </a:spcAft>
              <a:buClr>
                <a:schemeClr val="dk1"/>
              </a:buClr>
              <a:buSzPts val="3200"/>
              <a:buFont typeface="Wingdings" panose="05000000000000000000" pitchFamily="2" charset="2"/>
              <a:buChar char="§"/>
            </a:pPr>
            <a:r>
              <a:rPr lang="en-US" sz="1500" b="1" i="0" u="none" strike="noStrike" cap="none" dirty="0">
                <a:solidFill>
                  <a:schemeClr val="dk1"/>
                </a:solidFill>
                <a:latin typeface="Arial"/>
                <a:ea typeface="Arial"/>
                <a:cs typeface="Arial"/>
                <a:sym typeface="Arial"/>
              </a:rPr>
              <a:t>AIM AND OBJECTIVE </a:t>
            </a:r>
            <a:endParaRPr lang="en-US" sz="1500" b="1" i="0" u="none" strike="noStrike" cap="none" dirty="0">
              <a:solidFill>
                <a:srgbClr val="000000"/>
              </a:solidFill>
              <a:latin typeface="Arial"/>
              <a:ea typeface="Arial"/>
              <a:cs typeface="Arial"/>
              <a:sym typeface="Arial"/>
            </a:endParaRPr>
          </a:p>
          <a:p>
            <a:pPr marL="457200" marR="0" lvl="0" indent="-457200" rtl="0">
              <a:lnSpc>
                <a:spcPct val="115000"/>
              </a:lnSpc>
              <a:spcBef>
                <a:spcPts val="800"/>
              </a:spcBef>
              <a:spcAft>
                <a:spcPts val="0"/>
              </a:spcAft>
              <a:buClr>
                <a:schemeClr val="dk1"/>
              </a:buClr>
              <a:buSzPts val="3200"/>
              <a:buFont typeface="Wingdings" panose="05000000000000000000" pitchFamily="2" charset="2"/>
              <a:buChar char="§"/>
            </a:pPr>
            <a:r>
              <a:rPr lang="en-US" sz="1500" b="1" i="0" u="none" strike="noStrike" cap="none" dirty="0">
                <a:solidFill>
                  <a:schemeClr val="dk1"/>
                </a:solidFill>
                <a:latin typeface="Arial"/>
                <a:ea typeface="Arial"/>
                <a:cs typeface="Arial"/>
                <a:sym typeface="Arial"/>
              </a:rPr>
              <a:t>METHODOLOGY </a:t>
            </a:r>
            <a:endParaRPr lang="en-US" sz="1500" b="1" dirty="0"/>
          </a:p>
          <a:p>
            <a:pPr marL="457200" marR="0" lvl="0" indent="-457200" rtl="0">
              <a:lnSpc>
                <a:spcPct val="115000"/>
              </a:lnSpc>
              <a:spcBef>
                <a:spcPts val="800"/>
              </a:spcBef>
              <a:spcAft>
                <a:spcPts val="0"/>
              </a:spcAft>
              <a:buClr>
                <a:schemeClr val="dk1"/>
              </a:buClr>
              <a:buSzPts val="3200"/>
              <a:buFont typeface="Wingdings" panose="05000000000000000000" pitchFamily="2" charset="2"/>
              <a:buChar char="§"/>
            </a:pPr>
            <a:r>
              <a:rPr lang="en-US" sz="1500" b="1" i="0" u="none" strike="noStrike" cap="none" dirty="0">
                <a:solidFill>
                  <a:schemeClr val="dk1"/>
                </a:solidFill>
                <a:latin typeface="Arial"/>
                <a:ea typeface="Arial"/>
                <a:cs typeface="Arial"/>
                <a:sym typeface="Arial"/>
              </a:rPr>
              <a:t>CONCEPT OF PROJECT</a:t>
            </a:r>
            <a:endParaRPr lang="en-US" sz="1500" b="1" dirty="0"/>
          </a:p>
          <a:p>
            <a:pPr marL="457200" marR="0" lvl="0" indent="-457200" rtl="0">
              <a:lnSpc>
                <a:spcPct val="115000"/>
              </a:lnSpc>
              <a:spcBef>
                <a:spcPts val="800"/>
              </a:spcBef>
              <a:spcAft>
                <a:spcPts val="0"/>
              </a:spcAft>
              <a:buClr>
                <a:schemeClr val="dk1"/>
              </a:buClr>
              <a:buSzPts val="3200"/>
              <a:buFont typeface="Wingdings" panose="05000000000000000000" pitchFamily="2" charset="2"/>
              <a:buChar char="§"/>
            </a:pPr>
            <a:r>
              <a:rPr lang="en-US" sz="1500" b="1" i="0" u="none" strike="noStrike" cap="none" dirty="0">
                <a:solidFill>
                  <a:schemeClr val="dk1"/>
                </a:solidFill>
                <a:latin typeface="Arial"/>
                <a:ea typeface="Arial"/>
                <a:cs typeface="Arial"/>
                <a:sym typeface="Arial"/>
              </a:rPr>
              <a:t>TOOLS USED</a:t>
            </a:r>
          </a:p>
          <a:p>
            <a:pPr marL="457200" marR="0" lvl="0" indent="-457200" rtl="0">
              <a:lnSpc>
                <a:spcPct val="115000"/>
              </a:lnSpc>
              <a:spcBef>
                <a:spcPts val="800"/>
              </a:spcBef>
              <a:spcAft>
                <a:spcPts val="0"/>
              </a:spcAft>
              <a:buClr>
                <a:schemeClr val="dk1"/>
              </a:buClr>
              <a:buSzPts val="3200"/>
              <a:buFont typeface="Wingdings" panose="05000000000000000000" pitchFamily="2" charset="2"/>
              <a:buChar char="§"/>
            </a:pPr>
            <a:r>
              <a:rPr lang="en-US" sz="1500" b="1" dirty="0"/>
              <a:t>IMAGE</a:t>
            </a:r>
          </a:p>
          <a:p>
            <a:pPr marL="457200" marR="0" lvl="0" indent="-457200" rtl="0">
              <a:lnSpc>
                <a:spcPct val="115000"/>
              </a:lnSpc>
              <a:spcBef>
                <a:spcPts val="800"/>
              </a:spcBef>
              <a:spcAft>
                <a:spcPts val="0"/>
              </a:spcAft>
              <a:buClr>
                <a:schemeClr val="dk1"/>
              </a:buClr>
              <a:buSzPts val="3200"/>
              <a:buFont typeface="Wingdings" panose="05000000000000000000" pitchFamily="2" charset="2"/>
              <a:buChar char="§"/>
            </a:pPr>
            <a:r>
              <a:rPr lang="en-US" sz="1500" b="1" i="0" u="none" strike="noStrike" cap="none" dirty="0">
                <a:solidFill>
                  <a:srgbClr val="000000"/>
                </a:solidFill>
                <a:latin typeface="Arial"/>
                <a:ea typeface="Arial"/>
                <a:cs typeface="Arial"/>
                <a:sym typeface="Arial"/>
              </a:rPr>
              <a:t>PLAYBOOK 1.1 [WEBSITE DEFACEMENT]</a:t>
            </a:r>
          </a:p>
          <a:p>
            <a:pPr marL="457200" marR="0" lvl="0" indent="-457200" rtl="0">
              <a:lnSpc>
                <a:spcPct val="115000"/>
              </a:lnSpc>
              <a:spcBef>
                <a:spcPts val="800"/>
              </a:spcBef>
              <a:spcAft>
                <a:spcPts val="0"/>
              </a:spcAft>
              <a:buClr>
                <a:schemeClr val="dk1"/>
              </a:buClr>
              <a:buSzPts val="3200"/>
              <a:buFont typeface="Wingdings" panose="05000000000000000000" pitchFamily="2" charset="2"/>
              <a:buChar char="§"/>
            </a:pPr>
            <a:r>
              <a:rPr lang="en-US" sz="1500" b="1" dirty="0"/>
              <a:t>PLAYBOOK 1.2 [INSIDER THREAT]</a:t>
            </a:r>
          </a:p>
          <a:p>
            <a:pPr marL="457200" marR="0" lvl="0" indent="-457200" rtl="0">
              <a:lnSpc>
                <a:spcPct val="115000"/>
              </a:lnSpc>
              <a:spcBef>
                <a:spcPts val="800"/>
              </a:spcBef>
              <a:spcAft>
                <a:spcPts val="0"/>
              </a:spcAft>
              <a:buClr>
                <a:schemeClr val="dk1"/>
              </a:buClr>
              <a:buSzPts val="3200"/>
              <a:buFont typeface="Wingdings" panose="05000000000000000000" pitchFamily="2" charset="2"/>
              <a:buChar char="§"/>
            </a:pPr>
            <a:r>
              <a:rPr lang="en-US" sz="1500" b="1" i="0" u="none" strike="noStrike" cap="none" dirty="0">
                <a:solidFill>
                  <a:srgbClr val="000000"/>
                </a:solidFill>
                <a:latin typeface="Arial"/>
                <a:ea typeface="Arial"/>
                <a:cs typeface="Arial"/>
                <a:sym typeface="Arial"/>
              </a:rPr>
              <a:t>PLAYBOOK 1.3 [PHISHING TO MALWARE DELIVERY]</a:t>
            </a:r>
          </a:p>
          <a:p>
            <a:pPr marL="457200" marR="0" lvl="0" indent="-457200" rtl="0">
              <a:lnSpc>
                <a:spcPct val="115000"/>
              </a:lnSpc>
              <a:spcBef>
                <a:spcPts val="800"/>
              </a:spcBef>
              <a:spcAft>
                <a:spcPts val="0"/>
              </a:spcAft>
              <a:buClr>
                <a:schemeClr val="dk1"/>
              </a:buClr>
              <a:buSzPts val="3200"/>
              <a:buFont typeface="Wingdings" panose="05000000000000000000" pitchFamily="2" charset="2"/>
              <a:buChar char="§"/>
            </a:pPr>
            <a:r>
              <a:rPr lang="en-US" sz="1500" b="1" dirty="0"/>
              <a:t>OVERALL BENEFITS</a:t>
            </a:r>
            <a:endParaRPr lang="en-US" sz="1500" b="1" i="0" u="none" strike="noStrike" cap="none" dirty="0">
              <a:solidFill>
                <a:srgbClr val="000000"/>
              </a:solidFill>
              <a:latin typeface="Arial"/>
              <a:ea typeface="Arial"/>
              <a:cs typeface="Arial"/>
              <a:sym typeface="Arial"/>
            </a:endParaRPr>
          </a:p>
          <a:p>
            <a:pPr marL="457200" marR="0" lvl="0" indent="-457200" rtl="0">
              <a:lnSpc>
                <a:spcPct val="115000"/>
              </a:lnSpc>
              <a:spcBef>
                <a:spcPts val="800"/>
              </a:spcBef>
              <a:spcAft>
                <a:spcPts val="0"/>
              </a:spcAft>
              <a:buClr>
                <a:schemeClr val="dk1"/>
              </a:buClr>
              <a:buSzPts val="3200"/>
              <a:buFont typeface="Wingdings" panose="05000000000000000000" pitchFamily="2" charset="2"/>
              <a:buChar char="§"/>
            </a:pPr>
            <a:r>
              <a:rPr lang="en-US" sz="1500" b="1" i="0" u="none" strike="noStrike" cap="none" dirty="0">
                <a:solidFill>
                  <a:schemeClr val="dk1"/>
                </a:solidFill>
                <a:latin typeface="Arial"/>
                <a:ea typeface="Arial"/>
                <a:cs typeface="Arial"/>
                <a:sym typeface="Arial"/>
              </a:rPr>
              <a:t>CONCLUSION </a:t>
            </a:r>
            <a:endParaRPr lang="en-US" sz="1500" b="1" i="0" u="none" strike="noStrike" cap="none" dirty="0">
              <a:solidFill>
                <a:srgbClr val="000000"/>
              </a:solidFill>
              <a:latin typeface="Arial"/>
              <a:ea typeface="Arial"/>
              <a:cs typeface="Arial"/>
              <a:sym typeface="Arial"/>
            </a:endParaRPr>
          </a:p>
          <a:p>
            <a:pPr marL="457200" marR="0" lvl="0" indent="-457200" rtl="0">
              <a:lnSpc>
                <a:spcPct val="115000"/>
              </a:lnSpc>
              <a:spcBef>
                <a:spcPts val="800"/>
              </a:spcBef>
              <a:spcAft>
                <a:spcPts val="0"/>
              </a:spcAft>
              <a:buClr>
                <a:schemeClr val="dk1"/>
              </a:buClr>
              <a:buSzPts val="3200"/>
              <a:buFont typeface="Wingdings" panose="05000000000000000000" pitchFamily="2" charset="2"/>
              <a:buChar char="§"/>
            </a:pPr>
            <a:r>
              <a:rPr lang="en-US" sz="1500" b="1" i="0" u="none" strike="noStrike" cap="none" dirty="0">
                <a:solidFill>
                  <a:schemeClr val="dk1"/>
                </a:solidFill>
                <a:latin typeface="Arial"/>
                <a:ea typeface="Arial"/>
                <a:cs typeface="Arial"/>
                <a:sym typeface="Arial"/>
              </a:rPr>
              <a:t>REFERENCES</a:t>
            </a:r>
          </a:p>
          <a:p>
            <a:pPr marL="457200" marR="0" lvl="0" indent="-457200" rtl="0">
              <a:lnSpc>
                <a:spcPct val="115000"/>
              </a:lnSpc>
              <a:spcBef>
                <a:spcPts val="800"/>
              </a:spcBef>
              <a:spcAft>
                <a:spcPts val="0"/>
              </a:spcAft>
              <a:buClr>
                <a:schemeClr val="dk1"/>
              </a:buClr>
              <a:buSzPts val="3200"/>
              <a:buFont typeface="Wingdings" panose="05000000000000000000" pitchFamily="2" charset="2"/>
              <a:buChar char="§"/>
            </a:pPr>
            <a:r>
              <a:rPr lang="en-US" sz="1500" b="1" dirty="0">
                <a:solidFill>
                  <a:schemeClr val="dk1"/>
                </a:solidFill>
              </a:rPr>
              <a:t>THANK YOU</a:t>
            </a:r>
            <a:endParaRPr lang="en-US" sz="1500" b="1" i="0" u="none" strike="noStrike" cap="none" dirty="0">
              <a:solidFill>
                <a:schemeClr val="dk1"/>
              </a:solidFill>
              <a:latin typeface="Arial"/>
              <a:ea typeface="Arial"/>
              <a:cs typeface="Arial"/>
              <a:sym typeface="Arial"/>
            </a:endParaRPr>
          </a:p>
          <a:p>
            <a:pPr marL="457200" marR="0" lvl="0" indent="-254000" algn="l" rtl="0">
              <a:lnSpc>
                <a:spcPct val="115000"/>
              </a:lnSpc>
              <a:spcBef>
                <a:spcPts val="800"/>
              </a:spcBef>
              <a:spcAft>
                <a:spcPts val="0"/>
              </a:spcAft>
              <a:buClr>
                <a:schemeClr val="dk1"/>
              </a:buClr>
              <a:buSzPts val="3200"/>
              <a:buFont typeface="Arial"/>
              <a:buNone/>
            </a:pPr>
            <a:endParaRPr sz="3200" b="0" i="0" u="none" strike="noStrike" cap="none" dirty="0">
              <a:solidFill>
                <a:schemeClr val="dk1"/>
              </a:solidFill>
              <a:latin typeface="Arial"/>
              <a:ea typeface="Arial"/>
              <a:cs typeface="Arial"/>
              <a:sym typeface="Arial"/>
            </a:endParaRPr>
          </a:p>
          <a:p>
            <a:pPr marL="0" marR="0" lvl="0" indent="0" algn="l" rtl="0">
              <a:lnSpc>
                <a:spcPct val="115000"/>
              </a:lnSpc>
              <a:spcBef>
                <a:spcPts val="800"/>
              </a:spcBef>
              <a:spcAft>
                <a:spcPts val="0"/>
              </a:spcAft>
              <a:buClr>
                <a:srgbClr val="000000"/>
              </a:buClr>
              <a:buSzPts val="3200"/>
              <a:buFont typeface="Arial"/>
              <a:buNone/>
            </a:pPr>
            <a:endParaRPr sz="3200" b="0" i="0" u="none" strike="noStrike" cap="none" dirty="0">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4"/>
          <p:cNvSpPr/>
          <p:nvPr/>
        </p:nvSpPr>
        <p:spPr>
          <a:xfrm>
            <a:off x="-39756" y="-25341"/>
            <a:ext cx="10067365" cy="488589"/>
          </a:xfrm>
          <a:prstGeom prst="rect">
            <a:avLst/>
          </a:prstGeom>
          <a:solidFill>
            <a:srgbClr val="FE4A5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a:solidFill>
                  <a:schemeClr val="lt1"/>
                </a:solidFill>
                <a:latin typeface="Calibri"/>
                <a:ea typeface="Calibri"/>
                <a:cs typeface="Calibri"/>
                <a:sym typeface="Calibri"/>
              </a:rPr>
              <a:t>CAPSTONE PROJECT</a:t>
            </a:r>
            <a:endParaRPr sz="1400" b="0" i="0" u="none" strike="noStrike" cap="none">
              <a:solidFill>
                <a:srgbClr val="000000"/>
              </a:solidFill>
              <a:latin typeface="Arial"/>
              <a:ea typeface="Arial"/>
              <a:cs typeface="Arial"/>
              <a:sym typeface="Arial"/>
            </a:endParaRPr>
          </a:p>
        </p:txBody>
      </p:sp>
      <p:pic>
        <p:nvPicPr>
          <p:cNvPr id="118" name="Google Shape;118;p4"/>
          <p:cNvPicPr preferRelativeResize="0"/>
          <p:nvPr/>
        </p:nvPicPr>
        <p:blipFill rotWithShape="1">
          <a:blip r:embed="rId3">
            <a:alphaModFix/>
          </a:blip>
          <a:srcRect/>
          <a:stretch/>
        </p:blipFill>
        <p:spPr>
          <a:xfrm>
            <a:off x="10206443" y="0"/>
            <a:ext cx="1886945" cy="502031"/>
          </a:xfrm>
          <a:prstGeom prst="rect">
            <a:avLst/>
          </a:prstGeom>
          <a:noFill/>
          <a:ln>
            <a:noFill/>
          </a:ln>
        </p:spPr>
      </p:pic>
      <p:sp>
        <p:nvSpPr>
          <p:cNvPr id="119" name="Google Shape;119;p4"/>
          <p:cNvSpPr/>
          <p:nvPr/>
        </p:nvSpPr>
        <p:spPr>
          <a:xfrm>
            <a:off x="-3" y="528340"/>
            <a:ext cx="10067365" cy="161941"/>
          </a:xfrm>
          <a:prstGeom prst="rect">
            <a:avLst/>
          </a:prstGeom>
          <a:solidFill>
            <a:schemeClr val="dk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20" name="Google Shape;120;p4"/>
          <p:cNvSpPr txBox="1"/>
          <p:nvPr/>
        </p:nvSpPr>
        <p:spPr>
          <a:xfrm>
            <a:off x="1138518" y="6472519"/>
            <a:ext cx="760207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1" u="none" strike="noStrike" cap="none" dirty="0">
                <a:solidFill>
                  <a:schemeClr val="dk1"/>
                </a:solidFill>
                <a:latin typeface="Calibri"/>
                <a:ea typeface="Calibri"/>
                <a:cs typeface="Calibri"/>
                <a:sym typeface="Calibri"/>
              </a:rPr>
              <a:t>Disclaimer: This training material belongs to </a:t>
            </a:r>
            <a:r>
              <a:rPr lang="en-US" sz="1800" b="0" i="1" u="none" strike="noStrike" cap="none" dirty="0" err="1">
                <a:solidFill>
                  <a:schemeClr val="dk1"/>
                </a:solidFill>
                <a:latin typeface="Calibri"/>
                <a:ea typeface="Calibri"/>
                <a:cs typeface="Calibri"/>
                <a:sym typeface="Calibri"/>
              </a:rPr>
              <a:t>techcrush</a:t>
            </a:r>
            <a:r>
              <a:rPr lang="en-US" sz="1800" b="0" i="1" u="none" strike="noStrike" cap="none" dirty="0">
                <a:solidFill>
                  <a:schemeClr val="dk1"/>
                </a:solidFill>
                <a:latin typeface="Calibri"/>
                <a:ea typeface="Calibri"/>
                <a:cs typeface="Calibri"/>
                <a:sym typeface="Calibri"/>
              </a:rPr>
              <a:t> and shouldn’t be shared</a:t>
            </a:r>
            <a:endParaRPr sz="1400" b="0" i="0" u="none" strike="noStrike" cap="none" dirty="0">
              <a:solidFill>
                <a:srgbClr val="000000"/>
              </a:solidFill>
              <a:latin typeface="Arial"/>
              <a:ea typeface="Arial"/>
              <a:cs typeface="Arial"/>
              <a:sym typeface="Arial"/>
            </a:endParaRPr>
          </a:p>
        </p:txBody>
      </p:sp>
      <p:pic>
        <p:nvPicPr>
          <p:cNvPr id="121" name="Google Shape;121;p4"/>
          <p:cNvPicPr preferRelativeResize="0"/>
          <p:nvPr/>
        </p:nvPicPr>
        <p:blipFill rotWithShape="1">
          <a:blip r:embed="rId3">
            <a:alphaModFix amt="26000"/>
          </a:blip>
          <a:srcRect/>
          <a:stretch/>
        </p:blipFill>
        <p:spPr>
          <a:xfrm>
            <a:off x="825004" y="1951993"/>
            <a:ext cx="10541991" cy="2804748"/>
          </a:xfrm>
          <a:prstGeom prst="rect">
            <a:avLst/>
          </a:prstGeom>
          <a:noFill/>
          <a:ln>
            <a:noFill/>
          </a:ln>
          <a:effectLst>
            <a:outerShdw dist="50800" sx="1000" sy="1000" algn="ctr" rotWithShape="0">
              <a:srgbClr val="000000"/>
            </a:outerShdw>
          </a:effectLst>
        </p:spPr>
      </p:pic>
      <p:pic>
        <p:nvPicPr>
          <p:cNvPr id="122" name="Google Shape;122;p4"/>
          <p:cNvPicPr preferRelativeResize="0"/>
          <p:nvPr/>
        </p:nvPicPr>
        <p:blipFill rotWithShape="1">
          <a:blip r:embed="rId4">
            <a:alphaModFix/>
          </a:blip>
          <a:srcRect/>
          <a:stretch/>
        </p:blipFill>
        <p:spPr>
          <a:xfrm>
            <a:off x="8646453" y="1232642"/>
            <a:ext cx="502028" cy="502028"/>
          </a:xfrm>
          <a:prstGeom prst="rect">
            <a:avLst/>
          </a:prstGeom>
          <a:noFill/>
          <a:ln>
            <a:noFill/>
          </a:ln>
        </p:spPr>
      </p:pic>
      <p:sp>
        <p:nvSpPr>
          <p:cNvPr id="3" name="TextBox 2">
            <a:extLst>
              <a:ext uri="{FF2B5EF4-FFF2-40B4-BE49-F238E27FC236}">
                <a16:creationId xmlns:a16="http://schemas.microsoft.com/office/drawing/2014/main" id="{67F5CC93-129D-B9A9-6269-772B90846A84}"/>
              </a:ext>
            </a:extLst>
          </p:cNvPr>
          <p:cNvSpPr txBox="1"/>
          <p:nvPr/>
        </p:nvSpPr>
        <p:spPr>
          <a:xfrm>
            <a:off x="480129" y="1575549"/>
            <a:ext cx="11231740" cy="3416320"/>
          </a:xfrm>
          <a:prstGeom prst="rect">
            <a:avLst/>
          </a:prstGeom>
          <a:noFill/>
        </p:spPr>
        <p:txBody>
          <a:bodyPr wrap="square">
            <a:spAutoFit/>
          </a:bodyPr>
          <a:lstStyle/>
          <a:p>
            <a:pPr algn="ctr">
              <a:buNone/>
            </a:pPr>
            <a:r>
              <a:rPr lang="en-US" sz="3600" b="1" dirty="0">
                <a:solidFill>
                  <a:schemeClr val="dk1"/>
                </a:solidFill>
              </a:rPr>
              <a:t>Protecting Our Organization from Cyber Threats</a:t>
            </a:r>
          </a:p>
          <a:p>
            <a:pPr algn="ctr">
              <a:buNone/>
            </a:pPr>
            <a:r>
              <a:rPr lang="en-US" sz="3600" b="1" dirty="0">
                <a:solidFill>
                  <a:schemeClr val="dk1"/>
                </a:solidFill>
              </a:rPr>
              <a:t>Using</a:t>
            </a:r>
          </a:p>
          <a:p>
            <a:pPr algn="ctr">
              <a:buNone/>
            </a:pPr>
            <a:r>
              <a:rPr lang="en-US" sz="3600" b="1" dirty="0">
                <a:solidFill>
                  <a:schemeClr val="dk1"/>
                </a:solidFill>
              </a:rPr>
              <a:t>3 Critical Security Scenarios:</a:t>
            </a:r>
          </a:p>
          <a:p>
            <a:pPr algn="ctr">
              <a:buNone/>
            </a:pPr>
            <a:r>
              <a:rPr lang="en-US" sz="3600" dirty="0">
                <a:solidFill>
                  <a:schemeClr val="dk1"/>
                </a:solidFill>
              </a:rPr>
              <a:t>• Website Hacking</a:t>
            </a:r>
          </a:p>
          <a:p>
            <a:pPr algn="ctr">
              <a:buNone/>
            </a:pPr>
            <a:r>
              <a:rPr lang="en-US" sz="3600" dirty="0">
                <a:solidFill>
                  <a:schemeClr val="dk1"/>
                </a:solidFill>
              </a:rPr>
              <a:t>• Employee Data Theft</a:t>
            </a:r>
          </a:p>
          <a:p>
            <a:pPr algn="ctr">
              <a:buNone/>
            </a:pPr>
            <a:r>
              <a:rPr lang="en-US" sz="3600" dirty="0">
                <a:solidFill>
                  <a:schemeClr val="dk1"/>
                </a:solidFill>
              </a:rPr>
              <a:t>• Phishing &amp; Malware Attacks</a:t>
            </a:r>
          </a:p>
        </p:txBody>
      </p:sp>
      <p:sp>
        <p:nvSpPr>
          <p:cNvPr id="4" name="TextBox 3">
            <a:extLst>
              <a:ext uri="{FF2B5EF4-FFF2-40B4-BE49-F238E27FC236}">
                <a16:creationId xmlns:a16="http://schemas.microsoft.com/office/drawing/2014/main" id="{F6F72B81-BAE4-1C99-D54B-F5514750A25C}"/>
              </a:ext>
            </a:extLst>
          </p:cNvPr>
          <p:cNvSpPr txBox="1"/>
          <p:nvPr/>
        </p:nvSpPr>
        <p:spPr>
          <a:xfrm>
            <a:off x="201337" y="973123"/>
            <a:ext cx="1322664" cy="707886"/>
          </a:xfrm>
          <a:prstGeom prst="rect">
            <a:avLst/>
          </a:prstGeom>
          <a:noFill/>
        </p:spPr>
        <p:txBody>
          <a:bodyPr wrap="square" rtlCol="0">
            <a:spAutoFit/>
          </a:bodyPr>
          <a:lstStyle/>
          <a:p>
            <a:r>
              <a:rPr lang="en-US" sz="4000" b="1" dirty="0"/>
              <a:t>Title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6">
          <a:extLst>
            <a:ext uri="{FF2B5EF4-FFF2-40B4-BE49-F238E27FC236}">
              <a16:creationId xmlns:a16="http://schemas.microsoft.com/office/drawing/2014/main" id="{0BDBC8E0-0394-AD8F-EB03-14295D5ED4B4}"/>
            </a:ext>
          </a:extLst>
        </p:cNvPr>
        <p:cNvGrpSpPr/>
        <p:nvPr/>
      </p:nvGrpSpPr>
      <p:grpSpPr>
        <a:xfrm>
          <a:off x="0" y="0"/>
          <a:ext cx="0" cy="0"/>
          <a:chOff x="0" y="0"/>
          <a:chExt cx="0" cy="0"/>
        </a:xfrm>
      </p:grpSpPr>
      <p:sp>
        <p:nvSpPr>
          <p:cNvPr id="117" name="Google Shape;117;p4">
            <a:extLst>
              <a:ext uri="{FF2B5EF4-FFF2-40B4-BE49-F238E27FC236}">
                <a16:creationId xmlns:a16="http://schemas.microsoft.com/office/drawing/2014/main" id="{14465CFE-E15B-6B37-733B-EC9EB52A5C5E}"/>
              </a:ext>
            </a:extLst>
          </p:cNvPr>
          <p:cNvSpPr/>
          <p:nvPr/>
        </p:nvSpPr>
        <p:spPr>
          <a:xfrm>
            <a:off x="-39756" y="-25341"/>
            <a:ext cx="10067365" cy="488589"/>
          </a:xfrm>
          <a:prstGeom prst="rect">
            <a:avLst/>
          </a:prstGeom>
          <a:solidFill>
            <a:srgbClr val="FE4A5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a:solidFill>
                  <a:schemeClr val="lt1"/>
                </a:solidFill>
                <a:latin typeface="Calibri"/>
                <a:ea typeface="Calibri"/>
                <a:cs typeface="Calibri"/>
                <a:sym typeface="Calibri"/>
              </a:rPr>
              <a:t>CAPSTONE PROJECT</a:t>
            </a:r>
            <a:endParaRPr sz="1400" b="0" i="0" u="none" strike="noStrike" cap="none">
              <a:solidFill>
                <a:srgbClr val="000000"/>
              </a:solidFill>
              <a:latin typeface="Arial"/>
              <a:ea typeface="Arial"/>
              <a:cs typeface="Arial"/>
              <a:sym typeface="Arial"/>
            </a:endParaRPr>
          </a:p>
        </p:txBody>
      </p:sp>
      <p:pic>
        <p:nvPicPr>
          <p:cNvPr id="118" name="Google Shape;118;p4">
            <a:extLst>
              <a:ext uri="{FF2B5EF4-FFF2-40B4-BE49-F238E27FC236}">
                <a16:creationId xmlns:a16="http://schemas.microsoft.com/office/drawing/2014/main" id="{24C56061-1C26-02C3-E3FC-6C0FCFB14376}"/>
              </a:ext>
            </a:extLst>
          </p:cNvPr>
          <p:cNvPicPr preferRelativeResize="0"/>
          <p:nvPr/>
        </p:nvPicPr>
        <p:blipFill rotWithShape="1">
          <a:blip r:embed="rId3">
            <a:alphaModFix/>
          </a:blip>
          <a:srcRect/>
          <a:stretch/>
        </p:blipFill>
        <p:spPr>
          <a:xfrm>
            <a:off x="10206443" y="0"/>
            <a:ext cx="1886945" cy="502031"/>
          </a:xfrm>
          <a:prstGeom prst="rect">
            <a:avLst/>
          </a:prstGeom>
          <a:noFill/>
          <a:ln>
            <a:noFill/>
          </a:ln>
        </p:spPr>
      </p:pic>
      <p:sp>
        <p:nvSpPr>
          <p:cNvPr id="119" name="Google Shape;119;p4">
            <a:extLst>
              <a:ext uri="{FF2B5EF4-FFF2-40B4-BE49-F238E27FC236}">
                <a16:creationId xmlns:a16="http://schemas.microsoft.com/office/drawing/2014/main" id="{C26BDBFF-34E4-5C95-C431-65948CA0919F}"/>
              </a:ext>
            </a:extLst>
          </p:cNvPr>
          <p:cNvSpPr/>
          <p:nvPr/>
        </p:nvSpPr>
        <p:spPr>
          <a:xfrm>
            <a:off x="-3" y="528340"/>
            <a:ext cx="10067365" cy="161941"/>
          </a:xfrm>
          <a:prstGeom prst="rect">
            <a:avLst/>
          </a:prstGeom>
          <a:solidFill>
            <a:schemeClr val="dk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20" name="Google Shape;120;p4">
            <a:extLst>
              <a:ext uri="{FF2B5EF4-FFF2-40B4-BE49-F238E27FC236}">
                <a16:creationId xmlns:a16="http://schemas.microsoft.com/office/drawing/2014/main" id="{319D8D66-DBE3-215B-58C1-DBBA67A18676}"/>
              </a:ext>
            </a:extLst>
          </p:cNvPr>
          <p:cNvSpPr txBox="1"/>
          <p:nvPr/>
        </p:nvSpPr>
        <p:spPr>
          <a:xfrm>
            <a:off x="1138518" y="6472519"/>
            <a:ext cx="760207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1" u="none" strike="noStrike" cap="none" dirty="0">
                <a:solidFill>
                  <a:schemeClr val="dk1"/>
                </a:solidFill>
                <a:latin typeface="Calibri"/>
                <a:ea typeface="Calibri"/>
                <a:cs typeface="Calibri"/>
                <a:sym typeface="Calibri"/>
              </a:rPr>
              <a:t>Disclaimer: This training material belongs to </a:t>
            </a:r>
            <a:r>
              <a:rPr lang="en-US" sz="1800" b="0" i="1" u="none" strike="noStrike" cap="none" dirty="0" err="1">
                <a:solidFill>
                  <a:schemeClr val="dk1"/>
                </a:solidFill>
                <a:latin typeface="Calibri"/>
                <a:ea typeface="Calibri"/>
                <a:cs typeface="Calibri"/>
                <a:sym typeface="Calibri"/>
              </a:rPr>
              <a:t>techcrush</a:t>
            </a:r>
            <a:r>
              <a:rPr lang="en-US" sz="1800" b="0" i="1" u="none" strike="noStrike" cap="none" dirty="0">
                <a:solidFill>
                  <a:schemeClr val="dk1"/>
                </a:solidFill>
                <a:latin typeface="Calibri"/>
                <a:ea typeface="Calibri"/>
                <a:cs typeface="Calibri"/>
                <a:sym typeface="Calibri"/>
              </a:rPr>
              <a:t> and shouldn’t be shared</a:t>
            </a:r>
            <a:endParaRPr sz="1400" b="0" i="0" u="none" strike="noStrike" cap="none" dirty="0">
              <a:solidFill>
                <a:srgbClr val="000000"/>
              </a:solidFill>
              <a:latin typeface="Arial"/>
              <a:ea typeface="Arial"/>
              <a:cs typeface="Arial"/>
              <a:sym typeface="Arial"/>
            </a:endParaRPr>
          </a:p>
        </p:txBody>
      </p:sp>
      <p:pic>
        <p:nvPicPr>
          <p:cNvPr id="121" name="Google Shape;121;p4">
            <a:extLst>
              <a:ext uri="{FF2B5EF4-FFF2-40B4-BE49-F238E27FC236}">
                <a16:creationId xmlns:a16="http://schemas.microsoft.com/office/drawing/2014/main" id="{40984648-186F-F506-8C65-677927D3A98E}"/>
              </a:ext>
            </a:extLst>
          </p:cNvPr>
          <p:cNvPicPr preferRelativeResize="0"/>
          <p:nvPr/>
        </p:nvPicPr>
        <p:blipFill rotWithShape="1">
          <a:blip r:embed="rId3">
            <a:alphaModFix amt="26000"/>
          </a:blip>
          <a:srcRect/>
          <a:stretch/>
        </p:blipFill>
        <p:spPr>
          <a:xfrm>
            <a:off x="825004" y="1951993"/>
            <a:ext cx="10541991" cy="2804748"/>
          </a:xfrm>
          <a:prstGeom prst="rect">
            <a:avLst/>
          </a:prstGeom>
          <a:noFill/>
          <a:ln>
            <a:noFill/>
          </a:ln>
          <a:effectLst>
            <a:outerShdw dist="50800" sx="1000" sy="1000" algn="ctr" rotWithShape="0">
              <a:srgbClr val="000000"/>
            </a:outerShdw>
          </a:effectLst>
        </p:spPr>
      </p:pic>
      <p:pic>
        <p:nvPicPr>
          <p:cNvPr id="122" name="Google Shape;122;p4">
            <a:extLst>
              <a:ext uri="{FF2B5EF4-FFF2-40B4-BE49-F238E27FC236}">
                <a16:creationId xmlns:a16="http://schemas.microsoft.com/office/drawing/2014/main" id="{2076792C-769D-6278-2F08-C2236347298A}"/>
              </a:ext>
            </a:extLst>
          </p:cNvPr>
          <p:cNvPicPr preferRelativeResize="0"/>
          <p:nvPr/>
        </p:nvPicPr>
        <p:blipFill rotWithShape="1">
          <a:blip r:embed="rId4">
            <a:alphaModFix/>
          </a:blip>
          <a:srcRect/>
          <a:stretch/>
        </p:blipFill>
        <p:spPr>
          <a:xfrm>
            <a:off x="8646453" y="1232642"/>
            <a:ext cx="502028" cy="502028"/>
          </a:xfrm>
          <a:prstGeom prst="rect">
            <a:avLst/>
          </a:prstGeom>
          <a:noFill/>
          <a:ln>
            <a:noFill/>
          </a:ln>
        </p:spPr>
      </p:pic>
      <p:sp>
        <p:nvSpPr>
          <p:cNvPr id="5" name="Google Shape;123;p4">
            <a:extLst>
              <a:ext uri="{FF2B5EF4-FFF2-40B4-BE49-F238E27FC236}">
                <a16:creationId xmlns:a16="http://schemas.microsoft.com/office/drawing/2014/main" id="{1EC5A262-1181-BEF5-1519-AEC909B5C4F1}"/>
              </a:ext>
            </a:extLst>
          </p:cNvPr>
          <p:cNvSpPr txBox="1"/>
          <p:nvPr/>
        </p:nvSpPr>
        <p:spPr>
          <a:xfrm>
            <a:off x="270098" y="3187081"/>
            <a:ext cx="3820639" cy="1469080"/>
          </a:xfrm>
          <a:prstGeom prst="rect">
            <a:avLst/>
          </a:prstGeom>
          <a:noFill/>
          <a:ln>
            <a:noFill/>
          </a:ln>
        </p:spPr>
        <p:txBody>
          <a:bodyPr spcFirstLastPara="1" wrap="square" lIns="91425" tIns="45700" rIns="91425" bIns="45700" anchor="t" anchorCtr="0">
            <a:spAutoFit/>
          </a:bodyPr>
          <a:lstStyle/>
          <a:p>
            <a:pPr lvl="0">
              <a:lnSpc>
                <a:spcPct val="115000"/>
              </a:lnSpc>
              <a:buSzPts val="2800"/>
            </a:pPr>
            <a:r>
              <a:rPr lang="en-US" sz="4400" b="1" i="0" u="none" strike="noStrike" cap="none" dirty="0">
                <a:solidFill>
                  <a:schemeClr val="dk1"/>
                </a:solidFill>
                <a:latin typeface="Arial"/>
                <a:ea typeface="Arial"/>
                <a:cs typeface="Arial"/>
                <a:sym typeface="Arial"/>
              </a:rPr>
              <a:t>Objectives</a:t>
            </a:r>
            <a:endParaRPr sz="4400" b="0" i="0" u="none" strike="noStrike" cap="none" dirty="0">
              <a:solidFill>
                <a:srgbClr val="000000"/>
              </a:solidFill>
              <a:latin typeface="Arial"/>
              <a:ea typeface="Arial"/>
              <a:cs typeface="Arial"/>
              <a:sym typeface="Arial"/>
            </a:endParaRPr>
          </a:p>
          <a:p>
            <a:pPr marL="457200" marR="0" lvl="0" indent="-279400" algn="l" rtl="0">
              <a:lnSpc>
                <a:spcPct val="115000"/>
              </a:lnSpc>
              <a:spcBef>
                <a:spcPts val="800"/>
              </a:spcBef>
              <a:spcAft>
                <a:spcPts val="0"/>
              </a:spcAft>
              <a:buClr>
                <a:schemeClr val="dk1"/>
              </a:buClr>
              <a:buSzPts val="2800"/>
              <a:buFont typeface="Arial"/>
              <a:buNone/>
            </a:pPr>
            <a:endParaRPr sz="2800" b="0" i="0" u="none" strike="noStrike" cap="none" dirty="0">
              <a:solidFill>
                <a:schemeClr val="dk1"/>
              </a:solidFill>
              <a:latin typeface="Arial"/>
              <a:ea typeface="Arial"/>
              <a:cs typeface="Arial"/>
              <a:sym typeface="Arial"/>
            </a:endParaRPr>
          </a:p>
        </p:txBody>
      </p:sp>
      <p:sp>
        <p:nvSpPr>
          <p:cNvPr id="7" name="TextBox 6">
            <a:extLst>
              <a:ext uri="{FF2B5EF4-FFF2-40B4-BE49-F238E27FC236}">
                <a16:creationId xmlns:a16="http://schemas.microsoft.com/office/drawing/2014/main" id="{0126FD23-386F-D5BB-7936-77FB15A679C3}"/>
              </a:ext>
            </a:extLst>
          </p:cNvPr>
          <p:cNvSpPr txBox="1"/>
          <p:nvPr/>
        </p:nvSpPr>
        <p:spPr>
          <a:xfrm>
            <a:off x="1895468" y="4059658"/>
            <a:ext cx="8310975" cy="1569660"/>
          </a:xfrm>
          <a:prstGeom prst="rect">
            <a:avLst/>
          </a:prstGeom>
          <a:noFill/>
        </p:spPr>
        <p:txBody>
          <a:bodyPr wrap="square">
            <a:spAutoFit/>
          </a:bodyPr>
          <a:lstStyle/>
          <a:p>
            <a:pPr lvl="0" eaLnBrk="0" fontAlgn="base" hangingPunct="0">
              <a:spcBef>
                <a:spcPct val="0"/>
              </a:spcBef>
              <a:spcAft>
                <a:spcPct val="0"/>
              </a:spcAft>
              <a:buClrTx/>
              <a:buFontTx/>
              <a:buChar char="•"/>
            </a:pPr>
            <a:r>
              <a:rPr lang="en-US" altLang="en-US" sz="2400" dirty="0">
                <a:solidFill>
                  <a:schemeClr val="tx1"/>
                </a:solidFill>
                <a:latin typeface="Arial" panose="020B0604020202020204" pitchFamily="34" charset="0"/>
              </a:rPr>
              <a:t>Ensure fast detection &amp; containment of threats.</a:t>
            </a:r>
          </a:p>
          <a:p>
            <a:pPr lvl="0" eaLnBrk="0" fontAlgn="base" hangingPunct="0">
              <a:spcBef>
                <a:spcPct val="0"/>
              </a:spcBef>
              <a:spcAft>
                <a:spcPct val="0"/>
              </a:spcAft>
              <a:buClrTx/>
              <a:buFontTx/>
              <a:buChar char="•"/>
            </a:pPr>
            <a:r>
              <a:rPr lang="en-US" sz="2400" dirty="0"/>
              <a:t>Follow standard procedures across incident types.</a:t>
            </a:r>
          </a:p>
          <a:p>
            <a:pPr lvl="0" eaLnBrk="0" fontAlgn="base" hangingPunct="0">
              <a:spcBef>
                <a:spcPct val="0"/>
              </a:spcBef>
              <a:spcAft>
                <a:spcPct val="0"/>
              </a:spcAft>
              <a:buClrTx/>
              <a:buFontTx/>
              <a:buChar char="•"/>
            </a:pPr>
            <a:r>
              <a:rPr lang="en-US" sz="2400" dirty="0"/>
              <a:t>Minimize Response Time.</a:t>
            </a:r>
          </a:p>
          <a:p>
            <a:pPr lvl="0" eaLnBrk="0" fontAlgn="base" hangingPunct="0">
              <a:spcBef>
                <a:spcPct val="0"/>
              </a:spcBef>
              <a:spcAft>
                <a:spcPct val="0"/>
              </a:spcAft>
              <a:buClrTx/>
              <a:buFontTx/>
              <a:buChar char="•"/>
            </a:pPr>
            <a:r>
              <a:rPr lang="en-US" sz="2400" dirty="0"/>
              <a:t>Drive Continuous Improvement through lessons learned</a:t>
            </a:r>
            <a:endParaRPr lang="en-US" sz="2400" dirty="0">
              <a:solidFill>
                <a:schemeClr val="dk1"/>
              </a:solidFill>
            </a:endParaRPr>
          </a:p>
        </p:txBody>
      </p:sp>
      <p:sp>
        <p:nvSpPr>
          <p:cNvPr id="2" name="Google Shape;123;p4">
            <a:extLst>
              <a:ext uri="{FF2B5EF4-FFF2-40B4-BE49-F238E27FC236}">
                <a16:creationId xmlns:a16="http://schemas.microsoft.com/office/drawing/2014/main" id="{B258CC14-0698-7E9C-232E-41D06055B310}"/>
              </a:ext>
            </a:extLst>
          </p:cNvPr>
          <p:cNvSpPr txBox="1"/>
          <p:nvPr/>
        </p:nvSpPr>
        <p:spPr>
          <a:xfrm>
            <a:off x="270098" y="874800"/>
            <a:ext cx="2109107" cy="1469080"/>
          </a:xfrm>
          <a:prstGeom prst="rect">
            <a:avLst/>
          </a:prstGeom>
          <a:noFill/>
          <a:ln>
            <a:noFill/>
          </a:ln>
        </p:spPr>
        <p:txBody>
          <a:bodyPr spcFirstLastPara="1" wrap="square" lIns="91425" tIns="45700" rIns="91425" bIns="45700" anchor="t" anchorCtr="0">
            <a:spAutoFit/>
          </a:bodyPr>
          <a:lstStyle/>
          <a:p>
            <a:pPr lvl="0">
              <a:lnSpc>
                <a:spcPct val="115000"/>
              </a:lnSpc>
              <a:buSzPts val="2800"/>
            </a:pPr>
            <a:r>
              <a:rPr lang="en-US" sz="4400" b="1" dirty="0">
                <a:solidFill>
                  <a:schemeClr val="dk1"/>
                </a:solidFill>
              </a:rPr>
              <a:t>Aim</a:t>
            </a:r>
            <a:endParaRPr sz="4400" b="0" i="0" u="none" strike="noStrike" cap="none" dirty="0">
              <a:solidFill>
                <a:srgbClr val="000000"/>
              </a:solidFill>
              <a:latin typeface="Arial"/>
              <a:ea typeface="Arial"/>
              <a:cs typeface="Arial"/>
              <a:sym typeface="Arial"/>
            </a:endParaRPr>
          </a:p>
          <a:p>
            <a:pPr marL="457200" marR="0" lvl="0" indent="-279400" algn="l" rtl="0">
              <a:lnSpc>
                <a:spcPct val="115000"/>
              </a:lnSpc>
              <a:spcBef>
                <a:spcPts val="800"/>
              </a:spcBef>
              <a:spcAft>
                <a:spcPts val="0"/>
              </a:spcAft>
              <a:buClr>
                <a:schemeClr val="dk1"/>
              </a:buClr>
              <a:buSzPts val="2800"/>
              <a:buFont typeface="Arial"/>
              <a:buNone/>
            </a:pPr>
            <a:endParaRPr sz="2800" b="0" i="0" u="none" strike="noStrike" cap="none" dirty="0">
              <a:solidFill>
                <a:schemeClr val="dk1"/>
              </a:solidFill>
              <a:latin typeface="Arial"/>
              <a:ea typeface="Arial"/>
              <a:cs typeface="Arial"/>
              <a:sym typeface="Arial"/>
            </a:endParaRPr>
          </a:p>
        </p:txBody>
      </p:sp>
      <p:sp>
        <p:nvSpPr>
          <p:cNvPr id="4" name="TextBox 3">
            <a:extLst>
              <a:ext uri="{FF2B5EF4-FFF2-40B4-BE49-F238E27FC236}">
                <a16:creationId xmlns:a16="http://schemas.microsoft.com/office/drawing/2014/main" id="{3B5981F7-A1BD-2952-B673-B395B92D5862}"/>
              </a:ext>
            </a:extLst>
          </p:cNvPr>
          <p:cNvSpPr txBox="1"/>
          <p:nvPr/>
        </p:nvSpPr>
        <p:spPr>
          <a:xfrm>
            <a:off x="1756387" y="1743715"/>
            <a:ext cx="8310975" cy="1200329"/>
          </a:xfrm>
          <a:prstGeom prst="rect">
            <a:avLst/>
          </a:prstGeom>
          <a:noFill/>
        </p:spPr>
        <p:txBody>
          <a:bodyPr wrap="square">
            <a:spAutoFit/>
          </a:bodyPr>
          <a:lstStyle/>
          <a:p>
            <a:pPr algn="ctr"/>
            <a:r>
              <a:rPr lang="en-US" sz="2400" dirty="0">
                <a:solidFill>
                  <a:schemeClr val="dk1"/>
                </a:solidFill>
              </a:rPr>
              <a:t>To strengthen the organization’s cyber resilience by developing actionable, role-based response when it gets attacked.</a:t>
            </a:r>
          </a:p>
        </p:txBody>
      </p:sp>
    </p:spTree>
    <p:extLst>
      <p:ext uri="{BB962C8B-B14F-4D97-AF65-F5344CB8AC3E}">
        <p14:creationId xmlns:p14="http://schemas.microsoft.com/office/powerpoint/2010/main" val="39144937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6">
          <a:extLst>
            <a:ext uri="{FF2B5EF4-FFF2-40B4-BE49-F238E27FC236}">
              <a16:creationId xmlns:a16="http://schemas.microsoft.com/office/drawing/2014/main" id="{868429C6-0B9B-7661-FB10-AB60EA9C9B89}"/>
            </a:ext>
          </a:extLst>
        </p:cNvPr>
        <p:cNvGrpSpPr/>
        <p:nvPr/>
      </p:nvGrpSpPr>
      <p:grpSpPr>
        <a:xfrm>
          <a:off x="0" y="0"/>
          <a:ext cx="0" cy="0"/>
          <a:chOff x="0" y="0"/>
          <a:chExt cx="0" cy="0"/>
        </a:xfrm>
      </p:grpSpPr>
      <p:sp>
        <p:nvSpPr>
          <p:cNvPr id="117" name="Google Shape;117;p4">
            <a:extLst>
              <a:ext uri="{FF2B5EF4-FFF2-40B4-BE49-F238E27FC236}">
                <a16:creationId xmlns:a16="http://schemas.microsoft.com/office/drawing/2014/main" id="{B3DC8611-FA6E-0378-4C93-4CAAEC06AE1C}"/>
              </a:ext>
            </a:extLst>
          </p:cNvPr>
          <p:cNvSpPr/>
          <p:nvPr/>
        </p:nvSpPr>
        <p:spPr>
          <a:xfrm>
            <a:off x="-39756" y="-25341"/>
            <a:ext cx="10067365" cy="488589"/>
          </a:xfrm>
          <a:prstGeom prst="rect">
            <a:avLst/>
          </a:prstGeom>
          <a:solidFill>
            <a:srgbClr val="FE4A5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a:solidFill>
                  <a:schemeClr val="lt1"/>
                </a:solidFill>
                <a:latin typeface="Calibri"/>
                <a:ea typeface="Calibri"/>
                <a:cs typeface="Calibri"/>
                <a:sym typeface="Calibri"/>
              </a:rPr>
              <a:t>CAPSTONE PROJECT</a:t>
            </a:r>
            <a:endParaRPr sz="1400" b="0" i="0" u="none" strike="noStrike" cap="none">
              <a:solidFill>
                <a:srgbClr val="000000"/>
              </a:solidFill>
              <a:latin typeface="Arial"/>
              <a:ea typeface="Arial"/>
              <a:cs typeface="Arial"/>
              <a:sym typeface="Arial"/>
            </a:endParaRPr>
          </a:p>
        </p:txBody>
      </p:sp>
      <p:pic>
        <p:nvPicPr>
          <p:cNvPr id="118" name="Google Shape;118;p4">
            <a:extLst>
              <a:ext uri="{FF2B5EF4-FFF2-40B4-BE49-F238E27FC236}">
                <a16:creationId xmlns:a16="http://schemas.microsoft.com/office/drawing/2014/main" id="{60B180D8-512B-0655-785B-12B04518BB89}"/>
              </a:ext>
            </a:extLst>
          </p:cNvPr>
          <p:cNvPicPr preferRelativeResize="0"/>
          <p:nvPr/>
        </p:nvPicPr>
        <p:blipFill rotWithShape="1">
          <a:blip r:embed="rId3">
            <a:alphaModFix/>
          </a:blip>
          <a:srcRect/>
          <a:stretch/>
        </p:blipFill>
        <p:spPr>
          <a:xfrm>
            <a:off x="10206443" y="0"/>
            <a:ext cx="1886945" cy="502031"/>
          </a:xfrm>
          <a:prstGeom prst="rect">
            <a:avLst/>
          </a:prstGeom>
          <a:noFill/>
          <a:ln>
            <a:noFill/>
          </a:ln>
        </p:spPr>
      </p:pic>
      <p:sp>
        <p:nvSpPr>
          <p:cNvPr id="119" name="Google Shape;119;p4">
            <a:extLst>
              <a:ext uri="{FF2B5EF4-FFF2-40B4-BE49-F238E27FC236}">
                <a16:creationId xmlns:a16="http://schemas.microsoft.com/office/drawing/2014/main" id="{67684A56-DA57-67F7-5ACD-E301588FA10B}"/>
              </a:ext>
            </a:extLst>
          </p:cNvPr>
          <p:cNvSpPr/>
          <p:nvPr/>
        </p:nvSpPr>
        <p:spPr>
          <a:xfrm>
            <a:off x="-3" y="528340"/>
            <a:ext cx="10067365" cy="161941"/>
          </a:xfrm>
          <a:prstGeom prst="rect">
            <a:avLst/>
          </a:prstGeom>
          <a:solidFill>
            <a:schemeClr val="dk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20" name="Google Shape;120;p4">
            <a:extLst>
              <a:ext uri="{FF2B5EF4-FFF2-40B4-BE49-F238E27FC236}">
                <a16:creationId xmlns:a16="http://schemas.microsoft.com/office/drawing/2014/main" id="{A4F21A69-7C32-E313-6F9D-04AC9F949957}"/>
              </a:ext>
            </a:extLst>
          </p:cNvPr>
          <p:cNvSpPr txBox="1"/>
          <p:nvPr/>
        </p:nvSpPr>
        <p:spPr>
          <a:xfrm>
            <a:off x="1138518" y="6472519"/>
            <a:ext cx="760207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1" u="none" strike="noStrike" cap="none" dirty="0">
                <a:solidFill>
                  <a:schemeClr val="dk1"/>
                </a:solidFill>
                <a:latin typeface="Calibri"/>
                <a:ea typeface="Calibri"/>
                <a:cs typeface="Calibri"/>
                <a:sym typeface="Calibri"/>
              </a:rPr>
              <a:t>Disclaimer: This training material belongs to </a:t>
            </a:r>
            <a:r>
              <a:rPr lang="en-US" sz="1800" b="0" i="1" u="none" strike="noStrike" cap="none" dirty="0" err="1">
                <a:solidFill>
                  <a:schemeClr val="dk1"/>
                </a:solidFill>
                <a:latin typeface="Calibri"/>
                <a:ea typeface="Calibri"/>
                <a:cs typeface="Calibri"/>
                <a:sym typeface="Calibri"/>
              </a:rPr>
              <a:t>techcrush</a:t>
            </a:r>
            <a:r>
              <a:rPr lang="en-US" sz="1800" b="0" i="1" u="none" strike="noStrike" cap="none" dirty="0">
                <a:solidFill>
                  <a:schemeClr val="dk1"/>
                </a:solidFill>
                <a:latin typeface="Calibri"/>
                <a:ea typeface="Calibri"/>
                <a:cs typeface="Calibri"/>
                <a:sym typeface="Calibri"/>
              </a:rPr>
              <a:t> and shouldn’t be shared</a:t>
            </a:r>
            <a:endParaRPr sz="1400" b="0" i="0" u="none" strike="noStrike" cap="none" dirty="0">
              <a:solidFill>
                <a:srgbClr val="000000"/>
              </a:solidFill>
              <a:latin typeface="Arial"/>
              <a:ea typeface="Arial"/>
              <a:cs typeface="Arial"/>
              <a:sym typeface="Arial"/>
            </a:endParaRPr>
          </a:p>
        </p:txBody>
      </p:sp>
      <p:pic>
        <p:nvPicPr>
          <p:cNvPr id="121" name="Google Shape;121;p4">
            <a:extLst>
              <a:ext uri="{FF2B5EF4-FFF2-40B4-BE49-F238E27FC236}">
                <a16:creationId xmlns:a16="http://schemas.microsoft.com/office/drawing/2014/main" id="{1B006288-4991-74E8-1514-CAEEF0885EF3}"/>
              </a:ext>
            </a:extLst>
          </p:cNvPr>
          <p:cNvPicPr preferRelativeResize="0"/>
          <p:nvPr/>
        </p:nvPicPr>
        <p:blipFill rotWithShape="1">
          <a:blip r:embed="rId3">
            <a:alphaModFix amt="26000"/>
          </a:blip>
          <a:srcRect/>
          <a:stretch/>
        </p:blipFill>
        <p:spPr>
          <a:xfrm>
            <a:off x="825004" y="1951993"/>
            <a:ext cx="10541991" cy="2804748"/>
          </a:xfrm>
          <a:prstGeom prst="rect">
            <a:avLst/>
          </a:prstGeom>
          <a:noFill/>
          <a:ln>
            <a:noFill/>
          </a:ln>
          <a:effectLst>
            <a:outerShdw dist="50800" sx="1000" sy="1000" algn="ctr" rotWithShape="0">
              <a:srgbClr val="000000"/>
            </a:outerShdw>
          </a:effectLst>
        </p:spPr>
      </p:pic>
      <p:pic>
        <p:nvPicPr>
          <p:cNvPr id="122" name="Google Shape;122;p4">
            <a:extLst>
              <a:ext uri="{FF2B5EF4-FFF2-40B4-BE49-F238E27FC236}">
                <a16:creationId xmlns:a16="http://schemas.microsoft.com/office/drawing/2014/main" id="{3596DCB7-5017-21BA-3BC9-4E724F654B7A}"/>
              </a:ext>
            </a:extLst>
          </p:cNvPr>
          <p:cNvPicPr preferRelativeResize="0"/>
          <p:nvPr/>
        </p:nvPicPr>
        <p:blipFill rotWithShape="1">
          <a:blip r:embed="rId4">
            <a:alphaModFix/>
          </a:blip>
          <a:srcRect/>
          <a:stretch/>
        </p:blipFill>
        <p:spPr>
          <a:xfrm>
            <a:off x="8646453" y="1232642"/>
            <a:ext cx="502028" cy="502028"/>
          </a:xfrm>
          <a:prstGeom prst="rect">
            <a:avLst/>
          </a:prstGeom>
          <a:noFill/>
          <a:ln>
            <a:noFill/>
          </a:ln>
        </p:spPr>
      </p:pic>
      <p:sp>
        <p:nvSpPr>
          <p:cNvPr id="123" name="Google Shape;123;p4">
            <a:extLst>
              <a:ext uri="{FF2B5EF4-FFF2-40B4-BE49-F238E27FC236}">
                <a16:creationId xmlns:a16="http://schemas.microsoft.com/office/drawing/2014/main" id="{C6E66B7A-8381-41A5-7EFB-5915CB1F3541}"/>
              </a:ext>
            </a:extLst>
          </p:cNvPr>
          <p:cNvSpPr txBox="1"/>
          <p:nvPr/>
        </p:nvSpPr>
        <p:spPr>
          <a:xfrm>
            <a:off x="109330" y="1232643"/>
            <a:ext cx="11748053" cy="1469080"/>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Clr>
                <a:srgbClr val="000000"/>
              </a:buClr>
              <a:buSzPts val="2800"/>
              <a:buFont typeface="Arial"/>
              <a:buNone/>
            </a:pPr>
            <a:r>
              <a:rPr lang="en-US" sz="4400" b="1" i="0" u="none" strike="noStrike" cap="none" dirty="0">
                <a:solidFill>
                  <a:schemeClr val="dk1"/>
                </a:solidFill>
                <a:latin typeface="Arial"/>
                <a:ea typeface="Arial"/>
                <a:cs typeface="Arial"/>
                <a:sym typeface="Arial"/>
              </a:rPr>
              <a:t>Methodology</a:t>
            </a:r>
            <a:endParaRPr sz="4400" b="0" i="0" u="none" strike="noStrike" cap="none" dirty="0">
              <a:solidFill>
                <a:srgbClr val="000000"/>
              </a:solidFill>
              <a:latin typeface="Arial"/>
              <a:ea typeface="Arial"/>
              <a:cs typeface="Arial"/>
              <a:sym typeface="Arial"/>
            </a:endParaRPr>
          </a:p>
          <a:p>
            <a:pPr marL="457200" marR="0" lvl="0" indent="-279400" algn="l" rtl="0">
              <a:lnSpc>
                <a:spcPct val="115000"/>
              </a:lnSpc>
              <a:spcBef>
                <a:spcPts val="800"/>
              </a:spcBef>
              <a:spcAft>
                <a:spcPts val="0"/>
              </a:spcAft>
              <a:buClr>
                <a:schemeClr val="dk1"/>
              </a:buClr>
              <a:buSzPts val="2800"/>
              <a:buFont typeface="Arial"/>
              <a:buNone/>
            </a:pPr>
            <a:endParaRPr sz="2800" b="0" i="0" u="none" strike="noStrike" cap="none" dirty="0">
              <a:solidFill>
                <a:schemeClr val="dk1"/>
              </a:solidFill>
              <a:latin typeface="Arial"/>
              <a:ea typeface="Arial"/>
              <a:cs typeface="Arial"/>
              <a:sym typeface="Arial"/>
            </a:endParaRPr>
          </a:p>
        </p:txBody>
      </p:sp>
      <p:sp>
        <p:nvSpPr>
          <p:cNvPr id="3" name="TextBox 2">
            <a:extLst>
              <a:ext uri="{FF2B5EF4-FFF2-40B4-BE49-F238E27FC236}">
                <a16:creationId xmlns:a16="http://schemas.microsoft.com/office/drawing/2014/main" id="{BB68EBF8-B93B-E06E-7566-309B8B4B9A24}"/>
              </a:ext>
            </a:extLst>
          </p:cNvPr>
          <p:cNvSpPr txBox="1"/>
          <p:nvPr/>
        </p:nvSpPr>
        <p:spPr>
          <a:xfrm>
            <a:off x="657726" y="2465282"/>
            <a:ext cx="11424944" cy="3785652"/>
          </a:xfrm>
          <a:prstGeom prst="rect">
            <a:avLst/>
          </a:prstGeom>
          <a:noFill/>
        </p:spPr>
        <p:txBody>
          <a:bodyPr wrap="square">
            <a:spAutoFit/>
          </a:bodyPr>
          <a:lstStyle/>
          <a:p>
            <a:pPr lvl="0" eaLnBrk="0" fontAlgn="base" hangingPunct="0">
              <a:spcBef>
                <a:spcPct val="0"/>
              </a:spcBef>
              <a:spcAft>
                <a:spcPct val="0"/>
              </a:spcAft>
              <a:buClrTx/>
            </a:pPr>
            <a:r>
              <a:rPr lang="en-US" sz="2400" dirty="0"/>
              <a:t>Each playbook tells us what to do, step by step.</a:t>
            </a:r>
            <a:r>
              <a:rPr lang="en-US" altLang="en-US" sz="2400" dirty="0">
                <a:solidFill>
                  <a:schemeClr val="tx1"/>
                </a:solidFill>
                <a:latin typeface="Arial" panose="020B0604020202020204" pitchFamily="34" charset="0"/>
              </a:rPr>
              <a:t> </a:t>
            </a:r>
          </a:p>
          <a:p>
            <a:pPr lvl="0" eaLnBrk="0" fontAlgn="base" hangingPunct="0">
              <a:spcBef>
                <a:spcPct val="0"/>
              </a:spcBef>
              <a:spcAft>
                <a:spcPct val="0"/>
              </a:spcAft>
              <a:buClrTx/>
            </a:pPr>
            <a:r>
              <a:rPr lang="en-US" altLang="en-US" sz="2400" dirty="0">
                <a:solidFill>
                  <a:schemeClr val="tx1"/>
                </a:solidFill>
                <a:latin typeface="Arial" panose="020B0604020202020204" pitchFamily="34" charset="0"/>
              </a:rPr>
              <a:t>1.Identify the threat and risk impact.</a:t>
            </a:r>
          </a:p>
          <a:p>
            <a:pPr lvl="0" eaLnBrk="0" fontAlgn="base" hangingPunct="0">
              <a:spcBef>
                <a:spcPct val="0"/>
              </a:spcBef>
              <a:spcAft>
                <a:spcPct val="0"/>
              </a:spcAft>
              <a:buClrTx/>
              <a:buFontTx/>
              <a:buAutoNum type="arabicPeriod" startAt="2"/>
            </a:pPr>
            <a:r>
              <a:rPr lang="en-US" altLang="en-US" sz="2400" dirty="0">
                <a:solidFill>
                  <a:schemeClr val="tx1"/>
                </a:solidFill>
                <a:latin typeface="Arial" panose="020B0604020202020204" pitchFamily="34" charset="0"/>
              </a:rPr>
              <a:t>Define detection indicators and triggers.</a:t>
            </a:r>
          </a:p>
          <a:p>
            <a:pPr lvl="0" eaLnBrk="0" fontAlgn="base" hangingPunct="0">
              <a:spcBef>
                <a:spcPct val="0"/>
              </a:spcBef>
              <a:spcAft>
                <a:spcPct val="0"/>
              </a:spcAft>
              <a:buClrTx/>
              <a:buFontTx/>
              <a:buAutoNum type="arabicPeriod" startAt="3"/>
            </a:pPr>
            <a:r>
              <a:rPr lang="en-US" altLang="en-US" sz="2400" dirty="0">
                <a:solidFill>
                  <a:schemeClr val="tx1"/>
                </a:solidFill>
                <a:latin typeface="Arial" panose="020B0604020202020204" pitchFamily="34" charset="0"/>
              </a:rPr>
              <a:t>Response phases: detection → containment → eradication → recovery.</a:t>
            </a:r>
          </a:p>
          <a:p>
            <a:pPr lvl="0" eaLnBrk="0" fontAlgn="base" hangingPunct="0">
              <a:spcBef>
                <a:spcPct val="0"/>
              </a:spcBef>
              <a:spcAft>
                <a:spcPct val="0"/>
              </a:spcAft>
              <a:buClrTx/>
              <a:buFontTx/>
              <a:buAutoNum type="arabicPeriod" startAt="4"/>
            </a:pPr>
            <a:r>
              <a:rPr lang="en-US" altLang="en-US" sz="2400" dirty="0">
                <a:solidFill>
                  <a:schemeClr val="tx1"/>
                </a:solidFill>
                <a:latin typeface="Arial" panose="020B0604020202020204" pitchFamily="34" charset="0"/>
              </a:rPr>
              <a:t>Assign roles and responsibilities.</a:t>
            </a:r>
          </a:p>
          <a:p>
            <a:pPr lvl="0" eaLnBrk="0" fontAlgn="base" hangingPunct="0">
              <a:spcBef>
                <a:spcPct val="0"/>
              </a:spcBef>
              <a:spcAft>
                <a:spcPct val="0"/>
              </a:spcAft>
              <a:buClrTx/>
              <a:buFontTx/>
              <a:buAutoNum type="arabicPeriod" startAt="5"/>
            </a:pPr>
            <a:r>
              <a:rPr lang="en-US" altLang="en-US" sz="2400" dirty="0">
                <a:solidFill>
                  <a:schemeClr val="tx1"/>
                </a:solidFill>
                <a:latin typeface="Arial" panose="020B0604020202020204" pitchFamily="34" charset="0"/>
              </a:rPr>
              <a:t>Include communication strategy and escalation paths if any.</a:t>
            </a:r>
          </a:p>
          <a:p>
            <a:pPr lvl="0" eaLnBrk="0" fontAlgn="base" hangingPunct="0">
              <a:spcBef>
                <a:spcPct val="0"/>
              </a:spcBef>
              <a:spcAft>
                <a:spcPct val="0"/>
              </a:spcAft>
              <a:buClrTx/>
              <a:buFontTx/>
              <a:buAutoNum type="arabicPeriod" startAt="6"/>
            </a:pPr>
            <a:r>
              <a:rPr lang="en-US" altLang="en-US" sz="2400" dirty="0">
                <a:solidFill>
                  <a:schemeClr val="tx1"/>
                </a:solidFill>
                <a:latin typeface="Arial" panose="020B0604020202020204" pitchFamily="34" charset="0"/>
              </a:rPr>
              <a:t>Develop metrics for response effectiveness (MTTD, MTTR, MTTC, etc.).</a:t>
            </a:r>
          </a:p>
          <a:p>
            <a:pPr lvl="0" eaLnBrk="0" fontAlgn="base" hangingPunct="0">
              <a:spcBef>
                <a:spcPct val="0"/>
              </a:spcBef>
              <a:spcAft>
                <a:spcPct val="0"/>
              </a:spcAft>
              <a:buClrTx/>
              <a:buFontTx/>
              <a:buChar char="•"/>
            </a:pPr>
            <a:r>
              <a:rPr lang="en-US" altLang="en-US" sz="2400" dirty="0">
                <a:solidFill>
                  <a:schemeClr val="tx1"/>
                </a:solidFill>
                <a:latin typeface="Arial" panose="020B0604020202020204" pitchFamily="34" charset="0"/>
              </a:rPr>
              <a:t>Include technical and human response components.</a:t>
            </a:r>
          </a:p>
          <a:p>
            <a:endParaRPr lang="en-US" sz="2400" dirty="0"/>
          </a:p>
          <a:p>
            <a:endParaRPr lang="en-US" sz="2400" dirty="0"/>
          </a:p>
        </p:txBody>
      </p:sp>
    </p:spTree>
    <p:extLst>
      <p:ext uri="{BB962C8B-B14F-4D97-AF65-F5344CB8AC3E}">
        <p14:creationId xmlns:p14="http://schemas.microsoft.com/office/powerpoint/2010/main" val="852843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6">
          <a:extLst>
            <a:ext uri="{FF2B5EF4-FFF2-40B4-BE49-F238E27FC236}">
              <a16:creationId xmlns:a16="http://schemas.microsoft.com/office/drawing/2014/main" id="{C087A861-0EDA-4C42-CD8A-A346937149BA}"/>
            </a:ext>
          </a:extLst>
        </p:cNvPr>
        <p:cNvGrpSpPr/>
        <p:nvPr/>
      </p:nvGrpSpPr>
      <p:grpSpPr>
        <a:xfrm>
          <a:off x="0" y="0"/>
          <a:ext cx="0" cy="0"/>
          <a:chOff x="0" y="0"/>
          <a:chExt cx="0" cy="0"/>
        </a:xfrm>
      </p:grpSpPr>
      <p:sp>
        <p:nvSpPr>
          <p:cNvPr id="117" name="Google Shape;117;p4">
            <a:extLst>
              <a:ext uri="{FF2B5EF4-FFF2-40B4-BE49-F238E27FC236}">
                <a16:creationId xmlns:a16="http://schemas.microsoft.com/office/drawing/2014/main" id="{4F6DDD56-D45F-D098-9D8F-B6AFFF639F6A}"/>
              </a:ext>
            </a:extLst>
          </p:cNvPr>
          <p:cNvSpPr/>
          <p:nvPr/>
        </p:nvSpPr>
        <p:spPr>
          <a:xfrm>
            <a:off x="-39756" y="-25341"/>
            <a:ext cx="10067365" cy="488589"/>
          </a:xfrm>
          <a:prstGeom prst="rect">
            <a:avLst/>
          </a:prstGeom>
          <a:solidFill>
            <a:srgbClr val="FE4A5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a:solidFill>
                  <a:schemeClr val="lt1"/>
                </a:solidFill>
                <a:latin typeface="Calibri"/>
                <a:ea typeface="Calibri"/>
                <a:cs typeface="Calibri"/>
                <a:sym typeface="Calibri"/>
              </a:rPr>
              <a:t>CAPSTONE PROJECT</a:t>
            </a:r>
            <a:endParaRPr sz="1400" b="0" i="0" u="none" strike="noStrike" cap="none">
              <a:solidFill>
                <a:srgbClr val="000000"/>
              </a:solidFill>
              <a:latin typeface="Arial"/>
              <a:ea typeface="Arial"/>
              <a:cs typeface="Arial"/>
              <a:sym typeface="Arial"/>
            </a:endParaRPr>
          </a:p>
        </p:txBody>
      </p:sp>
      <p:pic>
        <p:nvPicPr>
          <p:cNvPr id="118" name="Google Shape;118;p4">
            <a:extLst>
              <a:ext uri="{FF2B5EF4-FFF2-40B4-BE49-F238E27FC236}">
                <a16:creationId xmlns:a16="http://schemas.microsoft.com/office/drawing/2014/main" id="{648DEC85-56A8-8BEA-C2B3-F232AD4494BE}"/>
              </a:ext>
            </a:extLst>
          </p:cNvPr>
          <p:cNvPicPr preferRelativeResize="0"/>
          <p:nvPr/>
        </p:nvPicPr>
        <p:blipFill rotWithShape="1">
          <a:blip r:embed="rId3">
            <a:alphaModFix/>
          </a:blip>
          <a:srcRect/>
          <a:stretch/>
        </p:blipFill>
        <p:spPr>
          <a:xfrm>
            <a:off x="10206443" y="0"/>
            <a:ext cx="1886945" cy="502031"/>
          </a:xfrm>
          <a:prstGeom prst="rect">
            <a:avLst/>
          </a:prstGeom>
          <a:noFill/>
          <a:ln>
            <a:noFill/>
          </a:ln>
        </p:spPr>
      </p:pic>
      <p:sp>
        <p:nvSpPr>
          <p:cNvPr id="119" name="Google Shape;119;p4">
            <a:extLst>
              <a:ext uri="{FF2B5EF4-FFF2-40B4-BE49-F238E27FC236}">
                <a16:creationId xmlns:a16="http://schemas.microsoft.com/office/drawing/2014/main" id="{06C1308B-B1D9-FE86-57B5-37F9DB1A82B7}"/>
              </a:ext>
            </a:extLst>
          </p:cNvPr>
          <p:cNvSpPr/>
          <p:nvPr/>
        </p:nvSpPr>
        <p:spPr>
          <a:xfrm>
            <a:off x="-3" y="528340"/>
            <a:ext cx="10067365" cy="161941"/>
          </a:xfrm>
          <a:prstGeom prst="rect">
            <a:avLst/>
          </a:prstGeom>
          <a:solidFill>
            <a:schemeClr val="dk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20" name="Google Shape;120;p4">
            <a:extLst>
              <a:ext uri="{FF2B5EF4-FFF2-40B4-BE49-F238E27FC236}">
                <a16:creationId xmlns:a16="http://schemas.microsoft.com/office/drawing/2014/main" id="{35E5926B-6CC4-93DC-723E-0E1A02802C42}"/>
              </a:ext>
            </a:extLst>
          </p:cNvPr>
          <p:cNvSpPr txBox="1"/>
          <p:nvPr/>
        </p:nvSpPr>
        <p:spPr>
          <a:xfrm>
            <a:off x="1138518" y="6472519"/>
            <a:ext cx="760207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1" u="none" strike="noStrike" cap="none" dirty="0">
                <a:solidFill>
                  <a:schemeClr val="dk1"/>
                </a:solidFill>
                <a:latin typeface="Calibri"/>
                <a:ea typeface="Calibri"/>
                <a:cs typeface="Calibri"/>
                <a:sym typeface="Calibri"/>
              </a:rPr>
              <a:t>Disclaimer: This training material belongs to </a:t>
            </a:r>
            <a:r>
              <a:rPr lang="en-US" sz="1800" b="0" i="1" u="none" strike="noStrike" cap="none" dirty="0" err="1">
                <a:solidFill>
                  <a:schemeClr val="dk1"/>
                </a:solidFill>
                <a:latin typeface="Calibri"/>
                <a:ea typeface="Calibri"/>
                <a:cs typeface="Calibri"/>
                <a:sym typeface="Calibri"/>
              </a:rPr>
              <a:t>techcrush</a:t>
            </a:r>
            <a:r>
              <a:rPr lang="en-US" sz="1800" b="0" i="1" u="none" strike="noStrike" cap="none" dirty="0">
                <a:solidFill>
                  <a:schemeClr val="dk1"/>
                </a:solidFill>
                <a:latin typeface="Calibri"/>
                <a:ea typeface="Calibri"/>
                <a:cs typeface="Calibri"/>
                <a:sym typeface="Calibri"/>
              </a:rPr>
              <a:t> and shouldn’t be shared</a:t>
            </a:r>
            <a:endParaRPr sz="1400" b="0" i="0" u="none" strike="noStrike" cap="none" dirty="0">
              <a:solidFill>
                <a:srgbClr val="000000"/>
              </a:solidFill>
              <a:latin typeface="Arial"/>
              <a:ea typeface="Arial"/>
              <a:cs typeface="Arial"/>
              <a:sym typeface="Arial"/>
            </a:endParaRPr>
          </a:p>
        </p:txBody>
      </p:sp>
      <p:pic>
        <p:nvPicPr>
          <p:cNvPr id="121" name="Google Shape;121;p4">
            <a:extLst>
              <a:ext uri="{FF2B5EF4-FFF2-40B4-BE49-F238E27FC236}">
                <a16:creationId xmlns:a16="http://schemas.microsoft.com/office/drawing/2014/main" id="{04867101-8CBE-9AAD-64FB-6C66A0FACB5E}"/>
              </a:ext>
            </a:extLst>
          </p:cNvPr>
          <p:cNvPicPr preferRelativeResize="0"/>
          <p:nvPr/>
        </p:nvPicPr>
        <p:blipFill rotWithShape="1">
          <a:blip r:embed="rId3">
            <a:alphaModFix amt="26000"/>
          </a:blip>
          <a:srcRect/>
          <a:stretch/>
        </p:blipFill>
        <p:spPr>
          <a:xfrm>
            <a:off x="825004" y="1951993"/>
            <a:ext cx="10541991" cy="2804748"/>
          </a:xfrm>
          <a:prstGeom prst="rect">
            <a:avLst/>
          </a:prstGeom>
          <a:noFill/>
          <a:ln>
            <a:noFill/>
          </a:ln>
          <a:effectLst>
            <a:outerShdw dist="50800" sx="1000" sy="1000" algn="ctr" rotWithShape="0">
              <a:srgbClr val="000000"/>
            </a:outerShdw>
          </a:effectLst>
        </p:spPr>
      </p:pic>
      <p:pic>
        <p:nvPicPr>
          <p:cNvPr id="122" name="Google Shape;122;p4">
            <a:extLst>
              <a:ext uri="{FF2B5EF4-FFF2-40B4-BE49-F238E27FC236}">
                <a16:creationId xmlns:a16="http://schemas.microsoft.com/office/drawing/2014/main" id="{48F0093F-68B2-3344-1D89-7D6810A65FEC}"/>
              </a:ext>
            </a:extLst>
          </p:cNvPr>
          <p:cNvPicPr preferRelativeResize="0"/>
          <p:nvPr/>
        </p:nvPicPr>
        <p:blipFill rotWithShape="1">
          <a:blip r:embed="rId4">
            <a:alphaModFix/>
          </a:blip>
          <a:srcRect/>
          <a:stretch/>
        </p:blipFill>
        <p:spPr>
          <a:xfrm>
            <a:off x="8646453" y="1232642"/>
            <a:ext cx="502028" cy="502028"/>
          </a:xfrm>
          <a:prstGeom prst="rect">
            <a:avLst/>
          </a:prstGeom>
          <a:noFill/>
          <a:ln>
            <a:noFill/>
          </a:ln>
        </p:spPr>
      </p:pic>
      <p:sp>
        <p:nvSpPr>
          <p:cNvPr id="123" name="Google Shape;123;p4">
            <a:extLst>
              <a:ext uri="{FF2B5EF4-FFF2-40B4-BE49-F238E27FC236}">
                <a16:creationId xmlns:a16="http://schemas.microsoft.com/office/drawing/2014/main" id="{59384EE2-CF16-EA25-268E-10AD8CC4843E}"/>
              </a:ext>
            </a:extLst>
          </p:cNvPr>
          <p:cNvSpPr txBox="1"/>
          <p:nvPr/>
        </p:nvSpPr>
        <p:spPr>
          <a:xfrm>
            <a:off x="-349211" y="967018"/>
            <a:ext cx="11748053" cy="1571672"/>
          </a:xfrm>
          <a:prstGeom prst="rect">
            <a:avLst/>
          </a:prstGeom>
          <a:noFill/>
          <a:ln>
            <a:noFill/>
          </a:ln>
        </p:spPr>
        <p:txBody>
          <a:bodyPr spcFirstLastPara="1" wrap="square" lIns="91425" tIns="45700" rIns="91425" bIns="45700" anchor="t" anchorCtr="0">
            <a:spAutoFit/>
          </a:bodyPr>
          <a:lstStyle/>
          <a:p>
            <a:pPr marL="457200" lvl="1">
              <a:lnSpc>
                <a:spcPct val="115000"/>
              </a:lnSpc>
              <a:spcBef>
                <a:spcPts val="800"/>
              </a:spcBef>
              <a:buClr>
                <a:schemeClr val="dk1"/>
              </a:buClr>
              <a:buSzPts val="3200"/>
            </a:pPr>
            <a:r>
              <a:rPr lang="en-US" sz="4400" b="1" dirty="0">
                <a:solidFill>
                  <a:schemeClr val="dk1"/>
                </a:solidFill>
              </a:rPr>
              <a:t>Concept of project</a:t>
            </a:r>
            <a:endParaRPr lang="en-US" sz="4400" dirty="0"/>
          </a:p>
          <a:p>
            <a:pPr marL="457200" marR="0" lvl="0" indent="-279400" algn="l" rtl="0">
              <a:lnSpc>
                <a:spcPct val="115000"/>
              </a:lnSpc>
              <a:spcBef>
                <a:spcPts val="800"/>
              </a:spcBef>
              <a:spcAft>
                <a:spcPts val="0"/>
              </a:spcAft>
              <a:buClr>
                <a:schemeClr val="dk1"/>
              </a:buClr>
              <a:buSzPts val="2800"/>
              <a:buFont typeface="Arial"/>
              <a:buNone/>
            </a:pPr>
            <a:endParaRPr sz="2800" b="0" i="0" u="none" strike="noStrike" cap="none" dirty="0">
              <a:solidFill>
                <a:schemeClr val="dk1"/>
              </a:solidFill>
              <a:latin typeface="Arial"/>
              <a:ea typeface="Arial"/>
              <a:cs typeface="Arial"/>
              <a:sym typeface="Arial"/>
            </a:endParaRPr>
          </a:p>
        </p:txBody>
      </p:sp>
      <p:sp>
        <p:nvSpPr>
          <p:cNvPr id="3" name="TextBox 2">
            <a:extLst>
              <a:ext uri="{FF2B5EF4-FFF2-40B4-BE49-F238E27FC236}">
                <a16:creationId xmlns:a16="http://schemas.microsoft.com/office/drawing/2014/main" id="{E5A86E72-095B-1C94-4FDF-9B5B0EAAAD14}"/>
              </a:ext>
            </a:extLst>
          </p:cNvPr>
          <p:cNvSpPr txBox="1"/>
          <p:nvPr/>
        </p:nvSpPr>
        <p:spPr>
          <a:xfrm>
            <a:off x="1331258" y="2217809"/>
            <a:ext cx="9529482" cy="3046988"/>
          </a:xfrm>
          <a:prstGeom prst="rect">
            <a:avLst/>
          </a:prstGeom>
          <a:noFill/>
        </p:spPr>
        <p:txBody>
          <a:bodyPr wrap="square">
            <a:spAutoFit/>
          </a:bodyPr>
          <a:lstStyle/>
          <a:p>
            <a:r>
              <a:rPr lang="en-US" sz="3200" dirty="0"/>
              <a:t>This is a scenario-based response for predictable and repeatable actions that uses tools, alerts, Human coordination, logs and report to defend against threats. Each playbook targets one core attack vector and defines preventive and reactive controls.</a:t>
            </a:r>
          </a:p>
        </p:txBody>
      </p:sp>
    </p:spTree>
    <p:extLst>
      <p:ext uri="{BB962C8B-B14F-4D97-AF65-F5344CB8AC3E}">
        <p14:creationId xmlns:p14="http://schemas.microsoft.com/office/powerpoint/2010/main" val="26271908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6">
          <a:extLst>
            <a:ext uri="{FF2B5EF4-FFF2-40B4-BE49-F238E27FC236}">
              <a16:creationId xmlns:a16="http://schemas.microsoft.com/office/drawing/2014/main" id="{22FBFB54-9D55-5051-3920-EF2DD9C449EA}"/>
            </a:ext>
          </a:extLst>
        </p:cNvPr>
        <p:cNvGrpSpPr/>
        <p:nvPr/>
      </p:nvGrpSpPr>
      <p:grpSpPr>
        <a:xfrm>
          <a:off x="0" y="0"/>
          <a:ext cx="0" cy="0"/>
          <a:chOff x="0" y="0"/>
          <a:chExt cx="0" cy="0"/>
        </a:xfrm>
      </p:grpSpPr>
      <p:sp>
        <p:nvSpPr>
          <p:cNvPr id="117" name="Google Shape;117;p4">
            <a:extLst>
              <a:ext uri="{FF2B5EF4-FFF2-40B4-BE49-F238E27FC236}">
                <a16:creationId xmlns:a16="http://schemas.microsoft.com/office/drawing/2014/main" id="{2016938D-4C39-A7BB-F939-5175B6050D62}"/>
              </a:ext>
            </a:extLst>
          </p:cNvPr>
          <p:cNvSpPr/>
          <p:nvPr/>
        </p:nvSpPr>
        <p:spPr>
          <a:xfrm>
            <a:off x="-39756" y="-25341"/>
            <a:ext cx="10067365" cy="488589"/>
          </a:xfrm>
          <a:prstGeom prst="rect">
            <a:avLst/>
          </a:prstGeom>
          <a:solidFill>
            <a:srgbClr val="FE4A5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a:solidFill>
                  <a:schemeClr val="lt1"/>
                </a:solidFill>
                <a:latin typeface="Calibri"/>
                <a:ea typeface="Calibri"/>
                <a:cs typeface="Calibri"/>
                <a:sym typeface="Calibri"/>
              </a:rPr>
              <a:t>CAPSTONE PROJECT</a:t>
            </a:r>
            <a:endParaRPr sz="1400" b="0" i="0" u="none" strike="noStrike" cap="none">
              <a:solidFill>
                <a:srgbClr val="000000"/>
              </a:solidFill>
              <a:latin typeface="Arial"/>
              <a:ea typeface="Arial"/>
              <a:cs typeface="Arial"/>
              <a:sym typeface="Arial"/>
            </a:endParaRPr>
          </a:p>
        </p:txBody>
      </p:sp>
      <p:pic>
        <p:nvPicPr>
          <p:cNvPr id="118" name="Google Shape;118;p4">
            <a:extLst>
              <a:ext uri="{FF2B5EF4-FFF2-40B4-BE49-F238E27FC236}">
                <a16:creationId xmlns:a16="http://schemas.microsoft.com/office/drawing/2014/main" id="{24F716A3-C187-746C-FEE4-1157D17B85EE}"/>
              </a:ext>
            </a:extLst>
          </p:cNvPr>
          <p:cNvPicPr preferRelativeResize="0"/>
          <p:nvPr/>
        </p:nvPicPr>
        <p:blipFill rotWithShape="1">
          <a:blip r:embed="rId3">
            <a:alphaModFix/>
          </a:blip>
          <a:srcRect/>
          <a:stretch/>
        </p:blipFill>
        <p:spPr>
          <a:xfrm>
            <a:off x="10206443" y="0"/>
            <a:ext cx="1886945" cy="502031"/>
          </a:xfrm>
          <a:prstGeom prst="rect">
            <a:avLst/>
          </a:prstGeom>
          <a:noFill/>
          <a:ln>
            <a:noFill/>
          </a:ln>
        </p:spPr>
      </p:pic>
      <p:sp>
        <p:nvSpPr>
          <p:cNvPr id="119" name="Google Shape;119;p4">
            <a:extLst>
              <a:ext uri="{FF2B5EF4-FFF2-40B4-BE49-F238E27FC236}">
                <a16:creationId xmlns:a16="http://schemas.microsoft.com/office/drawing/2014/main" id="{0A9B7C94-5CF5-DCB2-53F3-61594ADB0100}"/>
              </a:ext>
            </a:extLst>
          </p:cNvPr>
          <p:cNvSpPr/>
          <p:nvPr/>
        </p:nvSpPr>
        <p:spPr>
          <a:xfrm>
            <a:off x="-3" y="528340"/>
            <a:ext cx="10067365" cy="161941"/>
          </a:xfrm>
          <a:prstGeom prst="rect">
            <a:avLst/>
          </a:prstGeom>
          <a:solidFill>
            <a:schemeClr val="dk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20" name="Google Shape;120;p4">
            <a:extLst>
              <a:ext uri="{FF2B5EF4-FFF2-40B4-BE49-F238E27FC236}">
                <a16:creationId xmlns:a16="http://schemas.microsoft.com/office/drawing/2014/main" id="{3158D09E-2E61-14F0-7F43-9BED5940A307}"/>
              </a:ext>
            </a:extLst>
          </p:cNvPr>
          <p:cNvSpPr txBox="1"/>
          <p:nvPr/>
        </p:nvSpPr>
        <p:spPr>
          <a:xfrm>
            <a:off x="1138518" y="6472519"/>
            <a:ext cx="760207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1" u="none" strike="noStrike" cap="none" dirty="0">
                <a:solidFill>
                  <a:schemeClr val="dk1"/>
                </a:solidFill>
                <a:latin typeface="Calibri"/>
                <a:ea typeface="Calibri"/>
                <a:cs typeface="Calibri"/>
                <a:sym typeface="Calibri"/>
              </a:rPr>
              <a:t>Disclaimer: This training material belongs to </a:t>
            </a:r>
            <a:r>
              <a:rPr lang="en-US" sz="1800" b="0" i="1" u="none" strike="noStrike" cap="none" dirty="0" err="1">
                <a:solidFill>
                  <a:schemeClr val="dk1"/>
                </a:solidFill>
                <a:latin typeface="Calibri"/>
                <a:ea typeface="Calibri"/>
                <a:cs typeface="Calibri"/>
                <a:sym typeface="Calibri"/>
              </a:rPr>
              <a:t>techcrush</a:t>
            </a:r>
            <a:r>
              <a:rPr lang="en-US" sz="1800" b="0" i="1" u="none" strike="noStrike" cap="none" dirty="0">
                <a:solidFill>
                  <a:schemeClr val="dk1"/>
                </a:solidFill>
                <a:latin typeface="Calibri"/>
                <a:ea typeface="Calibri"/>
                <a:cs typeface="Calibri"/>
                <a:sym typeface="Calibri"/>
              </a:rPr>
              <a:t> and shouldn’t be shared</a:t>
            </a:r>
            <a:endParaRPr sz="1400" b="0" i="0" u="none" strike="noStrike" cap="none" dirty="0">
              <a:solidFill>
                <a:srgbClr val="000000"/>
              </a:solidFill>
              <a:latin typeface="Arial"/>
              <a:ea typeface="Arial"/>
              <a:cs typeface="Arial"/>
              <a:sym typeface="Arial"/>
            </a:endParaRPr>
          </a:p>
        </p:txBody>
      </p:sp>
      <p:pic>
        <p:nvPicPr>
          <p:cNvPr id="121" name="Google Shape;121;p4">
            <a:extLst>
              <a:ext uri="{FF2B5EF4-FFF2-40B4-BE49-F238E27FC236}">
                <a16:creationId xmlns:a16="http://schemas.microsoft.com/office/drawing/2014/main" id="{79B37BC1-ABC9-3978-BF81-EA4684D63545}"/>
              </a:ext>
            </a:extLst>
          </p:cNvPr>
          <p:cNvPicPr preferRelativeResize="0"/>
          <p:nvPr/>
        </p:nvPicPr>
        <p:blipFill rotWithShape="1">
          <a:blip r:embed="rId3">
            <a:alphaModFix amt="26000"/>
          </a:blip>
          <a:srcRect/>
          <a:stretch/>
        </p:blipFill>
        <p:spPr>
          <a:xfrm>
            <a:off x="825004" y="1951993"/>
            <a:ext cx="10541991" cy="2804748"/>
          </a:xfrm>
          <a:prstGeom prst="rect">
            <a:avLst/>
          </a:prstGeom>
          <a:noFill/>
          <a:ln>
            <a:noFill/>
          </a:ln>
          <a:effectLst>
            <a:outerShdw dist="50800" sx="1000" sy="1000" algn="ctr" rotWithShape="0">
              <a:srgbClr val="000000"/>
            </a:outerShdw>
          </a:effectLst>
        </p:spPr>
      </p:pic>
      <p:pic>
        <p:nvPicPr>
          <p:cNvPr id="122" name="Google Shape;122;p4">
            <a:extLst>
              <a:ext uri="{FF2B5EF4-FFF2-40B4-BE49-F238E27FC236}">
                <a16:creationId xmlns:a16="http://schemas.microsoft.com/office/drawing/2014/main" id="{633CE2AF-F091-B0E6-6DDE-523352CC52C0}"/>
              </a:ext>
            </a:extLst>
          </p:cNvPr>
          <p:cNvPicPr preferRelativeResize="0"/>
          <p:nvPr/>
        </p:nvPicPr>
        <p:blipFill rotWithShape="1">
          <a:blip r:embed="rId4">
            <a:alphaModFix/>
          </a:blip>
          <a:srcRect/>
          <a:stretch/>
        </p:blipFill>
        <p:spPr>
          <a:xfrm>
            <a:off x="8646453" y="1232642"/>
            <a:ext cx="502028" cy="502028"/>
          </a:xfrm>
          <a:prstGeom prst="rect">
            <a:avLst/>
          </a:prstGeom>
          <a:noFill/>
          <a:ln>
            <a:noFill/>
          </a:ln>
        </p:spPr>
      </p:pic>
      <p:sp>
        <p:nvSpPr>
          <p:cNvPr id="123" name="Google Shape;123;p4">
            <a:extLst>
              <a:ext uri="{FF2B5EF4-FFF2-40B4-BE49-F238E27FC236}">
                <a16:creationId xmlns:a16="http://schemas.microsoft.com/office/drawing/2014/main" id="{7D542E82-795A-C21E-3BE9-C79D2D074C5A}"/>
              </a:ext>
            </a:extLst>
          </p:cNvPr>
          <p:cNvSpPr txBox="1"/>
          <p:nvPr/>
        </p:nvSpPr>
        <p:spPr>
          <a:xfrm>
            <a:off x="14648" y="671500"/>
            <a:ext cx="11748053" cy="1571672"/>
          </a:xfrm>
          <a:prstGeom prst="rect">
            <a:avLst/>
          </a:prstGeom>
          <a:noFill/>
          <a:ln>
            <a:noFill/>
          </a:ln>
        </p:spPr>
        <p:txBody>
          <a:bodyPr spcFirstLastPara="1" wrap="square" lIns="91425" tIns="45700" rIns="91425" bIns="45700" anchor="t" anchorCtr="0">
            <a:spAutoFit/>
          </a:bodyPr>
          <a:lstStyle/>
          <a:p>
            <a:pPr lvl="0">
              <a:lnSpc>
                <a:spcPct val="115000"/>
              </a:lnSpc>
              <a:spcBef>
                <a:spcPts val="800"/>
              </a:spcBef>
              <a:buClr>
                <a:schemeClr val="dk1"/>
              </a:buClr>
              <a:buSzPts val="3200"/>
            </a:pPr>
            <a:r>
              <a:rPr lang="en-US" sz="4400" b="1" dirty="0">
                <a:solidFill>
                  <a:schemeClr val="dk1"/>
                </a:solidFill>
              </a:rPr>
              <a:t>Tools Used</a:t>
            </a:r>
            <a:endParaRPr lang="en-US" sz="4400" dirty="0"/>
          </a:p>
          <a:p>
            <a:pPr marL="457200" marR="0" lvl="0" indent="-279400" algn="l" rtl="0">
              <a:lnSpc>
                <a:spcPct val="115000"/>
              </a:lnSpc>
              <a:spcBef>
                <a:spcPts val="800"/>
              </a:spcBef>
              <a:spcAft>
                <a:spcPts val="0"/>
              </a:spcAft>
              <a:buClr>
                <a:schemeClr val="dk1"/>
              </a:buClr>
              <a:buSzPts val="2800"/>
              <a:buFont typeface="Arial"/>
              <a:buNone/>
            </a:pPr>
            <a:endParaRPr sz="2800" b="0" i="0" u="none" strike="noStrike" cap="none" dirty="0">
              <a:solidFill>
                <a:schemeClr val="dk1"/>
              </a:solidFill>
              <a:latin typeface="Arial"/>
              <a:ea typeface="Arial"/>
              <a:cs typeface="Arial"/>
              <a:sym typeface="Arial"/>
            </a:endParaRPr>
          </a:p>
        </p:txBody>
      </p:sp>
      <p:graphicFrame>
        <p:nvGraphicFramePr>
          <p:cNvPr id="2" name="Table 1">
            <a:extLst>
              <a:ext uri="{FF2B5EF4-FFF2-40B4-BE49-F238E27FC236}">
                <a16:creationId xmlns:a16="http://schemas.microsoft.com/office/drawing/2014/main" id="{45F0F8A8-55C3-1713-415A-DCACC2F8B879}"/>
              </a:ext>
            </a:extLst>
          </p:cNvPr>
          <p:cNvGraphicFramePr>
            <a:graphicFrameLocks noGrp="1"/>
          </p:cNvGraphicFramePr>
          <p:nvPr>
            <p:extLst>
              <p:ext uri="{D42A27DB-BD31-4B8C-83A1-F6EECF244321}">
                <p14:modId xmlns:p14="http://schemas.microsoft.com/office/powerpoint/2010/main" val="3926759685"/>
              </p:ext>
            </p:extLst>
          </p:nvPr>
        </p:nvGraphicFramePr>
        <p:xfrm>
          <a:off x="1032972" y="1743741"/>
          <a:ext cx="10824411" cy="4085634"/>
        </p:xfrm>
        <a:graphic>
          <a:graphicData uri="http://schemas.openxmlformats.org/drawingml/2006/table">
            <a:tbl>
              <a:tblPr/>
              <a:tblGrid>
                <a:gridCol w="3608137">
                  <a:extLst>
                    <a:ext uri="{9D8B030D-6E8A-4147-A177-3AD203B41FA5}">
                      <a16:colId xmlns:a16="http://schemas.microsoft.com/office/drawing/2014/main" val="3858174950"/>
                    </a:ext>
                  </a:extLst>
                </a:gridCol>
                <a:gridCol w="3608137">
                  <a:extLst>
                    <a:ext uri="{9D8B030D-6E8A-4147-A177-3AD203B41FA5}">
                      <a16:colId xmlns:a16="http://schemas.microsoft.com/office/drawing/2014/main" val="701930356"/>
                    </a:ext>
                  </a:extLst>
                </a:gridCol>
                <a:gridCol w="3608137">
                  <a:extLst>
                    <a:ext uri="{9D8B030D-6E8A-4147-A177-3AD203B41FA5}">
                      <a16:colId xmlns:a16="http://schemas.microsoft.com/office/drawing/2014/main" val="1441614094"/>
                    </a:ext>
                  </a:extLst>
                </a:gridCol>
              </a:tblGrid>
              <a:tr h="474620">
                <a:tc>
                  <a:txBody>
                    <a:bodyPr/>
                    <a:lstStyle/>
                    <a:p>
                      <a:pPr>
                        <a:buNone/>
                      </a:pPr>
                      <a:r>
                        <a:rPr lang="en-US" sz="2000" b="1" dirty="0"/>
                        <a:t>Function</a:t>
                      </a:r>
                    </a:p>
                  </a:txBody>
                  <a:tcPr anchor="ctr">
                    <a:lnL>
                      <a:noFill/>
                    </a:lnL>
                    <a:lnR>
                      <a:noFill/>
                    </a:lnR>
                    <a:lnT>
                      <a:noFill/>
                    </a:lnT>
                    <a:lnB>
                      <a:noFill/>
                    </a:lnB>
                    <a:noFill/>
                  </a:tcPr>
                </a:tc>
                <a:tc>
                  <a:txBody>
                    <a:bodyPr/>
                    <a:lstStyle/>
                    <a:p>
                      <a:pPr>
                        <a:buNone/>
                      </a:pPr>
                      <a:r>
                        <a:rPr lang="en-US" sz="2000" b="1" dirty="0"/>
                        <a:t>Tools</a:t>
                      </a:r>
                    </a:p>
                  </a:txBody>
                  <a:tcPr anchor="ctr">
                    <a:lnL>
                      <a:noFill/>
                    </a:lnL>
                    <a:lnR>
                      <a:noFill/>
                    </a:lnR>
                    <a:lnT>
                      <a:noFill/>
                    </a:lnT>
                    <a:lnB>
                      <a:noFill/>
                    </a:lnB>
                    <a:noFill/>
                  </a:tcPr>
                </a:tc>
                <a:tc>
                  <a:txBody>
                    <a:bodyPr/>
                    <a:lstStyle/>
                    <a:p>
                      <a:pPr>
                        <a:buNone/>
                      </a:pPr>
                      <a:r>
                        <a:rPr lang="en-US" sz="2000" b="1" dirty="0"/>
                        <a:t>Purpose</a:t>
                      </a:r>
                    </a:p>
                  </a:txBody>
                  <a:tcPr anchor="ctr">
                    <a:lnL>
                      <a:noFill/>
                    </a:lnL>
                    <a:lnR>
                      <a:noFill/>
                    </a:lnR>
                    <a:lnT>
                      <a:noFill/>
                    </a:lnT>
                    <a:lnB>
                      <a:noFill/>
                    </a:lnB>
                    <a:noFill/>
                  </a:tcPr>
                </a:tc>
                <a:extLst>
                  <a:ext uri="{0D108BD9-81ED-4DB2-BD59-A6C34878D82A}">
                    <a16:rowId xmlns:a16="http://schemas.microsoft.com/office/drawing/2014/main" val="2697693058"/>
                  </a:ext>
                </a:extLst>
              </a:tr>
              <a:tr h="474620">
                <a:tc>
                  <a:txBody>
                    <a:bodyPr/>
                    <a:lstStyle/>
                    <a:p>
                      <a:pPr>
                        <a:buNone/>
                      </a:pPr>
                      <a:r>
                        <a:rPr lang="en-US" sz="2000" b="1" dirty="0"/>
                        <a:t>Monitoring &amp; Detection</a:t>
                      </a:r>
                    </a:p>
                  </a:txBody>
                  <a:tcPr anchor="ctr">
                    <a:lnL>
                      <a:noFill/>
                    </a:lnL>
                    <a:lnR>
                      <a:noFill/>
                    </a:lnR>
                    <a:lnT>
                      <a:noFill/>
                    </a:lnT>
                    <a:lnB>
                      <a:noFill/>
                    </a:lnB>
                    <a:noFill/>
                  </a:tcPr>
                </a:tc>
                <a:tc>
                  <a:txBody>
                    <a:bodyPr/>
                    <a:lstStyle/>
                    <a:p>
                      <a:pPr>
                        <a:buNone/>
                      </a:pPr>
                      <a:r>
                        <a:rPr lang="en-US" sz="2000"/>
                        <a:t>SIEM, EDR, DLP, UptimeRobot, Datadog</a:t>
                      </a:r>
                    </a:p>
                  </a:txBody>
                  <a:tcPr anchor="ctr">
                    <a:lnL>
                      <a:noFill/>
                    </a:lnL>
                    <a:lnR>
                      <a:noFill/>
                    </a:lnR>
                    <a:lnT>
                      <a:noFill/>
                    </a:lnT>
                    <a:lnB>
                      <a:noFill/>
                    </a:lnB>
                    <a:noFill/>
                  </a:tcPr>
                </a:tc>
                <a:tc>
                  <a:txBody>
                    <a:bodyPr/>
                    <a:lstStyle/>
                    <a:p>
                      <a:pPr>
                        <a:buNone/>
                      </a:pPr>
                      <a:r>
                        <a:rPr lang="en-US" sz="2000" dirty="0"/>
                        <a:t>Detect anomalies and alerts</a:t>
                      </a:r>
                    </a:p>
                  </a:txBody>
                  <a:tcPr anchor="ctr">
                    <a:lnL>
                      <a:noFill/>
                    </a:lnL>
                    <a:lnR>
                      <a:noFill/>
                    </a:lnR>
                    <a:lnT>
                      <a:noFill/>
                    </a:lnT>
                    <a:lnB>
                      <a:noFill/>
                    </a:lnB>
                    <a:noFill/>
                  </a:tcPr>
                </a:tc>
                <a:extLst>
                  <a:ext uri="{0D108BD9-81ED-4DB2-BD59-A6C34878D82A}">
                    <a16:rowId xmlns:a16="http://schemas.microsoft.com/office/drawing/2014/main" val="2885797707"/>
                  </a:ext>
                </a:extLst>
              </a:tr>
              <a:tr h="474620">
                <a:tc>
                  <a:txBody>
                    <a:bodyPr/>
                    <a:lstStyle/>
                    <a:p>
                      <a:pPr>
                        <a:buNone/>
                      </a:pPr>
                      <a:r>
                        <a:rPr lang="en-US" sz="2000" b="1"/>
                        <a:t>Forensics &amp; Analysis</a:t>
                      </a:r>
                    </a:p>
                  </a:txBody>
                  <a:tcPr anchor="ctr">
                    <a:lnL>
                      <a:noFill/>
                    </a:lnL>
                    <a:lnR>
                      <a:noFill/>
                    </a:lnR>
                    <a:lnT>
                      <a:noFill/>
                    </a:lnT>
                    <a:lnB>
                      <a:noFill/>
                    </a:lnB>
                    <a:noFill/>
                  </a:tcPr>
                </a:tc>
                <a:tc>
                  <a:txBody>
                    <a:bodyPr/>
                    <a:lstStyle/>
                    <a:p>
                      <a:pPr>
                        <a:buNone/>
                      </a:pPr>
                      <a:r>
                        <a:rPr lang="en-US" sz="2000"/>
                        <a:t>Wireshark, FTK, WPScan, EnCase</a:t>
                      </a:r>
                    </a:p>
                  </a:txBody>
                  <a:tcPr anchor="ctr">
                    <a:lnL>
                      <a:noFill/>
                    </a:lnL>
                    <a:lnR>
                      <a:noFill/>
                    </a:lnR>
                    <a:lnT>
                      <a:noFill/>
                    </a:lnT>
                    <a:lnB>
                      <a:noFill/>
                    </a:lnB>
                    <a:noFill/>
                  </a:tcPr>
                </a:tc>
                <a:tc>
                  <a:txBody>
                    <a:bodyPr/>
                    <a:lstStyle/>
                    <a:p>
                      <a:pPr>
                        <a:buNone/>
                      </a:pPr>
                      <a:r>
                        <a:rPr lang="en-US" sz="2000"/>
                        <a:t>Evidence collection and malware tracing</a:t>
                      </a:r>
                    </a:p>
                  </a:txBody>
                  <a:tcPr anchor="ctr">
                    <a:lnL>
                      <a:noFill/>
                    </a:lnL>
                    <a:lnR>
                      <a:noFill/>
                    </a:lnR>
                    <a:lnT>
                      <a:noFill/>
                    </a:lnT>
                    <a:lnB>
                      <a:noFill/>
                    </a:lnB>
                    <a:noFill/>
                  </a:tcPr>
                </a:tc>
                <a:extLst>
                  <a:ext uri="{0D108BD9-81ED-4DB2-BD59-A6C34878D82A}">
                    <a16:rowId xmlns:a16="http://schemas.microsoft.com/office/drawing/2014/main" val="1052298125"/>
                  </a:ext>
                </a:extLst>
              </a:tr>
              <a:tr h="474620">
                <a:tc>
                  <a:txBody>
                    <a:bodyPr/>
                    <a:lstStyle/>
                    <a:p>
                      <a:pPr>
                        <a:buNone/>
                      </a:pPr>
                      <a:r>
                        <a:rPr lang="en-US" sz="2000" b="1" dirty="0"/>
                        <a:t>Containment</a:t>
                      </a:r>
                    </a:p>
                  </a:txBody>
                  <a:tcPr anchor="ctr">
                    <a:lnL>
                      <a:noFill/>
                    </a:lnL>
                    <a:lnR>
                      <a:noFill/>
                    </a:lnR>
                    <a:lnT>
                      <a:noFill/>
                    </a:lnT>
                    <a:lnB>
                      <a:noFill/>
                    </a:lnB>
                    <a:noFill/>
                  </a:tcPr>
                </a:tc>
                <a:tc>
                  <a:txBody>
                    <a:bodyPr/>
                    <a:lstStyle/>
                    <a:p>
                      <a:pPr>
                        <a:buNone/>
                      </a:pPr>
                      <a:r>
                        <a:rPr lang="en-US" sz="2000"/>
                        <a:t>NAC, Firewall, VPN revocation, AD</a:t>
                      </a:r>
                    </a:p>
                  </a:txBody>
                  <a:tcPr anchor="ctr">
                    <a:lnL>
                      <a:noFill/>
                    </a:lnL>
                    <a:lnR>
                      <a:noFill/>
                    </a:lnR>
                    <a:lnT>
                      <a:noFill/>
                    </a:lnT>
                    <a:lnB>
                      <a:noFill/>
                    </a:lnB>
                    <a:noFill/>
                  </a:tcPr>
                </a:tc>
                <a:tc>
                  <a:txBody>
                    <a:bodyPr/>
                    <a:lstStyle/>
                    <a:p>
                      <a:pPr>
                        <a:buNone/>
                      </a:pPr>
                      <a:r>
                        <a:rPr lang="en-US" sz="2000"/>
                        <a:t>Restrict threat spread</a:t>
                      </a:r>
                    </a:p>
                  </a:txBody>
                  <a:tcPr anchor="ctr">
                    <a:lnL>
                      <a:noFill/>
                    </a:lnL>
                    <a:lnR>
                      <a:noFill/>
                    </a:lnR>
                    <a:lnT>
                      <a:noFill/>
                    </a:lnT>
                    <a:lnB>
                      <a:noFill/>
                    </a:lnB>
                    <a:noFill/>
                  </a:tcPr>
                </a:tc>
                <a:extLst>
                  <a:ext uri="{0D108BD9-81ED-4DB2-BD59-A6C34878D82A}">
                    <a16:rowId xmlns:a16="http://schemas.microsoft.com/office/drawing/2014/main" val="1517610009"/>
                  </a:ext>
                </a:extLst>
              </a:tr>
              <a:tr h="474620">
                <a:tc>
                  <a:txBody>
                    <a:bodyPr/>
                    <a:lstStyle/>
                    <a:p>
                      <a:pPr>
                        <a:buNone/>
                      </a:pPr>
                      <a:r>
                        <a:rPr lang="en-US" sz="2000" b="1" dirty="0"/>
                        <a:t>Communication</a:t>
                      </a:r>
                    </a:p>
                  </a:txBody>
                  <a:tcPr anchor="ctr">
                    <a:lnL>
                      <a:noFill/>
                    </a:lnL>
                    <a:lnR>
                      <a:noFill/>
                    </a:lnR>
                    <a:lnT>
                      <a:noFill/>
                    </a:lnT>
                    <a:lnB>
                      <a:noFill/>
                    </a:lnB>
                    <a:noFill/>
                  </a:tcPr>
                </a:tc>
                <a:tc>
                  <a:txBody>
                    <a:bodyPr/>
                    <a:lstStyle/>
                    <a:p>
                      <a:pPr>
                        <a:buNone/>
                      </a:pPr>
                      <a:r>
                        <a:rPr lang="en-US" sz="2000"/>
                        <a:t>Secure chat, Jira, Ticketing system</a:t>
                      </a:r>
                    </a:p>
                  </a:txBody>
                  <a:tcPr anchor="ctr">
                    <a:lnL>
                      <a:noFill/>
                    </a:lnL>
                    <a:lnR>
                      <a:noFill/>
                    </a:lnR>
                    <a:lnT>
                      <a:noFill/>
                    </a:lnT>
                    <a:lnB>
                      <a:noFill/>
                    </a:lnB>
                    <a:noFill/>
                  </a:tcPr>
                </a:tc>
                <a:tc>
                  <a:txBody>
                    <a:bodyPr/>
                    <a:lstStyle/>
                    <a:p>
                      <a:pPr>
                        <a:buNone/>
                      </a:pPr>
                      <a:r>
                        <a:rPr lang="en-US" sz="2000"/>
                        <a:t>Team coordination</a:t>
                      </a:r>
                    </a:p>
                  </a:txBody>
                  <a:tcPr anchor="ctr">
                    <a:lnL>
                      <a:noFill/>
                    </a:lnL>
                    <a:lnR>
                      <a:noFill/>
                    </a:lnR>
                    <a:lnT>
                      <a:noFill/>
                    </a:lnT>
                    <a:lnB>
                      <a:noFill/>
                    </a:lnB>
                    <a:noFill/>
                  </a:tcPr>
                </a:tc>
                <a:extLst>
                  <a:ext uri="{0D108BD9-81ED-4DB2-BD59-A6C34878D82A}">
                    <a16:rowId xmlns:a16="http://schemas.microsoft.com/office/drawing/2014/main" val="64304479"/>
                  </a:ext>
                </a:extLst>
              </a:tr>
              <a:tr h="806854">
                <a:tc>
                  <a:txBody>
                    <a:bodyPr/>
                    <a:lstStyle/>
                    <a:p>
                      <a:pPr>
                        <a:buNone/>
                      </a:pPr>
                      <a:r>
                        <a:rPr lang="en-US" sz="2000" b="1" dirty="0"/>
                        <a:t>Recovery</a:t>
                      </a:r>
                    </a:p>
                  </a:txBody>
                  <a:tcPr anchor="ctr">
                    <a:lnL>
                      <a:noFill/>
                    </a:lnL>
                    <a:lnR>
                      <a:noFill/>
                    </a:lnR>
                    <a:lnT>
                      <a:noFill/>
                    </a:lnT>
                    <a:lnB>
                      <a:noFill/>
                    </a:lnB>
                    <a:noFill/>
                  </a:tcPr>
                </a:tc>
                <a:tc>
                  <a:txBody>
                    <a:bodyPr/>
                    <a:lstStyle/>
                    <a:p>
                      <a:pPr>
                        <a:buNone/>
                      </a:pPr>
                      <a:r>
                        <a:rPr lang="en-US" sz="2000"/>
                        <a:t>Backups, Git, Reimaging, Patch management</a:t>
                      </a:r>
                    </a:p>
                  </a:txBody>
                  <a:tcPr anchor="ctr">
                    <a:lnL>
                      <a:noFill/>
                    </a:lnL>
                    <a:lnR>
                      <a:noFill/>
                    </a:lnR>
                    <a:lnT>
                      <a:noFill/>
                    </a:lnT>
                    <a:lnB>
                      <a:noFill/>
                    </a:lnB>
                    <a:noFill/>
                  </a:tcPr>
                </a:tc>
                <a:tc>
                  <a:txBody>
                    <a:bodyPr/>
                    <a:lstStyle/>
                    <a:p>
                      <a:pPr>
                        <a:buNone/>
                      </a:pPr>
                      <a:r>
                        <a:rPr lang="en-US" sz="2000" dirty="0"/>
                        <a:t>Restore safe operations</a:t>
                      </a:r>
                    </a:p>
                  </a:txBody>
                  <a:tcPr anchor="ctr">
                    <a:lnL>
                      <a:noFill/>
                    </a:lnL>
                    <a:lnR>
                      <a:noFill/>
                    </a:lnR>
                    <a:lnT>
                      <a:noFill/>
                    </a:lnT>
                    <a:lnB>
                      <a:noFill/>
                    </a:lnB>
                    <a:noFill/>
                  </a:tcPr>
                </a:tc>
                <a:extLst>
                  <a:ext uri="{0D108BD9-81ED-4DB2-BD59-A6C34878D82A}">
                    <a16:rowId xmlns:a16="http://schemas.microsoft.com/office/drawing/2014/main" val="1258436162"/>
                  </a:ext>
                </a:extLst>
              </a:tr>
            </a:tbl>
          </a:graphicData>
        </a:graphic>
      </p:graphicFrame>
    </p:spTree>
    <p:extLst>
      <p:ext uri="{BB962C8B-B14F-4D97-AF65-F5344CB8AC3E}">
        <p14:creationId xmlns:p14="http://schemas.microsoft.com/office/powerpoint/2010/main" val="29197429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6">
          <a:extLst>
            <a:ext uri="{FF2B5EF4-FFF2-40B4-BE49-F238E27FC236}">
              <a16:creationId xmlns:a16="http://schemas.microsoft.com/office/drawing/2014/main" id="{923D445D-3E66-5778-98C9-461628DE5F81}"/>
            </a:ext>
          </a:extLst>
        </p:cNvPr>
        <p:cNvGrpSpPr/>
        <p:nvPr/>
      </p:nvGrpSpPr>
      <p:grpSpPr>
        <a:xfrm>
          <a:off x="0" y="0"/>
          <a:ext cx="0" cy="0"/>
          <a:chOff x="0" y="0"/>
          <a:chExt cx="0" cy="0"/>
        </a:xfrm>
      </p:grpSpPr>
      <p:sp>
        <p:nvSpPr>
          <p:cNvPr id="117" name="Google Shape;117;p4">
            <a:extLst>
              <a:ext uri="{FF2B5EF4-FFF2-40B4-BE49-F238E27FC236}">
                <a16:creationId xmlns:a16="http://schemas.microsoft.com/office/drawing/2014/main" id="{4252AA54-506F-81DE-B3AA-23D095E4A859}"/>
              </a:ext>
            </a:extLst>
          </p:cNvPr>
          <p:cNvSpPr/>
          <p:nvPr/>
        </p:nvSpPr>
        <p:spPr>
          <a:xfrm>
            <a:off x="-39756" y="-25341"/>
            <a:ext cx="10067365" cy="488589"/>
          </a:xfrm>
          <a:prstGeom prst="rect">
            <a:avLst/>
          </a:prstGeom>
          <a:solidFill>
            <a:srgbClr val="FE4A5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a:solidFill>
                  <a:schemeClr val="lt1"/>
                </a:solidFill>
                <a:latin typeface="Calibri"/>
                <a:ea typeface="Calibri"/>
                <a:cs typeface="Calibri"/>
                <a:sym typeface="Calibri"/>
              </a:rPr>
              <a:t>CAPSTONE PROJECT</a:t>
            </a:r>
            <a:endParaRPr sz="1400" b="0" i="0" u="none" strike="noStrike" cap="none">
              <a:solidFill>
                <a:srgbClr val="000000"/>
              </a:solidFill>
              <a:latin typeface="Arial"/>
              <a:ea typeface="Arial"/>
              <a:cs typeface="Arial"/>
              <a:sym typeface="Arial"/>
            </a:endParaRPr>
          </a:p>
        </p:txBody>
      </p:sp>
      <p:pic>
        <p:nvPicPr>
          <p:cNvPr id="118" name="Google Shape;118;p4">
            <a:extLst>
              <a:ext uri="{FF2B5EF4-FFF2-40B4-BE49-F238E27FC236}">
                <a16:creationId xmlns:a16="http://schemas.microsoft.com/office/drawing/2014/main" id="{C2FA86B1-1CBC-D465-76B1-0BE0616493F7}"/>
              </a:ext>
            </a:extLst>
          </p:cNvPr>
          <p:cNvPicPr preferRelativeResize="0"/>
          <p:nvPr/>
        </p:nvPicPr>
        <p:blipFill rotWithShape="1">
          <a:blip r:embed="rId3">
            <a:alphaModFix/>
          </a:blip>
          <a:srcRect/>
          <a:stretch/>
        </p:blipFill>
        <p:spPr>
          <a:xfrm>
            <a:off x="10206443" y="0"/>
            <a:ext cx="1886945" cy="502031"/>
          </a:xfrm>
          <a:prstGeom prst="rect">
            <a:avLst/>
          </a:prstGeom>
          <a:noFill/>
          <a:ln>
            <a:noFill/>
          </a:ln>
        </p:spPr>
      </p:pic>
      <p:sp>
        <p:nvSpPr>
          <p:cNvPr id="119" name="Google Shape;119;p4">
            <a:extLst>
              <a:ext uri="{FF2B5EF4-FFF2-40B4-BE49-F238E27FC236}">
                <a16:creationId xmlns:a16="http://schemas.microsoft.com/office/drawing/2014/main" id="{61ED8661-C25F-5EA1-D732-4ADED97A7A2A}"/>
              </a:ext>
            </a:extLst>
          </p:cNvPr>
          <p:cNvSpPr/>
          <p:nvPr/>
        </p:nvSpPr>
        <p:spPr>
          <a:xfrm>
            <a:off x="-3" y="528340"/>
            <a:ext cx="10067365" cy="161941"/>
          </a:xfrm>
          <a:prstGeom prst="rect">
            <a:avLst/>
          </a:prstGeom>
          <a:solidFill>
            <a:schemeClr val="dk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20" name="Google Shape;120;p4">
            <a:extLst>
              <a:ext uri="{FF2B5EF4-FFF2-40B4-BE49-F238E27FC236}">
                <a16:creationId xmlns:a16="http://schemas.microsoft.com/office/drawing/2014/main" id="{B0982160-007C-BE23-568D-250C1643855E}"/>
              </a:ext>
            </a:extLst>
          </p:cNvPr>
          <p:cNvSpPr txBox="1"/>
          <p:nvPr/>
        </p:nvSpPr>
        <p:spPr>
          <a:xfrm>
            <a:off x="1138518" y="6472519"/>
            <a:ext cx="760207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1" u="none" strike="noStrike" cap="none" dirty="0">
                <a:solidFill>
                  <a:schemeClr val="dk1"/>
                </a:solidFill>
                <a:latin typeface="Calibri"/>
                <a:ea typeface="Calibri"/>
                <a:cs typeface="Calibri"/>
                <a:sym typeface="Calibri"/>
              </a:rPr>
              <a:t>Disclaimer: This training material belongs to </a:t>
            </a:r>
            <a:r>
              <a:rPr lang="en-US" sz="1800" b="0" i="1" u="none" strike="noStrike" cap="none" dirty="0" err="1">
                <a:solidFill>
                  <a:schemeClr val="dk1"/>
                </a:solidFill>
                <a:latin typeface="Calibri"/>
                <a:ea typeface="Calibri"/>
                <a:cs typeface="Calibri"/>
                <a:sym typeface="Calibri"/>
              </a:rPr>
              <a:t>techcrush</a:t>
            </a:r>
            <a:r>
              <a:rPr lang="en-US" sz="1800" b="0" i="1" u="none" strike="noStrike" cap="none" dirty="0">
                <a:solidFill>
                  <a:schemeClr val="dk1"/>
                </a:solidFill>
                <a:latin typeface="Calibri"/>
                <a:ea typeface="Calibri"/>
                <a:cs typeface="Calibri"/>
                <a:sym typeface="Calibri"/>
              </a:rPr>
              <a:t> and shouldn’t be shared</a:t>
            </a:r>
            <a:endParaRPr sz="1400" b="0" i="0" u="none" strike="noStrike" cap="none" dirty="0">
              <a:solidFill>
                <a:srgbClr val="000000"/>
              </a:solidFill>
              <a:latin typeface="Arial"/>
              <a:ea typeface="Arial"/>
              <a:cs typeface="Arial"/>
              <a:sym typeface="Arial"/>
            </a:endParaRPr>
          </a:p>
        </p:txBody>
      </p:sp>
      <p:pic>
        <p:nvPicPr>
          <p:cNvPr id="122" name="Google Shape;122;p4">
            <a:extLst>
              <a:ext uri="{FF2B5EF4-FFF2-40B4-BE49-F238E27FC236}">
                <a16:creationId xmlns:a16="http://schemas.microsoft.com/office/drawing/2014/main" id="{EB5519D8-0C14-E81B-F651-C981535C661B}"/>
              </a:ext>
            </a:extLst>
          </p:cNvPr>
          <p:cNvPicPr preferRelativeResize="0"/>
          <p:nvPr/>
        </p:nvPicPr>
        <p:blipFill rotWithShape="1">
          <a:blip r:embed="rId4">
            <a:alphaModFix/>
          </a:blip>
          <a:srcRect/>
          <a:stretch/>
        </p:blipFill>
        <p:spPr>
          <a:xfrm>
            <a:off x="8646453" y="1232642"/>
            <a:ext cx="502028" cy="502028"/>
          </a:xfrm>
          <a:prstGeom prst="rect">
            <a:avLst/>
          </a:prstGeom>
          <a:noFill/>
          <a:ln>
            <a:noFill/>
          </a:ln>
        </p:spPr>
      </p:pic>
      <p:pic>
        <p:nvPicPr>
          <p:cNvPr id="4" name="Picture 3">
            <a:extLst>
              <a:ext uri="{FF2B5EF4-FFF2-40B4-BE49-F238E27FC236}">
                <a16:creationId xmlns:a16="http://schemas.microsoft.com/office/drawing/2014/main" id="{D15414A4-6C1E-8C3A-B3D4-91AC915C00CF}"/>
              </a:ext>
            </a:extLst>
          </p:cNvPr>
          <p:cNvPicPr>
            <a:picLocks noChangeAspect="1"/>
          </p:cNvPicPr>
          <p:nvPr/>
        </p:nvPicPr>
        <p:blipFill>
          <a:blip r:embed="rId5"/>
          <a:stretch>
            <a:fillRect/>
          </a:stretch>
        </p:blipFill>
        <p:spPr>
          <a:xfrm>
            <a:off x="112295" y="755373"/>
            <a:ext cx="11454063" cy="5545815"/>
          </a:xfrm>
          <a:prstGeom prst="rect">
            <a:avLst/>
          </a:prstGeom>
        </p:spPr>
      </p:pic>
    </p:spTree>
    <p:extLst>
      <p:ext uri="{BB962C8B-B14F-4D97-AF65-F5344CB8AC3E}">
        <p14:creationId xmlns:p14="http://schemas.microsoft.com/office/powerpoint/2010/main" val="31718610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5"/>
          <p:cNvSpPr/>
          <p:nvPr/>
        </p:nvSpPr>
        <p:spPr>
          <a:xfrm>
            <a:off x="-39756" y="-25341"/>
            <a:ext cx="10067365" cy="488589"/>
          </a:xfrm>
          <a:prstGeom prst="rect">
            <a:avLst/>
          </a:prstGeom>
          <a:solidFill>
            <a:srgbClr val="FE4A5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a:solidFill>
                  <a:schemeClr val="lt1"/>
                </a:solidFill>
                <a:latin typeface="Calibri"/>
                <a:ea typeface="Calibri"/>
                <a:cs typeface="Calibri"/>
                <a:sym typeface="Calibri"/>
              </a:rPr>
              <a:t>CAPSTONE PROJECT</a:t>
            </a:r>
            <a:endParaRPr sz="1400" b="0" i="0" u="none" strike="noStrike" cap="none">
              <a:solidFill>
                <a:srgbClr val="000000"/>
              </a:solidFill>
              <a:latin typeface="Arial"/>
              <a:ea typeface="Arial"/>
              <a:cs typeface="Arial"/>
              <a:sym typeface="Arial"/>
            </a:endParaRPr>
          </a:p>
        </p:txBody>
      </p:sp>
      <p:pic>
        <p:nvPicPr>
          <p:cNvPr id="129" name="Google Shape;129;p5"/>
          <p:cNvPicPr preferRelativeResize="0"/>
          <p:nvPr/>
        </p:nvPicPr>
        <p:blipFill rotWithShape="1">
          <a:blip r:embed="rId3">
            <a:alphaModFix/>
          </a:blip>
          <a:srcRect/>
          <a:stretch/>
        </p:blipFill>
        <p:spPr>
          <a:xfrm>
            <a:off x="10206443" y="0"/>
            <a:ext cx="1886945" cy="502031"/>
          </a:xfrm>
          <a:prstGeom prst="rect">
            <a:avLst/>
          </a:prstGeom>
          <a:noFill/>
          <a:ln>
            <a:noFill/>
          </a:ln>
        </p:spPr>
      </p:pic>
      <p:sp>
        <p:nvSpPr>
          <p:cNvPr id="130" name="Google Shape;130;p5"/>
          <p:cNvSpPr/>
          <p:nvPr/>
        </p:nvSpPr>
        <p:spPr>
          <a:xfrm>
            <a:off x="-3" y="528340"/>
            <a:ext cx="10067365" cy="161941"/>
          </a:xfrm>
          <a:prstGeom prst="rect">
            <a:avLst/>
          </a:prstGeom>
          <a:solidFill>
            <a:schemeClr val="dk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1" name="Google Shape;131;p5"/>
          <p:cNvSpPr txBox="1"/>
          <p:nvPr/>
        </p:nvSpPr>
        <p:spPr>
          <a:xfrm>
            <a:off x="1138518" y="6472519"/>
            <a:ext cx="760207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1" u="none" strike="noStrike" cap="none" dirty="0">
                <a:solidFill>
                  <a:schemeClr val="dk1"/>
                </a:solidFill>
                <a:latin typeface="Calibri"/>
                <a:ea typeface="Calibri"/>
                <a:cs typeface="Calibri"/>
                <a:sym typeface="Calibri"/>
              </a:rPr>
              <a:t>Disclaimer: This training material belongs to </a:t>
            </a:r>
            <a:r>
              <a:rPr lang="en-US" sz="1800" b="0" i="1" u="none" strike="noStrike" cap="none" dirty="0" err="1">
                <a:solidFill>
                  <a:schemeClr val="dk1"/>
                </a:solidFill>
                <a:latin typeface="Calibri"/>
                <a:ea typeface="Calibri"/>
                <a:cs typeface="Calibri"/>
                <a:sym typeface="Calibri"/>
              </a:rPr>
              <a:t>techcrush</a:t>
            </a:r>
            <a:r>
              <a:rPr lang="en-US" sz="1800" b="0" i="1" u="none" strike="noStrike" cap="none" dirty="0">
                <a:solidFill>
                  <a:schemeClr val="dk1"/>
                </a:solidFill>
                <a:latin typeface="Calibri"/>
                <a:ea typeface="Calibri"/>
                <a:cs typeface="Calibri"/>
                <a:sym typeface="Calibri"/>
              </a:rPr>
              <a:t> and shouldn’t be shared</a:t>
            </a:r>
            <a:endParaRPr sz="1400" b="0" i="0" u="none" strike="noStrike" cap="none" dirty="0">
              <a:solidFill>
                <a:srgbClr val="000000"/>
              </a:solidFill>
              <a:latin typeface="Arial"/>
              <a:ea typeface="Arial"/>
              <a:cs typeface="Arial"/>
              <a:sym typeface="Arial"/>
            </a:endParaRPr>
          </a:p>
        </p:txBody>
      </p:sp>
      <p:pic>
        <p:nvPicPr>
          <p:cNvPr id="132" name="Google Shape;132;p5"/>
          <p:cNvPicPr preferRelativeResize="0"/>
          <p:nvPr/>
        </p:nvPicPr>
        <p:blipFill rotWithShape="1">
          <a:blip r:embed="rId3">
            <a:alphaModFix amt="26000"/>
          </a:blip>
          <a:srcRect/>
          <a:stretch/>
        </p:blipFill>
        <p:spPr>
          <a:xfrm>
            <a:off x="825004" y="1951993"/>
            <a:ext cx="10541991" cy="2804748"/>
          </a:xfrm>
          <a:prstGeom prst="rect">
            <a:avLst/>
          </a:prstGeom>
          <a:noFill/>
          <a:ln>
            <a:noFill/>
          </a:ln>
          <a:effectLst>
            <a:outerShdw dist="50800" sx="1000" sy="1000" algn="ctr" rotWithShape="0">
              <a:srgbClr val="000000"/>
            </a:outerShdw>
          </a:effectLst>
        </p:spPr>
      </p:pic>
      <p:pic>
        <p:nvPicPr>
          <p:cNvPr id="133" name="Google Shape;133;p5"/>
          <p:cNvPicPr preferRelativeResize="0"/>
          <p:nvPr/>
        </p:nvPicPr>
        <p:blipFill rotWithShape="1">
          <a:blip r:embed="rId4">
            <a:alphaModFix/>
          </a:blip>
          <a:srcRect/>
          <a:stretch/>
        </p:blipFill>
        <p:spPr>
          <a:xfrm>
            <a:off x="8646453" y="1232642"/>
            <a:ext cx="502028" cy="502028"/>
          </a:xfrm>
          <a:prstGeom prst="rect">
            <a:avLst/>
          </a:prstGeom>
          <a:noFill/>
          <a:ln>
            <a:noFill/>
          </a:ln>
        </p:spPr>
      </p:pic>
      <p:sp>
        <p:nvSpPr>
          <p:cNvPr id="134" name="Google Shape;134;p5"/>
          <p:cNvSpPr txBox="1"/>
          <p:nvPr/>
        </p:nvSpPr>
        <p:spPr>
          <a:xfrm>
            <a:off x="51903" y="1026824"/>
            <a:ext cx="11748053" cy="707846"/>
          </a:xfrm>
          <a:prstGeom prst="rect">
            <a:avLst/>
          </a:prstGeom>
          <a:noFill/>
          <a:ln>
            <a:noFill/>
          </a:ln>
        </p:spPr>
        <p:txBody>
          <a:bodyPr spcFirstLastPara="1" wrap="square" lIns="91425" tIns="45700" rIns="91425" bIns="45700" anchor="t" anchorCtr="0">
            <a:spAutoFit/>
          </a:bodyPr>
          <a:lstStyle/>
          <a:p>
            <a:r>
              <a:rPr lang="en-US" sz="4000" b="1" dirty="0"/>
              <a:t>Website Defacement Playbook: </a:t>
            </a:r>
            <a:r>
              <a:rPr lang="en-US" sz="3600" dirty="0"/>
              <a:t>Design Rationale</a:t>
            </a:r>
          </a:p>
        </p:txBody>
      </p:sp>
      <p:sp>
        <p:nvSpPr>
          <p:cNvPr id="3" name="TextBox 2">
            <a:extLst>
              <a:ext uri="{FF2B5EF4-FFF2-40B4-BE49-F238E27FC236}">
                <a16:creationId xmlns:a16="http://schemas.microsoft.com/office/drawing/2014/main" id="{F7F89865-D248-1A41-5F26-059FD906F158}"/>
              </a:ext>
            </a:extLst>
          </p:cNvPr>
          <p:cNvSpPr txBox="1"/>
          <p:nvPr/>
        </p:nvSpPr>
        <p:spPr>
          <a:xfrm>
            <a:off x="669175" y="2217809"/>
            <a:ext cx="10853648" cy="4524315"/>
          </a:xfrm>
          <a:prstGeom prst="rect">
            <a:avLst/>
          </a:prstGeom>
          <a:noFill/>
        </p:spPr>
        <p:txBody>
          <a:bodyPr wrap="square">
            <a:spAutoFit/>
          </a:bodyPr>
          <a:lstStyle/>
          <a:p>
            <a:r>
              <a:rPr lang="en-US" sz="2800" b="1" dirty="0"/>
              <a:t>Scope: </a:t>
            </a:r>
            <a:r>
              <a:rPr lang="en-US" sz="2800" dirty="0"/>
              <a:t>Fast Public Containment (30-min target) via server exploits.</a:t>
            </a:r>
          </a:p>
          <a:p>
            <a:r>
              <a:rPr lang="en-US" sz="2800" b="1" dirty="0"/>
              <a:t>Phases:</a:t>
            </a:r>
            <a:r>
              <a:rPr lang="en-US" sz="2800" dirty="0"/>
              <a:t> Detection → Containment (maintenance mode, isolate servers) → Eradication (remove malicious files) → Recovery (restore verified backups).</a:t>
            </a:r>
          </a:p>
          <a:p>
            <a:pPr lvl="0" eaLnBrk="0" fontAlgn="base" hangingPunct="0">
              <a:spcBef>
                <a:spcPct val="0"/>
              </a:spcBef>
              <a:spcAft>
                <a:spcPct val="0"/>
              </a:spcAft>
              <a:buClrTx/>
              <a:buFontTx/>
              <a:buChar char="•"/>
            </a:pPr>
            <a:r>
              <a:rPr lang="en-US" sz="2800" b="1" dirty="0">
                <a:solidFill>
                  <a:schemeClr val="tx1"/>
                </a:solidFill>
                <a:latin typeface="Arial" panose="020B0604020202020204" pitchFamily="34" charset="0"/>
              </a:rPr>
              <a:t>Clear </a:t>
            </a:r>
            <a:r>
              <a:rPr lang="en-US" altLang="en-US" sz="2800" b="1" dirty="0">
                <a:solidFill>
                  <a:schemeClr val="tx1"/>
                </a:solidFill>
                <a:latin typeface="Arial" panose="020B0604020202020204" pitchFamily="34" charset="0"/>
              </a:rPr>
              <a:t>Roles </a:t>
            </a:r>
            <a:r>
              <a:rPr lang="en-US" sz="2800" b="1" dirty="0">
                <a:solidFill>
                  <a:schemeClr val="tx1"/>
                </a:solidFill>
                <a:latin typeface="Arial" panose="020B0604020202020204" pitchFamily="34" charset="0"/>
              </a:rPr>
              <a:t>Separation</a:t>
            </a:r>
            <a:r>
              <a:rPr lang="en-US" altLang="en-US" sz="2800" b="1" dirty="0">
                <a:solidFill>
                  <a:schemeClr val="tx1"/>
                </a:solidFill>
                <a:latin typeface="Arial" panose="020B0604020202020204" pitchFamily="34" charset="0"/>
              </a:rPr>
              <a:t>:</a:t>
            </a:r>
            <a:r>
              <a:rPr lang="en-US" altLang="en-US" sz="2800" dirty="0">
                <a:solidFill>
                  <a:schemeClr val="tx1"/>
                </a:solidFill>
                <a:latin typeface="Arial" panose="020B0604020202020204" pitchFamily="34" charset="0"/>
              </a:rPr>
              <a:t> Web Dev, DevOps, Security Analyst, PR, Legal, Product Manager.</a:t>
            </a:r>
          </a:p>
          <a:p>
            <a:pPr lvl="0" eaLnBrk="0" fontAlgn="base" hangingPunct="0">
              <a:spcBef>
                <a:spcPct val="0"/>
              </a:spcBef>
              <a:spcAft>
                <a:spcPct val="0"/>
              </a:spcAft>
              <a:buClrTx/>
              <a:buFontTx/>
              <a:buChar char="•"/>
            </a:pPr>
            <a:r>
              <a:rPr lang="en-US" altLang="en-US" sz="2800" b="1" dirty="0">
                <a:solidFill>
                  <a:schemeClr val="tx1"/>
                </a:solidFill>
                <a:latin typeface="Arial" panose="020B0604020202020204" pitchFamily="34" charset="0"/>
              </a:rPr>
              <a:t>Metrics Dashboard:</a:t>
            </a:r>
            <a:r>
              <a:rPr lang="en-US" altLang="en-US" sz="2800" dirty="0">
                <a:solidFill>
                  <a:schemeClr val="tx1"/>
                </a:solidFill>
                <a:latin typeface="Arial" panose="020B0604020202020204" pitchFamily="34" charset="0"/>
              </a:rPr>
              <a:t> Measures detection, containment, and resolution time.</a:t>
            </a:r>
          </a:p>
          <a:p>
            <a:endParaRPr lang="en-US" sz="3200" dirty="0"/>
          </a:p>
          <a:p>
            <a:endParaRPr lang="en-US" sz="3200" b="1"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7">
          <a:extLst>
            <a:ext uri="{FF2B5EF4-FFF2-40B4-BE49-F238E27FC236}">
              <a16:creationId xmlns:a16="http://schemas.microsoft.com/office/drawing/2014/main" id="{BECE3C25-9AAE-C225-99B9-588A522B2462}"/>
            </a:ext>
          </a:extLst>
        </p:cNvPr>
        <p:cNvGrpSpPr/>
        <p:nvPr/>
      </p:nvGrpSpPr>
      <p:grpSpPr>
        <a:xfrm>
          <a:off x="0" y="0"/>
          <a:ext cx="0" cy="0"/>
          <a:chOff x="0" y="0"/>
          <a:chExt cx="0" cy="0"/>
        </a:xfrm>
      </p:grpSpPr>
      <p:sp>
        <p:nvSpPr>
          <p:cNvPr id="128" name="Google Shape;128;p5">
            <a:extLst>
              <a:ext uri="{FF2B5EF4-FFF2-40B4-BE49-F238E27FC236}">
                <a16:creationId xmlns:a16="http://schemas.microsoft.com/office/drawing/2014/main" id="{6471B86D-458C-5E50-3BEE-21B19BCA6FA9}"/>
              </a:ext>
            </a:extLst>
          </p:cNvPr>
          <p:cNvSpPr/>
          <p:nvPr/>
        </p:nvSpPr>
        <p:spPr>
          <a:xfrm>
            <a:off x="-39756" y="-25341"/>
            <a:ext cx="10067365" cy="488589"/>
          </a:xfrm>
          <a:prstGeom prst="rect">
            <a:avLst/>
          </a:prstGeom>
          <a:solidFill>
            <a:srgbClr val="FE4A5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a:solidFill>
                  <a:schemeClr val="lt1"/>
                </a:solidFill>
                <a:latin typeface="Calibri"/>
                <a:ea typeface="Calibri"/>
                <a:cs typeface="Calibri"/>
                <a:sym typeface="Calibri"/>
              </a:rPr>
              <a:t>CAPSTONE PROJECT</a:t>
            </a:r>
            <a:endParaRPr sz="1400" b="0" i="0" u="none" strike="noStrike" cap="none">
              <a:solidFill>
                <a:srgbClr val="000000"/>
              </a:solidFill>
              <a:latin typeface="Arial"/>
              <a:ea typeface="Arial"/>
              <a:cs typeface="Arial"/>
              <a:sym typeface="Arial"/>
            </a:endParaRPr>
          </a:p>
        </p:txBody>
      </p:sp>
      <p:pic>
        <p:nvPicPr>
          <p:cNvPr id="129" name="Google Shape;129;p5">
            <a:extLst>
              <a:ext uri="{FF2B5EF4-FFF2-40B4-BE49-F238E27FC236}">
                <a16:creationId xmlns:a16="http://schemas.microsoft.com/office/drawing/2014/main" id="{853D6B65-C269-D367-5B0E-23F8D3D8CACF}"/>
              </a:ext>
            </a:extLst>
          </p:cNvPr>
          <p:cNvPicPr preferRelativeResize="0"/>
          <p:nvPr/>
        </p:nvPicPr>
        <p:blipFill rotWithShape="1">
          <a:blip r:embed="rId3">
            <a:alphaModFix/>
          </a:blip>
          <a:srcRect/>
          <a:stretch/>
        </p:blipFill>
        <p:spPr>
          <a:xfrm>
            <a:off x="10206443" y="0"/>
            <a:ext cx="1886945" cy="502031"/>
          </a:xfrm>
          <a:prstGeom prst="rect">
            <a:avLst/>
          </a:prstGeom>
          <a:noFill/>
          <a:ln>
            <a:noFill/>
          </a:ln>
        </p:spPr>
      </p:pic>
      <p:sp>
        <p:nvSpPr>
          <p:cNvPr id="130" name="Google Shape;130;p5">
            <a:extLst>
              <a:ext uri="{FF2B5EF4-FFF2-40B4-BE49-F238E27FC236}">
                <a16:creationId xmlns:a16="http://schemas.microsoft.com/office/drawing/2014/main" id="{507490CB-6F3A-D6FB-D98E-DC1FE6DC0FBC}"/>
              </a:ext>
            </a:extLst>
          </p:cNvPr>
          <p:cNvSpPr/>
          <p:nvPr/>
        </p:nvSpPr>
        <p:spPr>
          <a:xfrm>
            <a:off x="-3" y="528340"/>
            <a:ext cx="10067365" cy="161941"/>
          </a:xfrm>
          <a:prstGeom prst="rect">
            <a:avLst/>
          </a:prstGeom>
          <a:solidFill>
            <a:schemeClr val="dk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1" name="Google Shape;131;p5">
            <a:extLst>
              <a:ext uri="{FF2B5EF4-FFF2-40B4-BE49-F238E27FC236}">
                <a16:creationId xmlns:a16="http://schemas.microsoft.com/office/drawing/2014/main" id="{E66BA7DA-1F81-047D-BED2-8273B03998F7}"/>
              </a:ext>
            </a:extLst>
          </p:cNvPr>
          <p:cNvSpPr txBox="1"/>
          <p:nvPr/>
        </p:nvSpPr>
        <p:spPr>
          <a:xfrm>
            <a:off x="1138518" y="6472519"/>
            <a:ext cx="760207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1" u="none" strike="noStrike" cap="none" dirty="0">
                <a:solidFill>
                  <a:schemeClr val="dk1"/>
                </a:solidFill>
                <a:latin typeface="Calibri"/>
                <a:ea typeface="Calibri"/>
                <a:cs typeface="Calibri"/>
                <a:sym typeface="Calibri"/>
              </a:rPr>
              <a:t>Disclaimer: This training material belongs to </a:t>
            </a:r>
            <a:r>
              <a:rPr lang="en-US" sz="1800" b="0" i="1" u="none" strike="noStrike" cap="none" dirty="0" err="1">
                <a:solidFill>
                  <a:schemeClr val="dk1"/>
                </a:solidFill>
                <a:latin typeface="Calibri"/>
                <a:ea typeface="Calibri"/>
                <a:cs typeface="Calibri"/>
                <a:sym typeface="Calibri"/>
              </a:rPr>
              <a:t>techcrush</a:t>
            </a:r>
            <a:r>
              <a:rPr lang="en-US" sz="1800" b="0" i="1" u="none" strike="noStrike" cap="none" dirty="0">
                <a:solidFill>
                  <a:schemeClr val="dk1"/>
                </a:solidFill>
                <a:latin typeface="Calibri"/>
                <a:ea typeface="Calibri"/>
                <a:cs typeface="Calibri"/>
                <a:sym typeface="Calibri"/>
              </a:rPr>
              <a:t> and shouldn’t be shared</a:t>
            </a:r>
            <a:endParaRPr sz="1400" b="0" i="0" u="none" strike="noStrike" cap="none" dirty="0">
              <a:solidFill>
                <a:srgbClr val="000000"/>
              </a:solidFill>
              <a:latin typeface="Arial"/>
              <a:ea typeface="Arial"/>
              <a:cs typeface="Arial"/>
              <a:sym typeface="Arial"/>
            </a:endParaRPr>
          </a:p>
        </p:txBody>
      </p:sp>
      <p:pic>
        <p:nvPicPr>
          <p:cNvPr id="132" name="Google Shape;132;p5">
            <a:extLst>
              <a:ext uri="{FF2B5EF4-FFF2-40B4-BE49-F238E27FC236}">
                <a16:creationId xmlns:a16="http://schemas.microsoft.com/office/drawing/2014/main" id="{FBC08774-9FB7-503F-8ED8-9A87BB547F72}"/>
              </a:ext>
            </a:extLst>
          </p:cNvPr>
          <p:cNvPicPr preferRelativeResize="0"/>
          <p:nvPr/>
        </p:nvPicPr>
        <p:blipFill rotWithShape="1">
          <a:blip r:embed="rId3">
            <a:alphaModFix amt="26000"/>
          </a:blip>
          <a:srcRect/>
          <a:stretch/>
        </p:blipFill>
        <p:spPr>
          <a:xfrm>
            <a:off x="825004" y="1951993"/>
            <a:ext cx="10541991" cy="2804748"/>
          </a:xfrm>
          <a:prstGeom prst="rect">
            <a:avLst/>
          </a:prstGeom>
          <a:noFill/>
          <a:ln>
            <a:noFill/>
          </a:ln>
          <a:effectLst>
            <a:outerShdw dist="50800" sx="1000" sy="1000" algn="ctr" rotWithShape="0">
              <a:srgbClr val="000000"/>
            </a:outerShdw>
          </a:effectLst>
        </p:spPr>
      </p:pic>
      <p:pic>
        <p:nvPicPr>
          <p:cNvPr id="133" name="Google Shape;133;p5">
            <a:extLst>
              <a:ext uri="{FF2B5EF4-FFF2-40B4-BE49-F238E27FC236}">
                <a16:creationId xmlns:a16="http://schemas.microsoft.com/office/drawing/2014/main" id="{E7367621-3224-4C11-191D-B9930ADCBB6E}"/>
              </a:ext>
            </a:extLst>
          </p:cNvPr>
          <p:cNvPicPr preferRelativeResize="0"/>
          <p:nvPr/>
        </p:nvPicPr>
        <p:blipFill rotWithShape="1">
          <a:blip r:embed="rId4">
            <a:alphaModFix/>
          </a:blip>
          <a:srcRect/>
          <a:stretch/>
        </p:blipFill>
        <p:spPr>
          <a:xfrm>
            <a:off x="8646453" y="1232642"/>
            <a:ext cx="502028" cy="502028"/>
          </a:xfrm>
          <a:prstGeom prst="rect">
            <a:avLst/>
          </a:prstGeom>
          <a:noFill/>
          <a:ln>
            <a:noFill/>
          </a:ln>
        </p:spPr>
      </p:pic>
      <p:pic>
        <p:nvPicPr>
          <p:cNvPr id="4" name="Picture 3" descr="A diagram of a person with text&#10;&#10;AI-generated content may be incorrect.">
            <a:extLst>
              <a:ext uri="{FF2B5EF4-FFF2-40B4-BE49-F238E27FC236}">
                <a16:creationId xmlns:a16="http://schemas.microsoft.com/office/drawing/2014/main" id="{3DC29AAD-3846-CF7F-D64C-51385A4C7E21}"/>
              </a:ext>
            </a:extLst>
          </p:cNvPr>
          <p:cNvPicPr>
            <a:picLocks noChangeAspect="1"/>
          </p:cNvPicPr>
          <p:nvPr/>
        </p:nvPicPr>
        <p:blipFill>
          <a:blip r:embed="rId5"/>
          <a:stretch>
            <a:fillRect/>
          </a:stretch>
        </p:blipFill>
        <p:spPr>
          <a:xfrm>
            <a:off x="697509" y="755372"/>
            <a:ext cx="10541991" cy="6102627"/>
          </a:xfrm>
          <a:prstGeom prst="rect">
            <a:avLst/>
          </a:prstGeom>
        </p:spPr>
      </p:pic>
    </p:spTree>
    <p:extLst>
      <p:ext uri="{BB962C8B-B14F-4D97-AF65-F5344CB8AC3E}">
        <p14:creationId xmlns:p14="http://schemas.microsoft.com/office/powerpoint/2010/main" val="13781349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7">
          <a:extLst>
            <a:ext uri="{FF2B5EF4-FFF2-40B4-BE49-F238E27FC236}">
              <a16:creationId xmlns:a16="http://schemas.microsoft.com/office/drawing/2014/main" id="{713D605D-F77D-2AD8-79D4-B75CA5A9C087}"/>
            </a:ext>
          </a:extLst>
        </p:cNvPr>
        <p:cNvGrpSpPr/>
        <p:nvPr/>
      </p:nvGrpSpPr>
      <p:grpSpPr>
        <a:xfrm>
          <a:off x="0" y="0"/>
          <a:ext cx="0" cy="0"/>
          <a:chOff x="0" y="0"/>
          <a:chExt cx="0" cy="0"/>
        </a:xfrm>
      </p:grpSpPr>
      <p:sp>
        <p:nvSpPr>
          <p:cNvPr id="128" name="Google Shape;128;p5">
            <a:extLst>
              <a:ext uri="{FF2B5EF4-FFF2-40B4-BE49-F238E27FC236}">
                <a16:creationId xmlns:a16="http://schemas.microsoft.com/office/drawing/2014/main" id="{4F43EE2A-1103-378C-8B0C-C764EB1CBE4C}"/>
              </a:ext>
            </a:extLst>
          </p:cNvPr>
          <p:cNvSpPr/>
          <p:nvPr/>
        </p:nvSpPr>
        <p:spPr>
          <a:xfrm>
            <a:off x="-39756" y="-25341"/>
            <a:ext cx="10067365" cy="488589"/>
          </a:xfrm>
          <a:prstGeom prst="rect">
            <a:avLst/>
          </a:prstGeom>
          <a:solidFill>
            <a:srgbClr val="FE4A5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a:solidFill>
                  <a:schemeClr val="lt1"/>
                </a:solidFill>
                <a:latin typeface="Calibri"/>
                <a:ea typeface="Calibri"/>
                <a:cs typeface="Calibri"/>
                <a:sym typeface="Calibri"/>
              </a:rPr>
              <a:t>CAPSTONE PROJECT</a:t>
            </a:r>
            <a:endParaRPr sz="1400" b="0" i="0" u="none" strike="noStrike" cap="none">
              <a:solidFill>
                <a:srgbClr val="000000"/>
              </a:solidFill>
              <a:latin typeface="Arial"/>
              <a:ea typeface="Arial"/>
              <a:cs typeface="Arial"/>
              <a:sym typeface="Arial"/>
            </a:endParaRPr>
          </a:p>
        </p:txBody>
      </p:sp>
      <p:pic>
        <p:nvPicPr>
          <p:cNvPr id="129" name="Google Shape;129;p5">
            <a:extLst>
              <a:ext uri="{FF2B5EF4-FFF2-40B4-BE49-F238E27FC236}">
                <a16:creationId xmlns:a16="http://schemas.microsoft.com/office/drawing/2014/main" id="{DE1278DB-3761-30FC-5E15-7EB3CC4126A3}"/>
              </a:ext>
            </a:extLst>
          </p:cNvPr>
          <p:cNvPicPr preferRelativeResize="0"/>
          <p:nvPr/>
        </p:nvPicPr>
        <p:blipFill rotWithShape="1">
          <a:blip r:embed="rId3">
            <a:alphaModFix/>
          </a:blip>
          <a:srcRect/>
          <a:stretch/>
        </p:blipFill>
        <p:spPr>
          <a:xfrm>
            <a:off x="10206443" y="0"/>
            <a:ext cx="1886945" cy="502031"/>
          </a:xfrm>
          <a:prstGeom prst="rect">
            <a:avLst/>
          </a:prstGeom>
          <a:noFill/>
          <a:ln>
            <a:noFill/>
          </a:ln>
        </p:spPr>
      </p:pic>
      <p:sp>
        <p:nvSpPr>
          <p:cNvPr id="130" name="Google Shape;130;p5">
            <a:extLst>
              <a:ext uri="{FF2B5EF4-FFF2-40B4-BE49-F238E27FC236}">
                <a16:creationId xmlns:a16="http://schemas.microsoft.com/office/drawing/2014/main" id="{9E54520D-171E-A6C8-8D87-9E0167E7E679}"/>
              </a:ext>
            </a:extLst>
          </p:cNvPr>
          <p:cNvSpPr/>
          <p:nvPr/>
        </p:nvSpPr>
        <p:spPr>
          <a:xfrm>
            <a:off x="-3" y="528340"/>
            <a:ext cx="10067365" cy="161941"/>
          </a:xfrm>
          <a:prstGeom prst="rect">
            <a:avLst/>
          </a:prstGeom>
          <a:solidFill>
            <a:schemeClr val="dk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1" name="Google Shape;131;p5">
            <a:extLst>
              <a:ext uri="{FF2B5EF4-FFF2-40B4-BE49-F238E27FC236}">
                <a16:creationId xmlns:a16="http://schemas.microsoft.com/office/drawing/2014/main" id="{F999A1AE-44F8-0765-86C0-B65F26EE4C48}"/>
              </a:ext>
            </a:extLst>
          </p:cNvPr>
          <p:cNvSpPr txBox="1"/>
          <p:nvPr/>
        </p:nvSpPr>
        <p:spPr>
          <a:xfrm>
            <a:off x="1138518" y="6472519"/>
            <a:ext cx="760207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1" u="none" strike="noStrike" cap="none" dirty="0">
                <a:solidFill>
                  <a:schemeClr val="dk1"/>
                </a:solidFill>
                <a:latin typeface="Calibri"/>
                <a:ea typeface="Calibri"/>
                <a:cs typeface="Calibri"/>
                <a:sym typeface="Calibri"/>
              </a:rPr>
              <a:t>Disclaimer: This training material belongs to </a:t>
            </a:r>
            <a:r>
              <a:rPr lang="en-US" sz="1800" b="0" i="1" u="none" strike="noStrike" cap="none" dirty="0" err="1">
                <a:solidFill>
                  <a:schemeClr val="dk1"/>
                </a:solidFill>
                <a:latin typeface="Calibri"/>
                <a:ea typeface="Calibri"/>
                <a:cs typeface="Calibri"/>
                <a:sym typeface="Calibri"/>
              </a:rPr>
              <a:t>techcrush</a:t>
            </a:r>
            <a:r>
              <a:rPr lang="en-US" sz="1800" b="0" i="1" u="none" strike="noStrike" cap="none" dirty="0">
                <a:solidFill>
                  <a:schemeClr val="dk1"/>
                </a:solidFill>
                <a:latin typeface="Calibri"/>
                <a:ea typeface="Calibri"/>
                <a:cs typeface="Calibri"/>
                <a:sym typeface="Calibri"/>
              </a:rPr>
              <a:t> and shouldn’t be shared</a:t>
            </a:r>
            <a:endParaRPr sz="1400" b="0" i="0" u="none" strike="noStrike" cap="none" dirty="0">
              <a:solidFill>
                <a:srgbClr val="000000"/>
              </a:solidFill>
              <a:latin typeface="Arial"/>
              <a:ea typeface="Arial"/>
              <a:cs typeface="Arial"/>
              <a:sym typeface="Arial"/>
            </a:endParaRPr>
          </a:p>
        </p:txBody>
      </p:sp>
      <p:pic>
        <p:nvPicPr>
          <p:cNvPr id="132" name="Google Shape;132;p5">
            <a:extLst>
              <a:ext uri="{FF2B5EF4-FFF2-40B4-BE49-F238E27FC236}">
                <a16:creationId xmlns:a16="http://schemas.microsoft.com/office/drawing/2014/main" id="{3C939912-C52B-3401-EE09-6C28A2638D88}"/>
              </a:ext>
            </a:extLst>
          </p:cNvPr>
          <p:cNvPicPr preferRelativeResize="0"/>
          <p:nvPr/>
        </p:nvPicPr>
        <p:blipFill rotWithShape="1">
          <a:blip r:embed="rId3">
            <a:alphaModFix amt="26000"/>
          </a:blip>
          <a:srcRect/>
          <a:stretch/>
        </p:blipFill>
        <p:spPr>
          <a:xfrm>
            <a:off x="825004" y="1951993"/>
            <a:ext cx="10541991" cy="2804748"/>
          </a:xfrm>
          <a:prstGeom prst="rect">
            <a:avLst/>
          </a:prstGeom>
          <a:noFill/>
          <a:ln>
            <a:noFill/>
          </a:ln>
          <a:effectLst>
            <a:outerShdw dist="50800" sx="1000" sy="1000" algn="ctr" rotWithShape="0">
              <a:srgbClr val="000000"/>
            </a:outerShdw>
          </a:effectLst>
        </p:spPr>
      </p:pic>
      <p:pic>
        <p:nvPicPr>
          <p:cNvPr id="133" name="Google Shape;133;p5">
            <a:extLst>
              <a:ext uri="{FF2B5EF4-FFF2-40B4-BE49-F238E27FC236}">
                <a16:creationId xmlns:a16="http://schemas.microsoft.com/office/drawing/2014/main" id="{09A48C97-8A09-9DF1-2647-B163E69A247E}"/>
              </a:ext>
            </a:extLst>
          </p:cNvPr>
          <p:cNvPicPr preferRelativeResize="0"/>
          <p:nvPr/>
        </p:nvPicPr>
        <p:blipFill rotWithShape="1">
          <a:blip r:embed="rId4">
            <a:alphaModFix/>
          </a:blip>
          <a:srcRect/>
          <a:stretch/>
        </p:blipFill>
        <p:spPr>
          <a:xfrm>
            <a:off x="8646453" y="1232642"/>
            <a:ext cx="502028" cy="502028"/>
          </a:xfrm>
          <a:prstGeom prst="rect">
            <a:avLst/>
          </a:prstGeom>
          <a:noFill/>
          <a:ln>
            <a:noFill/>
          </a:ln>
        </p:spPr>
      </p:pic>
      <p:sp>
        <p:nvSpPr>
          <p:cNvPr id="134" name="Google Shape;134;p5">
            <a:extLst>
              <a:ext uri="{FF2B5EF4-FFF2-40B4-BE49-F238E27FC236}">
                <a16:creationId xmlns:a16="http://schemas.microsoft.com/office/drawing/2014/main" id="{22C1FEDA-EDFA-2160-9D47-895B712A4741}"/>
              </a:ext>
            </a:extLst>
          </p:cNvPr>
          <p:cNvSpPr txBox="1"/>
          <p:nvPr/>
        </p:nvSpPr>
        <p:spPr>
          <a:xfrm>
            <a:off x="221972" y="1005609"/>
            <a:ext cx="11748053" cy="707846"/>
          </a:xfrm>
          <a:prstGeom prst="rect">
            <a:avLst/>
          </a:prstGeom>
          <a:noFill/>
          <a:ln>
            <a:noFill/>
          </a:ln>
        </p:spPr>
        <p:txBody>
          <a:bodyPr spcFirstLastPara="1" wrap="square" lIns="91425" tIns="45700" rIns="91425" bIns="45700" anchor="t" anchorCtr="0">
            <a:spAutoFit/>
          </a:bodyPr>
          <a:lstStyle/>
          <a:p>
            <a:r>
              <a:rPr lang="en-US" sz="4000" b="1" dirty="0"/>
              <a:t>Website Defacement Playbook: </a:t>
            </a:r>
            <a:r>
              <a:rPr lang="en-US" sz="3600" dirty="0"/>
              <a:t>Benefits</a:t>
            </a:r>
          </a:p>
        </p:txBody>
      </p:sp>
      <p:sp>
        <p:nvSpPr>
          <p:cNvPr id="3" name="TextBox 2">
            <a:extLst>
              <a:ext uri="{FF2B5EF4-FFF2-40B4-BE49-F238E27FC236}">
                <a16:creationId xmlns:a16="http://schemas.microsoft.com/office/drawing/2014/main" id="{46976FB2-F9D6-D36C-B32D-0E5B6479EC43}"/>
              </a:ext>
            </a:extLst>
          </p:cNvPr>
          <p:cNvSpPr txBox="1"/>
          <p:nvPr/>
        </p:nvSpPr>
        <p:spPr>
          <a:xfrm>
            <a:off x="669175" y="2119371"/>
            <a:ext cx="10853648" cy="3046988"/>
          </a:xfrm>
          <a:prstGeom prst="rect">
            <a:avLst/>
          </a:prstGeom>
          <a:noFill/>
        </p:spPr>
        <p:txBody>
          <a:bodyPr wrap="square">
            <a:spAutoFit/>
          </a:bodyPr>
          <a:lstStyle/>
          <a:p>
            <a:pPr lvl="0" eaLnBrk="0" fontAlgn="base" hangingPunct="0">
              <a:spcBef>
                <a:spcPct val="0"/>
              </a:spcBef>
              <a:spcAft>
                <a:spcPct val="0"/>
              </a:spcAft>
              <a:buClrTx/>
              <a:buFontTx/>
              <a:buChar char="•"/>
            </a:pPr>
            <a:r>
              <a:rPr lang="en-US" altLang="en-US" sz="2800" dirty="0">
                <a:solidFill>
                  <a:schemeClr val="tx1"/>
                </a:solidFill>
                <a:latin typeface="Arial" panose="020B0604020202020204" pitchFamily="34" charset="0"/>
              </a:rPr>
              <a:t>Fast containment reduces reputational damage.</a:t>
            </a:r>
          </a:p>
          <a:p>
            <a:pPr lvl="0" eaLnBrk="0" fontAlgn="base" hangingPunct="0">
              <a:spcBef>
                <a:spcPct val="0"/>
              </a:spcBef>
              <a:spcAft>
                <a:spcPct val="0"/>
              </a:spcAft>
              <a:buClrTx/>
              <a:buFontTx/>
              <a:buChar char="•"/>
            </a:pPr>
            <a:r>
              <a:rPr lang="en-US" altLang="en-US" sz="2800" dirty="0">
                <a:solidFill>
                  <a:schemeClr val="tx1"/>
                </a:solidFill>
                <a:latin typeface="Arial" panose="020B0604020202020204" pitchFamily="34" charset="0"/>
              </a:rPr>
              <a:t>Restoring source control ensures data integrity.</a:t>
            </a:r>
          </a:p>
          <a:p>
            <a:pPr lvl="0" eaLnBrk="0" fontAlgn="base" hangingPunct="0">
              <a:spcBef>
                <a:spcPct val="0"/>
              </a:spcBef>
              <a:spcAft>
                <a:spcPct val="0"/>
              </a:spcAft>
              <a:buClrTx/>
              <a:buFontTx/>
              <a:buChar char="•"/>
            </a:pPr>
            <a:r>
              <a:rPr lang="en-US" altLang="en-US" sz="2800" dirty="0">
                <a:solidFill>
                  <a:schemeClr val="tx1"/>
                </a:solidFill>
                <a:latin typeface="Arial" panose="020B0604020202020204" pitchFamily="34" charset="0"/>
              </a:rPr>
              <a:t>Role clarity ensures there is quick action, minimal confusion.</a:t>
            </a:r>
          </a:p>
          <a:p>
            <a:pPr lvl="0" eaLnBrk="0" fontAlgn="base" hangingPunct="0">
              <a:spcBef>
                <a:spcPct val="0"/>
              </a:spcBef>
              <a:spcAft>
                <a:spcPct val="0"/>
              </a:spcAft>
              <a:buClrTx/>
              <a:buFontTx/>
              <a:buChar char="•"/>
            </a:pPr>
            <a:r>
              <a:rPr lang="en-US" altLang="en-US" sz="2800" dirty="0">
                <a:solidFill>
                  <a:schemeClr val="tx1"/>
                </a:solidFill>
                <a:latin typeface="Arial" panose="020B0604020202020204" pitchFamily="34" charset="0"/>
              </a:rPr>
              <a:t>Evidence-first method helps root-cause analysis and compliance.</a:t>
            </a:r>
            <a:br>
              <a:rPr lang="en-US" altLang="en-US" sz="2800" dirty="0">
                <a:solidFill>
                  <a:schemeClr val="tx1"/>
                </a:solidFill>
                <a:latin typeface="Arial" panose="020B0604020202020204" pitchFamily="34" charset="0"/>
              </a:rPr>
            </a:br>
            <a:endParaRPr lang="en-US" altLang="en-US" sz="2800" dirty="0">
              <a:solidFill>
                <a:schemeClr val="tx1"/>
              </a:solidFill>
              <a:latin typeface="Arial" panose="020B0604020202020204" pitchFamily="34" charset="0"/>
            </a:endParaRPr>
          </a:p>
          <a:p>
            <a:pPr lvl="0" eaLnBrk="0" fontAlgn="base" hangingPunct="0">
              <a:spcBef>
                <a:spcPct val="0"/>
              </a:spcBef>
              <a:spcAft>
                <a:spcPct val="0"/>
              </a:spcAft>
              <a:buClrTx/>
            </a:pPr>
            <a:r>
              <a:rPr lang="en-US" altLang="en-US" sz="2000" b="1" i="1" dirty="0">
                <a:solidFill>
                  <a:schemeClr val="tx1"/>
                </a:solidFill>
                <a:latin typeface="Arial" panose="020B0604020202020204" pitchFamily="34" charset="0"/>
              </a:rPr>
              <a:t>Reference:</a:t>
            </a:r>
            <a:r>
              <a:rPr lang="en-US" altLang="en-US" sz="2000" i="1" dirty="0">
                <a:solidFill>
                  <a:schemeClr val="tx1"/>
                </a:solidFill>
                <a:latin typeface="Arial" panose="020B0604020202020204" pitchFamily="34" charset="0"/>
              </a:rPr>
              <a:t> 1.1 IR website Defacement full doc on google drive</a:t>
            </a:r>
          </a:p>
          <a:p>
            <a:endParaRPr lang="en-US" sz="3200" b="1" dirty="0"/>
          </a:p>
        </p:txBody>
      </p:sp>
    </p:spTree>
    <p:extLst>
      <p:ext uri="{BB962C8B-B14F-4D97-AF65-F5344CB8AC3E}">
        <p14:creationId xmlns:p14="http://schemas.microsoft.com/office/powerpoint/2010/main" val="17439863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7">
          <a:extLst>
            <a:ext uri="{FF2B5EF4-FFF2-40B4-BE49-F238E27FC236}">
              <a16:creationId xmlns:a16="http://schemas.microsoft.com/office/drawing/2014/main" id="{175464DF-AE5C-4A3D-1FAD-7EB27D8EB58A}"/>
            </a:ext>
          </a:extLst>
        </p:cNvPr>
        <p:cNvGrpSpPr/>
        <p:nvPr/>
      </p:nvGrpSpPr>
      <p:grpSpPr>
        <a:xfrm>
          <a:off x="0" y="0"/>
          <a:ext cx="0" cy="0"/>
          <a:chOff x="0" y="0"/>
          <a:chExt cx="0" cy="0"/>
        </a:xfrm>
      </p:grpSpPr>
      <p:sp>
        <p:nvSpPr>
          <p:cNvPr id="128" name="Google Shape;128;p5">
            <a:extLst>
              <a:ext uri="{FF2B5EF4-FFF2-40B4-BE49-F238E27FC236}">
                <a16:creationId xmlns:a16="http://schemas.microsoft.com/office/drawing/2014/main" id="{79F19442-5D7D-864D-E459-7CF33B80F843}"/>
              </a:ext>
            </a:extLst>
          </p:cNvPr>
          <p:cNvSpPr/>
          <p:nvPr/>
        </p:nvSpPr>
        <p:spPr>
          <a:xfrm>
            <a:off x="-39756" y="-25341"/>
            <a:ext cx="10067365" cy="488589"/>
          </a:xfrm>
          <a:prstGeom prst="rect">
            <a:avLst/>
          </a:prstGeom>
          <a:solidFill>
            <a:srgbClr val="FE4A5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a:solidFill>
                  <a:schemeClr val="lt1"/>
                </a:solidFill>
                <a:latin typeface="Calibri"/>
                <a:ea typeface="Calibri"/>
                <a:cs typeface="Calibri"/>
                <a:sym typeface="Calibri"/>
              </a:rPr>
              <a:t>CAPSTONE PROJECT</a:t>
            </a:r>
            <a:endParaRPr sz="1400" b="0" i="0" u="none" strike="noStrike" cap="none">
              <a:solidFill>
                <a:srgbClr val="000000"/>
              </a:solidFill>
              <a:latin typeface="Arial"/>
              <a:ea typeface="Arial"/>
              <a:cs typeface="Arial"/>
              <a:sym typeface="Arial"/>
            </a:endParaRPr>
          </a:p>
        </p:txBody>
      </p:sp>
      <p:pic>
        <p:nvPicPr>
          <p:cNvPr id="129" name="Google Shape;129;p5">
            <a:extLst>
              <a:ext uri="{FF2B5EF4-FFF2-40B4-BE49-F238E27FC236}">
                <a16:creationId xmlns:a16="http://schemas.microsoft.com/office/drawing/2014/main" id="{3AF5569C-8825-AD1E-9581-BA385981CFD9}"/>
              </a:ext>
            </a:extLst>
          </p:cNvPr>
          <p:cNvPicPr preferRelativeResize="0"/>
          <p:nvPr/>
        </p:nvPicPr>
        <p:blipFill rotWithShape="1">
          <a:blip r:embed="rId3">
            <a:alphaModFix/>
          </a:blip>
          <a:srcRect/>
          <a:stretch/>
        </p:blipFill>
        <p:spPr>
          <a:xfrm>
            <a:off x="10206443" y="0"/>
            <a:ext cx="1886945" cy="502031"/>
          </a:xfrm>
          <a:prstGeom prst="rect">
            <a:avLst/>
          </a:prstGeom>
          <a:noFill/>
          <a:ln>
            <a:noFill/>
          </a:ln>
        </p:spPr>
      </p:pic>
      <p:sp>
        <p:nvSpPr>
          <p:cNvPr id="130" name="Google Shape;130;p5">
            <a:extLst>
              <a:ext uri="{FF2B5EF4-FFF2-40B4-BE49-F238E27FC236}">
                <a16:creationId xmlns:a16="http://schemas.microsoft.com/office/drawing/2014/main" id="{CC81DC19-23AE-1E26-B774-C37DEA6321EC}"/>
              </a:ext>
            </a:extLst>
          </p:cNvPr>
          <p:cNvSpPr/>
          <p:nvPr/>
        </p:nvSpPr>
        <p:spPr>
          <a:xfrm>
            <a:off x="-3" y="528340"/>
            <a:ext cx="10067365" cy="161941"/>
          </a:xfrm>
          <a:prstGeom prst="rect">
            <a:avLst/>
          </a:prstGeom>
          <a:solidFill>
            <a:schemeClr val="dk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1" name="Google Shape;131;p5">
            <a:extLst>
              <a:ext uri="{FF2B5EF4-FFF2-40B4-BE49-F238E27FC236}">
                <a16:creationId xmlns:a16="http://schemas.microsoft.com/office/drawing/2014/main" id="{456770CD-02B5-08F6-A2DE-12C1397674AE}"/>
              </a:ext>
            </a:extLst>
          </p:cNvPr>
          <p:cNvSpPr txBox="1"/>
          <p:nvPr/>
        </p:nvSpPr>
        <p:spPr>
          <a:xfrm>
            <a:off x="1138518" y="6472519"/>
            <a:ext cx="760207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1" u="none" strike="noStrike" cap="none" dirty="0">
                <a:solidFill>
                  <a:schemeClr val="dk1"/>
                </a:solidFill>
                <a:latin typeface="Calibri"/>
                <a:ea typeface="Calibri"/>
                <a:cs typeface="Calibri"/>
                <a:sym typeface="Calibri"/>
              </a:rPr>
              <a:t>Disclaimer: This training material belongs to </a:t>
            </a:r>
            <a:r>
              <a:rPr lang="en-US" sz="1800" b="0" i="1" u="none" strike="noStrike" cap="none" dirty="0" err="1">
                <a:solidFill>
                  <a:schemeClr val="dk1"/>
                </a:solidFill>
                <a:latin typeface="Calibri"/>
                <a:ea typeface="Calibri"/>
                <a:cs typeface="Calibri"/>
                <a:sym typeface="Calibri"/>
              </a:rPr>
              <a:t>techcrush</a:t>
            </a:r>
            <a:r>
              <a:rPr lang="en-US" sz="1800" b="0" i="1" u="none" strike="noStrike" cap="none" dirty="0">
                <a:solidFill>
                  <a:schemeClr val="dk1"/>
                </a:solidFill>
                <a:latin typeface="Calibri"/>
                <a:ea typeface="Calibri"/>
                <a:cs typeface="Calibri"/>
                <a:sym typeface="Calibri"/>
              </a:rPr>
              <a:t> and shouldn’t be shared</a:t>
            </a:r>
            <a:endParaRPr sz="1400" b="0" i="0" u="none" strike="noStrike" cap="none" dirty="0">
              <a:solidFill>
                <a:srgbClr val="000000"/>
              </a:solidFill>
              <a:latin typeface="Arial"/>
              <a:ea typeface="Arial"/>
              <a:cs typeface="Arial"/>
              <a:sym typeface="Arial"/>
            </a:endParaRPr>
          </a:p>
        </p:txBody>
      </p:sp>
      <p:pic>
        <p:nvPicPr>
          <p:cNvPr id="132" name="Google Shape;132;p5">
            <a:extLst>
              <a:ext uri="{FF2B5EF4-FFF2-40B4-BE49-F238E27FC236}">
                <a16:creationId xmlns:a16="http://schemas.microsoft.com/office/drawing/2014/main" id="{B55C8FCC-67AA-0447-9123-598B842FA4EA}"/>
              </a:ext>
            </a:extLst>
          </p:cNvPr>
          <p:cNvPicPr preferRelativeResize="0"/>
          <p:nvPr/>
        </p:nvPicPr>
        <p:blipFill rotWithShape="1">
          <a:blip r:embed="rId3">
            <a:alphaModFix amt="26000"/>
          </a:blip>
          <a:srcRect/>
          <a:stretch/>
        </p:blipFill>
        <p:spPr>
          <a:xfrm>
            <a:off x="825004" y="1951993"/>
            <a:ext cx="10541991" cy="2804748"/>
          </a:xfrm>
          <a:prstGeom prst="rect">
            <a:avLst/>
          </a:prstGeom>
          <a:noFill/>
          <a:ln>
            <a:noFill/>
          </a:ln>
          <a:effectLst>
            <a:outerShdw dist="50800" sx="1000" sy="1000" algn="ctr" rotWithShape="0">
              <a:srgbClr val="000000"/>
            </a:outerShdw>
          </a:effectLst>
        </p:spPr>
      </p:pic>
      <p:pic>
        <p:nvPicPr>
          <p:cNvPr id="133" name="Google Shape;133;p5">
            <a:extLst>
              <a:ext uri="{FF2B5EF4-FFF2-40B4-BE49-F238E27FC236}">
                <a16:creationId xmlns:a16="http://schemas.microsoft.com/office/drawing/2014/main" id="{BCDAAA15-B1B7-0AB2-4E51-3B71C8890ED1}"/>
              </a:ext>
            </a:extLst>
          </p:cNvPr>
          <p:cNvPicPr preferRelativeResize="0"/>
          <p:nvPr/>
        </p:nvPicPr>
        <p:blipFill rotWithShape="1">
          <a:blip r:embed="rId4">
            <a:alphaModFix/>
          </a:blip>
          <a:srcRect/>
          <a:stretch/>
        </p:blipFill>
        <p:spPr>
          <a:xfrm>
            <a:off x="8646453" y="1232642"/>
            <a:ext cx="502028" cy="502028"/>
          </a:xfrm>
          <a:prstGeom prst="rect">
            <a:avLst/>
          </a:prstGeom>
          <a:noFill/>
          <a:ln>
            <a:noFill/>
          </a:ln>
        </p:spPr>
      </p:pic>
      <p:sp>
        <p:nvSpPr>
          <p:cNvPr id="134" name="Google Shape;134;p5">
            <a:extLst>
              <a:ext uri="{FF2B5EF4-FFF2-40B4-BE49-F238E27FC236}">
                <a16:creationId xmlns:a16="http://schemas.microsoft.com/office/drawing/2014/main" id="{D5D4424A-7BC7-AC5F-A5B8-BFE19E73BF39}"/>
              </a:ext>
            </a:extLst>
          </p:cNvPr>
          <p:cNvSpPr txBox="1"/>
          <p:nvPr/>
        </p:nvSpPr>
        <p:spPr>
          <a:xfrm>
            <a:off x="51903" y="1026824"/>
            <a:ext cx="11748053" cy="707846"/>
          </a:xfrm>
          <a:prstGeom prst="rect">
            <a:avLst/>
          </a:prstGeom>
          <a:noFill/>
          <a:ln>
            <a:noFill/>
          </a:ln>
        </p:spPr>
        <p:txBody>
          <a:bodyPr spcFirstLastPara="1" wrap="square" lIns="91425" tIns="45700" rIns="91425" bIns="45700" anchor="t" anchorCtr="0">
            <a:spAutoFit/>
          </a:bodyPr>
          <a:lstStyle/>
          <a:p>
            <a:r>
              <a:rPr lang="en-US" sz="4000" b="1" dirty="0"/>
              <a:t>Insider Threat Playbook: </a:t>
            </a:r>
            <a:r>
              <a:rPr lang="en-US" sz="3600" dirty="0"/>
              <a:t>Design Rationale</a:t>
            </a:r>
          </a:p>
        </p:txBody>
      </p:sp>
      <p:sp>
        <p:nvSpPr>
          <p:cNvPr id="3" name="TextBox 2">
            <a:extLst>
              <a:ext uri="{FF2B5EF4-FFF2-40B4-BE49-F238E27FC236}">
                <a16:creationId xmlns:a16="http://schemas.microsoft.com/office/drawing/2014/main" id="{CD8E504D-6057-BB36-AF34-C05CDA6D6497}"/>
              </a:ext>
            </a:extLst>
          </p:cNvPr>
          <p:cNvSpPr txBox="1"/>
          <p:nvPr/>
        </p:nvSpPr>
        <p:spPr>
          <a:xfrm>
            <a:off x="669175" y="2217809"/>
            <a:ext cx="10853648" cy="3877985"/>
          </a:xfrm>
          <a:prstGeom prst="rect">
            <a:avLst/>
          </a:prstGeom>
          <a:noFill/>
        </p:spPr>
        <p:txBody>
          <a:bodyPr wrap="square">
            <a:spAutoFit/>
          </a:bodyPr>
          <a:lstStyle/>
          <a:p>
            <a:r>
              <a:rPr lang="en-US" sz="2800" b="1" dirty="0"/>
              <a:t>Scope: </a:t>
            </a:r>
            <a:r>
              <a:rPr lang="en-US" sz="2800" dirty="0"/>
              <a:t>Unauthorized Data Download Outside Business Hours</a:t>
            </a:r>
          </a:p>
          <a:p>
            <a:r>
              <a:rPr lang="en-US" dirty="0"/>
              <a:t> </a:t>
            </a:r>
          </a:p>
          <a:p>
            <a:r>
              <a:rPr lang="en-US" sz="2800" b="1" dirty="0"/>
              <a:t>Phases:</a:t>
            </a:r>
            <a:r>
              <a:rPr lang="en-US" sz="2800" dirty="0"/>
              <a:t> Detection (UEBA, DLP alerts) → Containment (suspend account, revoke access) → Eradication → Recovery → Review.</a:t>
            </a:r>
          </a:p>
          <a:p>
            <a:pPr lvl="0" eaLnBrk="0" fontAlgn="base" hangingPunct="0">
              <a:spcBef>
                <a:spcPct val="0"/>
              </a:spcBef>
              <a:spcAft>
                <a:spcPct val="0"/>
              </a:spcAft>
              <a:buClrTx/>
              <a:buFontTx/>
              <a:buChar char="•"/>
            </a:pPr>
            <a:r>
              <a:rPr lang="en-US" sz="2800" b="1" dirty="0">
                <a:solidFill>
                  <a:schemeClr val="tx1"/>
                </a:solidFill>
                <a:latin typeface="Arial" panose="020B0604020202020204" pitchFamily="34" charset="0"/>
              </a:rPr>
              <a:t>Clear </a:t>
            </a:r>
            <a:r>
              <a:rPr lang="en-US" altLang="en-US" sz="2800" b="1" dirty="0">
                <a:solidFill>
                  <a:schemeClr val="tx1"/>
                </a:solidFill>
                <a:latin typeface="Arial" panose="020B0604020202020204" pitchFamily="34" charset="0"/>
              </a:rPr>
              <a:t>Roles </a:t>
            </a:r>
            <a:r>
              <a:rPr lang="en-US" sz="2800" b="1" dirty="0">
                <a:solidFill>
                  <a:schemeClr val="tx1"/>
                </a:solidFill>
                <a:latin typeface="Arial" panose="020B0604020202020204" pitchFamily="34" charset="0"/>
              </a:rPr>
              <a:t>Separation</a:t>
            </a:r>
            <a:r>
              <a:rPr lang="en-US" altLang="en-US" sz="2800" b="1" dirty="0">
                <a:solidFill>
                  <a:schemeClr val="tx1"/>
                </a:solidFill>
                <a:latin typeface="Arial" panose="020B0604020202020204" pitchFamily="34" charset="0"/>
              </a:rPr>
              <a:t>:</a:t>
            </a:r>
            <a:r>
              <a:rPr lang="en-US" altLang="en-US" sz="2800" dirty="0">
                <a:solidFill>
                  <a:schemeClr val="tx1"/>
                </a:solidFill>
                <a:latin typeface="Arial" panose="020B0604020202020204" pitchFamily="34" charset="0"/>
              </a:rPr>
              <a:t> </a:t>
            </a:r>
            <a:r>
              <a:rPr lang="en-US" sz="2800" dirty="0"/>
              <a:t>CISO, SOC, HR, Legal, Communications.</a:t>
            </a:r>
          </a:p>
          <a:p>
            <a:pPr lvl="0" eaLnBrk="0" fontAlgn="base" hangingPunct="0">
              <a:spcBef>
                <a:spcPct val="0"/>
              </a:spcBef>
              <a:spcAft>
                <a:spcPct val="0"/>
              </a:spcAft>
              <a:buClrTx/>
              <a:buFontTx/>
              <a:buChar char="•"/>
            </a:pPr>
            <a:r>
              <a:rPr lang="en-US" sz="2800" b="1" dirty="0"/>
              <a:t>Focus:</a:t>
            </a:r>
            <a:r>
              <a:rPr lang="en-US" sz="2800" dirty="0"/>
              <a:t> Evidence handling and fair HR coordination.</a:t>
            </a:r>
            <a:endParaRPr lang="en-US" altLang="en-US" sz="2800" dirty="0">
              <a:solidFill>
                <a:schemeClr val="tx1"/>
              </a:solidFill>
              <a:latin typeface="Arial" panose="020B0604020202020204" pitchFamily="34" charset="0"/>
            </a:endParaRPr>
          </a:p>
          <a:p>
            <a:endParaRPr lang="en-US" sz="3200" dirty="0"/>
          </a:p>
          <a:p>
            <a:endParaRPr lang="en-US" sz="3200" b="1" dirty="0"/>
          </a:p>
        </p:txBody>
      </p:sp>
    </p:spTree>
    <p:extLst>
      <p:ext uri="{BB962C8B-B14F-4D97-AF65-F5344CB8AC3E}">
        <p14:creationId xmlns:p14="http://schemas.microsoft.com/office/powerpoint/2010/main" val="10553760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7">
          <a:extLst>
            <a:ext uri="{FF2B5EF4-FFF2-40B4-BE49-F238E27FC236}">
              <a16:creationId xmlns:a16="http://schemas.microsoft.com/office/drawing/2014/main" id="{3327A44C-7973-5C89-544A-95FE7FC85715}"/>
            </a:ext>
          </a:extLst>
        </p:cNvPr>
        <p:cNvGrpSpPr/>
        <p:nvPr/>
      </p:nvGrpSpPr>
      <p:grpSpPr>
        <a:xfrm>
          <a:off x="0" y="0"/>
          <a:ext cx="0" cy="0"/>
          <a:chOff x="0" y="0"/>
          <a:chExt cx="0" cy="0"/>
        </a:xfrm>
      </p:grpSpPr>
      <p:sp>
        <p:nvSpPr>
          <p:cNvPr id="128" name="Google Shape;128;p5">
            <a:extLst>
              <a:ext uri="{FF2B5EF4-FFF2-40B4-BE49-F238E27FC236}">
                <a16:creationId xmlns:a16="http://schemas.microsoft.com/office/drawing/2014/main" id="{D58AF074-7A3D-91D5-99A5-B80AE179C5B6}"/>
              </a:ext>
            </a:extLst>
          </p:cNvPr>
          <p:cNvSpPr/>
          <p:nvPr/>
        </p:nvSpPr>
        <p:spPr>
          <a:xfrm>
            <a:off x="-39756" y="-25341"/>
            <a:ext cx="10067365" cy="488589"/>
          </a:xfrm>
          <a:prstGeom prst="rect">
            <a:avLst/>
          </a:prstGeom>
          <a:solidFill>
            <a:srgbClr val="FE4A5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a:solidFill>
                  <a:schemeClr val="lt1"/>
                </a:solidFill>
                <a:latin typeface="Calibri"/>
                <a:ea typeface="Calibri"/>
                <a:cs typeface="Calibri"/>
                <a:sym typeface="Calibri"/>
              </a:rPr>
              <a:t>CAPSTONE PROJECT</a:t>
            </a:r>
            <a:endParaRPr sz="1400" b="0" i="0" u="none" strike="noStrike" cap="none">
              <a:solidFill>
                <a:srgbClr val="000000"/>
              </a:solidFill>
              <a:latin typeface="Arial"/>
              <a:ea typeface="Arial"/>
              <a:cs typeface="Arial"/>
              <a:sym typeface="Arial"/>
            </a:endParaRPr>
          </a:p>
        </p:txBody>
      </p:sp>
      <p:pic>
        <p:nvPicPr>
          <p:cNvPr id="129" name="Google Shape;129;p5">
            <a:extLst>
              <a:ext uri="{FF2B5EF4-FFF2-40B4-BE49-F238E27FC236}">
                <a16:creationId xmlns:a16="http://schemas.microsoft.com/office/drawing/2014/main" id="{BBF37043-6532-2ECA-3367-5C4963ACDC17}"/>
              </a:ext>
            </a:extLst>
          </p:cNvPr>
          <p:cNvPicPr preferRelativeResize="0"/>
          <p:nvPr/>
        </p:nvPicPr>
        <p:blipFill rotWithShape="1">
          <a:blip r:embed="rId3">
            <a:alphaModFix/>
          </a:blip>
          <a:srcRect/>
          <a:stretch/>
        </p:blipFill>
        <p:spPr>
          <a:xfrm>
            <a:off x="10206443" y="0"/>
            <a:ext cx="1886945" cy="502031"/>
          </a:xfrm>
          <a:prstGeom prst="rect">
            <a:avLst/>
          </a:prstGeom>
          <a:noFill/>
          <a:ln>
            <a:noFill/>
          </a:ln>
        </p:spPr>
      </p:pic>
      <p:sp>
        <p:nvSpPr>
          <p:cNvPr id="130" name="Google Shape;130;p5">
            <a:extLst>
              <a:ext uri="{FF2B5EF4-FFF2-40B4-BE49-F238E27FC236}">
                <a16:creationId xmlns:a16="http://schemas.microsoft.com/office/drawing/2014/main" id="{379AEEEE-E7EB-D34D-9991-D5DD23772736}"/>
              </a:ext>
            </a:extLst>
          </p:cNvPr>
          <p:cNvSpPr/>
          <p:nvPr/>
        </p:nvSpPr>
        <p:spPr>
          <a:xfrm>
            <a:off x="-3" y="528340"/>
            <a:ext cx="10067365" cy="161941"/>
          </a:xfrm>
          <a:prstGeom prst="rect">
            <a:avLst/>
          </a:prstGeom>
          <a:solidFill>
            <a:schemeClr val="dk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1" name="Google Shape;131;p5">
            <a:extLst>
              <a:ext uri="{FF2B5EF4-FFF2-40B4-BE49-F238E27FC236}">
                <a16:creationId xmlns:a16="http://schemas.microsoft.com/office/drawing/2014/main" id="{528C2E46-ACF2-6801-F453-AB6103754CB3}"/>
              </a:ext>
            </a:extLst>
          </p:cNvPr>
          <p:cNvSpPr txBox="1"/>
          <p:nvPr/>
        </p:nvSpPr>
        <p:spPr>
          <a:xfrm>
            <a:off x="1138518" y="6472519"/>
            <a:ext cx="760207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1" u="none" strike="noStrike" cap="none" dirty="0">
                <a:solidFill>
                  <a:schemeClr val="dk1"/>
                </a:solidFill>
                <a:latin typeface="Calibri"/>
                <a:ea typeface="Calibri"/>
                <a:cs typeface="Calibri"/>
                <a:sym typeface="Calibri"/>
              </a:rPr>
              <a:t>Disclaimer: This training material belongs to </a:t>
            </a:r>
            <a:r>
              <a:rPr lang="en-US" sz="1800" b="0" i="1" u="none" strike="noStrike" cap="none" dirty="0" err="1">
                <a:solidFill>
                  <a:schemeClr val="dk1"/>
                </a:solidFill>
                <a:latin typeface="Calibri"/>
                <a:ea typeface="Calibri"/>
                <a:cs typeface="Calibri"/>
                <a:sym typeface="Calibri"/>
              </a:rPr>
              <a:t>techcrush</a:t>
            </a:r>
            <a:r>
              <a:rPr lang="en-US" sz="1800" b="0" i="1" u="none" strike="noStrike" cap="none" dirty="0">
                <a:solidFill>
                  <a:schemeClr val="dk1"/>
                </a:solidFill>
                <a:latin typeface="Calibri"/>
                <a:ea typeface="Calibri"/>
                <a:cs typeface="Calibri"/>
                <a:sym typeface="Calibri"/>
              </a:rPr>
              <a:t> and shouldn’t be shared</a:t>
            </a:r>
            <a:endParaRPr sz="1400" b="0" i="0" u="none" strike="noStrike" cap="none" dirty="0">
              <a:solidFill>
                <a:srgbClr val="000000"/>
              </a:solidFill>
              <a:latin typeface="Arial"/>
              <a:ea typeface="Arial"/>
              <a:cs typeface="Arial"/>
              <a:sym typeface="Arial"/>
            </a:endParaRPr>
          </a:p>
        </p:txBody>
      </p:sp>
      <p:pic>
        <p:nvPicPr>
          <p:cNvPr id="132" name="Google Shape;132;p5">
            <a:extLst>
              <a:ext uri="{FF2B5EF4-FFF2-40B4-BE49-F238E27FC236}">
                <a16:creationId xmlns:a16="http://schemas.microsoft.com/office/drawing/2014/main" id="{A5E7AB77-68AA-FDBC-23A6-D034DFC62ECF}"/>
              </a:ext>
            </a:extLst>
          </p:cNvPr>
          <p:cNvPicPr preferRelativeResize="0"/>
          <p:nvPr/>
        </p:nvPicPr>
        <p:blipFill rotWithShape="1">
          <a:blip r:embed="rId3">
            <a:alphaModFix amt="26000"/>
          </a:blip>
          <a:srcRect/>
          <a:stretch/>
        </p:blipFill>
        <p:spPr>
          <a:xfrm>
            <a:off x="825004" y="1951993"/>
            <a:ext cx="10541991" cy="2804748"/>
          </a:xfrm>
          <a:prstGeom prst="rect">
            <a:avLst/>
          </a:prstGeom>
          <a:noFill/>
          <a:ln>
            <a:noFill/>
          </a:ln>
          <a:effectLst>
            <a:outerShdw dist="50800" sx="1000" sy="1000" algn="ctr" rotWithShape="0">
              <a:srgbClr val="000000"/>
            </a:outerShdw>
          </a:effectLst>
        </p:spPr>
      </p:pic>
      <p:pic>
        <p:nvPicPr>
          <p:cNvPr id="133" name="Google Shape;133;p5">
            <a:extLst>
              <a:ext uri="{FF2B5EF4-FFF2-40B4-BE49-F238E27FC236}">
                <a16:creationId xmlns:a16="http://schemas.microsoft.com/office/drawing/2014/main" id="{D12A8DB0-496A-32CC-5654-B55CCD6AED02}"/>
              </a:ext>
            </a:extLst>
          </p:cNvPr>
          <p:cNvPicPr preferRelativeResize="0"/>
          <p:nvPr/>
        </p:nvPicPr>
        <p:blipFill rotWithShape="1">
          <a:blip r:embed="rId4">
            <a:alphaModFix/>
          </a:blip>
          <a:srcRect/>
          <a:stretch/>
        </p:blipFill>
        <p:spPr>
          <a:xfrm>
            <a:off x="8646453" y="1232642"/>
            <a:ext cx="502028" cy="502028"/>
          </a:xfrm>
          <a:prstGeom prst="rect">
            <a:avLst/>
          </a:prstGeom>
          <a:noFill/>
          <a:ln>
            <a:noFill/>
          </a:ln>
        </p:spPr>
      </p:pic>
      <p:pic>
        <p:nvPicPr>
          <p:cNvPr id="4" name="Picture 3" descr="A diagram of a threat response playbook&#10;&#10;AI-generated content may be incorrect.">
            <a:extLst>
              <a:ext uri="{FF2B5EF4-FFF2-40B4-BE49-F238E27FC236}">
                <a16:creationId xmlns:a16="http://schemas.microsoft.com/office/drawing/2014/main" id="{1E029EB2-2D9C-F539-83CA-4061588B95B0}"/>
              </a:ext>
            </a:extLst>
          </p:cNvPr>
          <p:cNvPicPr>
            <a:picLocks noChangeAspect="1"/>
          </p:cNvPicPr>
          <p:nvPr/>
        </p:nvPicPr>
        <p:blipFill>
          <a:blip r:embed="rId5"/>
          <a:stretch>
            <a:fillRect/>
          </a:stretch>
        </p:blipFill>
        <p:spPr>
          <a:xfrm>
            <a:off x="952500" y="978568"/>
            <a:ext cx="10287000" cy="5493951"/>
          </a:xfrm>
          <a:prstGeom prst="rect">
            <a:avLst/>
          </a:prstGeom>
        </p:spPr>
      </p:pic>
    </p:spTree>
    <p:extLst>
      <p:ext uri="{BB962C8B-B14F-4D97-AF65-F5344CB8AC3E}">
        <p14:creationId xmlns:p14="http://schemas.microsoft.com/office/powerpoint/2010/main" val="20264803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7">
          <a:extLst>
            <a:ext uri="{FF2B5EF4-FFF2-40B4-BE49-F238E27FC236}">
              <a16:creationId xmlns:a16="http://schemas.microsoft.com/office/drawing/2014/main" id="{BC555FCD-AD29-582B-C763-B47C7C2578E3}"/>
            </a:ext>
          </a:extLst>
        </p:cNvPr>
        <p:cNvGrpSpPr/>
        <p:nvPr/>
      </p:nvGrpSpPr>
      <p:grpSpPr>
        <a:xfrm>
          <a:off x="0" y="0"/>
          <a:ext cx="0" cy="0"/>
          <a:chOff x="0" y="0"/>
          <a:chExt cx="0" cy="0"/>
        </a:xfrm>
      </p:grpSpPr>
      <p:sp>
        <p:nvSpPr>
          <p:cNvPr id="128" name="Google Shape;128;p5">
            <a:extLst>
              <a:ext uri="{FF2B5EF4-FFF2-40B4-BE49-F238E27FC236}">
                <a16:creationId xmlns:a16="http://schemas.microsoft.com/office/drawing/2014/main" id="{76347798-9207-A481-FBB5-9FE930B18672}"/>
              </a:ext>
            </a:extLst>
          </p:cNvPr>
          <p:cNvSpPr/>
          <p:nvPr/>
        </p:nvSpPr>
        <p:spPr>
          <a:xfrm>
            <a:off x="-39756" y="-25341"/>
            <a:ext cx="10067365" cy="488589"/>
          </a:xfrm>
          <a:prstGeom prst="rect">
            <a:avLst/>
          </a:prstGeom>
          <a:solidFill>
            <a:srgbClr val="FE4A5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a:solidFill>
                  <a:schemeClr val="lt1"/>
                </a:solidFill>
                <a:latin typeface="Calibri"/>
                <a:ea typeface="Calibri"/>
                <a:cs typeface="Calibri"/>
                <a:sym typeface="Calibri"/>
              </a:rPr>
              <a:t>CAPSTONE PROJECT</a:t>
            </a:r>
            <a:endParaRPr sz="1400" b="0" i="0" u="none" strike="noStrike" cap="none">
              <a:solidFill>
                <a:srgbClr val="000000"/>
              </a:solidFill>
              <a:latin typeface="Arial"/>
              <a:ea typeface="Arial"/>
              <a:cs typeface="Arial"/>
              <a:sym typeface="Arial"/>
            </a:endParaRPr>
          </a:p>
        </p:txBody>
      </p:sp>
      <p:pic>
        <p:nvPicPr>
          <p:cNvPr id="129" name="Google Shape;129;p5">
            <a:extLst>
              <a:ext uri="{FF2B5EF4-FFF2-40B4-BE49-F238E27FC236}">
                <a16:creationId xmlns:a16="http://schemas.microsoft.com/office/drawing/2014/main" id="{5AAAFA51-9E0C-89D9-790E-D43CC6599861}"/>
              </a:ext>
            </a:extLst>
          </p:cNvPr>
          <p:cNvPicPr preferRelativeResize="0"/>
          <p:nvPr/>
        </p:nvPicPr>
        <p:blipFill rotWithShape="1">
          <a:blip r:embed="rId3">
            <a:alphaModFix/>
          </a:blip>
          <a:srcRect/>
          <a:stretch/>
        </p:blipFill>
        <p:spPr>
          <a:xfrm>
            <a:off x="10206443" y="0"/>
            <a:ext cx="1886945" cy="502031"/>
          </a:xfrm>
          <a:prstGeom prst="rect">
            <a:avLst/>
          </a:prstGeom>
          <a:noFill/>
          <a:ln>
            <a:noFill/>
          </a:ln>
        </p:spPr>
      </p:pic>
      <p:sp>
        <p:nvSpPr>
          <p:cNvPr id="130" name="Google Shape;130;p5">
            <a:extLst>
              <a:ext uri="{FF2B5EF4-FFF2-40B4-BE49-F238E27FC236}">
                <a16:creationId xmlns:a16="http://schemas.microsoft.com/office/drawing/2014/main" id="{B743CF53-78AE-D414-0F40-A54E9F289766}"/>
              </a:ext>
            </a:extLst>
          </p:cNvPr>
          <p:cNvSpPr/>
          <p:nvPr/>
        </p:nvSpPr>
        <p:spPr>
          <a:xfrm>
            <a:off x="-3" y="528340"/>
            <a:ext cx="10067365" cy="161941"/>
          </a:xfrm>
          <a:prstGeom prst="rect">
            <a:avLst/>
          </a:prstGeom>
          <a:solidFill>
            <a:schemeClr val="dk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1" name="Google Shape;131;p5">
            <a:extLst>
              <a:ext uri="{FF2B5EF4-FFF2-40B4-BE49-F238E27FC236}">
                <a16:creationId xmlns:a16="http://schemas.microsoft.com/office/drawing/2014/main" id="{235DD242-3763-018C-C540-7BF160484EB5}"/>
              </a:ext>
            </a:extLst>
          </p:cNvPr>
          <p:cNvSpPr txBox="1"/>
          <p:nvPr/>
        </p:nvSpPr>
        <p:spPr>
          <a:xfrm>
            <a:off x="1138518" y="6472519"/>
            <a:ext cx="760207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1" u="none" strike="noStrike" cap="none" dirty="0">
                <a:solidFill>
                  <a:schemeClr val="dk1"/>
                </a:solidFill>
                <a:latin typeface="Calibri"/>
                <a:ea typeface="Calibri"/>
                <a:cs typeface="Calibri"/>
                <a:sym typeface="Calibri"/>
              </a:rPr>
              <a:t>Disclaimer: This training material belongs to </a:t>
            </a:r>
            <a:r>
              <a:rPr lang="en-US" sz="1800" b="0" i="1" u="none" strike="noStrike" cap="none" dirty="0" err="1">
                <a:solidFill>
                  <a:schemeClr val="dk1"/>
                </a:solidFill>
                <a:latin typeface="Calibri"/>
                <a:ea typeface="Calibri"/>
                <a:cs typeface="Calibri"/>
                <a:sym typeface="Calibri"/>
              </a:rPr>
              <a:t>techcrush</a:t>
            </a:r>
            <a:r>
              <a:rPr lang="en-US" sz="1800" b="0" i="1" u="none" strike="noStrike" cap="none" dirty="0">
                <a:solidFill>
                  <a:schemeClr val="dk1"/>
                </a:solidFill>
                <a:latin typeface="Calibri"/>
                <a:ea typeface="Calibri"/>
                <a:cs typeface="Calibri"/>
                <a:sym typeface="Calibri"/>
              </a:rPr>
              <a:t> and shouldn’t be shared</a:t>
            </a:r>
            <a:endParaRPr sz="1400" b="0" i="0" u="none" strike="noStrike" cap="none" dirty="0">
              <a:solidFill>
                <a:srgbClr val="000000"/>
              </a:solidFill>
              <a:latin typeface="Arial"/>
              <a:ea typeface="Arial"/>
              <a:cs typeface="Arial"/>
              <a:sym typeface="Arial"/>
            </a:endParaRPr>
          </a:p>
        </p:txBody>
      </p:sp>
      <p:pic>
        <p:nvPicPr>
          <p:cNvPr id="132" name="Google Shape;132;p5">
            <a:extLst>
              <a:ext uri="{FF2B5EF4-FFF2-40B4-BE49-F238E27FC236}">
                <a16:creationId xmlns:a16="http://schemas.microsoft.com/office/drawing/2014/main" id="{B59EC1DF-263B-C89D-F139-7AD91EF0E929}"/>
              </a:ext>
            </a:extLst>
          </p:cNvPr>
          <p:cNvPicPr preferRelativeResize="0"/>
          <p:nvPr/>
        </p:nvPicPr>
        <p:blipFill rotWithShape="1">
          <a:blip r:embed="rId3">
            <a:alphaModFix amt="26000"/>
          </a:blip>
          <a:srcRect/>
          <a:stretch/>
        </p:blipFill>
        <p:spPr>
          <a:xfrm>
            <a:off x="825004" y="1951993"/>
            <a:ext cx="10541991" cy="2804748"/>
          </a:xfrm>
          <a:prstGeom prst="rect">
            <a:avLst/>
          </a:prstGeom>
          <a:noFill/>
          <a:ln>
            <a:noFill/>
          </a:ln>
          <a:effectLst>
            <a:outerShdw dist="50800" sx="1000" sy="1000" algn="ctr" rotWithShape="0">
              <a:srgbClr val="000000"/>
            </a:outerShdw>
          </a:effectLst>
        </p:spPr>
      </p:pic>
      <p:pic>
        <p:nvPicPr>
          <p:cNvPr id="133" name="Google Shape;133;p5">
            <a:extLst>
              <a:ext uri="{FF2B5EF4-FFF2-40B4-BE49-F238E27FC236}">
                <a16:creationId xmlns:a16="http://schemas.microsoft.com/office/drawing/2014/main" id="{2A820187-D608-C323-B578-B8CAC713FCD7}"/>
              </a:ext>
            </a:extLst>
          </p:cNvPr>
          <p:cNvPicPr preferRelativeResize="0"/>
          <p:nvPr/>
        </p:nvPicPr>
        <p:blipFill rotWithShape="1">
          <a:blip r:embed="rId4">
            <a:alphaModFix/>
          </a:blip>
          <a:srcRect/>
          <a:stretch/>
        </p:blipFill>
        <p:spPr>
          <a:xfrm>
            <a:off x="8646453" y="1232642"/>
            <a:ext cx="502028" cy="502028"/>
          </a:xfrm>
          <a:prstGeom prst="rect">
            <a:avLst/>
          </a:prstGeom>
          <a:noFill/>
          <a:ln>
            <a:noFill/>
          </a:ln>
        </p:spPr>
      </p:pic>
      <p:sp>
        <p:nvSpPr>
          <p:cNvPr id="134" name="Google Shape;134;p5">
            <a:extLst>
              <a:ext uri="{FF2B5EF4-FFF2-40B4-BE49-F238E27FC236}">
                <a16:creationId xmlns:a16="http://schemas.microsoft.com/office/drawing/2014/main" id="{823413A3-59B5-283C-907A-7DAE48B2B40A}"/>
              </a:ext>
            </a:extLst>
          </p:cNvPr>
          <p:cNvSpPr txBox="1"/>
          <p:nvPr/>
        </p:nvSpPr>
        <p:spPr>
          <a:xfrm>
            <a:off x="221972" y="1005609"/>
            <a:ext cx="11748053" cy="707846"/>
          </a:xfrm>
          <a:prstGeom prst="rect">
            <a:avLst/>
          </a:prstGeom>
          <a:noFill/>
          <a:ln>
            <a:noFill/>
          </a:ln>
        </p:spPr>
        <p:txBody>
          <a:bodyPr spcFirstLastPara="1" wrap="square" lIns="91425" tIns="45700" rIns="91425" bIns="45700" anchor="t" anchorCtr="0">
            <a:spAutoFit/>
          </a:bodyPr>
          <a:lstStyle/>
          <a:p>
            <a:r>
              <a:rPr lang="en-US" sz="4000" b="1" dirty="0"/>
              <a:t>Insider Threat Playbook: </a:t>
            </a:r>
            <a:r>
              <a:rPr lang="en-US" sz="3600" dirty="0"/>
              <a:t>Benefits</a:t>
            </a:r>
          </a:p>
        </p:txBody>
      </p:sp>
      <p:sp>
        <p:nvSpPr>
          <p:cNvPr id="3" name="TextBox 2">
            <a:extLst>
              <a:ext uri="{FF2B5EF4-FFF2-40B4-BE49-F238E27FC236}">
                <a16:creationId xmlns:a16="http://schemas.microsoft.com/office/drawing/2014/main" id="{F79FE2C7-ECD7-58EE-0F2A-C0CAC295E0DE}"/>
              </a:ext>
            </a:extLst>
          </p:cNvPr>
          <p:cNvSpPr txBox="1"/>
          <p:nvPr/>
        </p:nvSpPr>
        <p:spPr>
          <a:xfrm>
            <a:off x="669175" y="2119371"/>
            <a:ext cx="10853648" cy="2923877"/>
          </a:xfrm>
          <a:prstGeom prst="rect">
            <a:avLst/>
          </a:prstGeom>
          <a:noFill/>
        </p:spPr>
        <p:txBody>
          <a:bodyPr wrap="square">
            <a:spAutoFit/>
          </a:bodyPr>
          <a:lstStyle/>
          <a:p>
            <a:pPr lvl="0" eaLnBrk="0" fontAlgn="base" hangingPunct="0">
              <a:spcBef>
                <a:spcPct val="0"/>
              </a:spcBef>
              <a:spcAft>
                <a:spcPct val="0"/>
              </a:spcAft>
              <a:buClrTx/>
              <a:buFontTx/>
              <a:buChar char="•"/>
            </a:pPr>
            <a:r>
              <a:rPr lang="en-US" altLang="en-US" sz="2800" dirty="0">
                <a:solidFill>
                  <a:schemeClr val="tx1"/>
                </a:solidFill>
                <a:latin typeface="Arial" panose="020B0604020202020204" pitchFamily="34" charset="0"/>
              </a:rPr>
              <a:t>Reduces insider risk through monitoring and behavioral analytics.</a:t>
            </a:r>
          </a:p>
          <a:p>
            <a:pPr lvl="0" eaLnBrk="0" fontAlgn="base" hangingPunct="0">
              <a:spcBef>
                <a:spcPct val="0"/>
              </a:spcBef>
              <a:spcAft>
                <a:spcPct val="0"/>
              </a:spcAft>
              <a:buClrTx/>
              <a:buFontTx/>
              <a:buChar char="•"/>
            </a:pPr>
            <a:r>
              <a:rPr lang="en-US" altLang="en-US" sz="2800" dirty="0">
                <a:solidFill>
                  <a:schemeClr val="tx1"/>
                </a:solidFill>
                <a:latin typeface="Arial" panose="020B0604020202020204" pitchFamily="34" charset="0"/>
              </a:rPr>
              <a:t>Improves proper chain of custody.</a:t>
            </a:r>
          </a:p>
          <a:p>
            <a:pPr lvl="0" eaLnBrk="0" fontAlgn="base" hangingPunct="0">
              <a:spcBef>
                <a:spcPct val="0"/>
              </a:spcBef>
              <a:spcAft>
                <a:spcPct val="0"/>
              </a:spcAft>
              <a:buClrTx/>
              <a:buFontTx/>
              <a:buChar char="•"/>
            </a:pPr>
            <a:r>
              <a:rPr lang="en-US" altLang="en-US" sz="2800" dirty="0">
                <a:solidFill>
                  <a:schemeClr val="tx1"/>
                </a:solidFill>
                <a:latin typeface="Arial" panose="020B0604020202020204" pitchFamily="34" charset="0"/>
              </a:rPr>
              <a:t>Enhances collaboration between HR, Legal, and IT.</a:t>
            </a:r>
          </a:p>
          <a:p>
            <a:pPr lvl="0" eaLnBrk="0" fontAlgn="base" hangingPunct="0">
              <a:spcBef>
                <a:spcPct val="0"/>
              </a:spcBef>
              <a:spcAft>
                <a:spcPct val="0"/>
              </a:spcAft>
              <a:buClrTx/>
              <a:buFontTx/>
              <a:buChar char="•"/>
            </a:pPr>
            <a:r>
              <a:rPr lang="en-US" altLang="en-US" sz="2800" dirty="0">
                <a:solidFill>
                  <a:schemeClr val="tx1"/>
                </a:solidFill>
                <a:latin typeface="Arial" panose="020B0604020202020204" pitchFamily="34" charset="0"/>
              </a:rPr>
              <a:t>Promotes policy reform and improves insider awareness.</a:t>
            </a:r>
          </a:p>
          <a:p>
            <a:pPr lvl="0" eaLnBrk="0" fontAlgn="base" hangingPunct="0">
              <a:spcBef>
                <a:spcPct val="0"/>
              </a:spcBef>
              <a:spcAft>
                <a:spcPct val="0"/>
              </a:spcAft>
              <a:buClrTx/>
            </a:pPr>
            <a:endParaRPr lang="en-US" altLang="en-US" sz="2000" b="1" i="1" dirty="0">
              <a:solidFill>
                <a:schemeClr val="tx1"/>
              </a:solidFill>
              <a:latin typeface="Arial" panose="020B0604020202020204" pitchFamily="34" charset="0"/>
            </a:endParaRPr>
          </a:p>
          <a:p>
            <a:pPr lvl="0" eaLnBrk="0" fontAlgn="base" hangingPunct="0">
              <a:spcBef>
                <a:spcPct val="0"/>
              </a:spcBef>
              <a:spcAft>
                <a:spcPct val="0"/>
              </a:spcAft>
              <a:buClrTx/>
            </a:pPr>
            <a:r>
              <a:rPr lang="en-US" altLang="en-US" sz="2000" b="1" i="1" dirty="0">
                <a:solidFill>
                  <a:schemeClr val="tx1"/>
                </a:solidFill>
                <a:latin typeface="Arial" panose="020B0604020202020204" pitchFamily="34" charset="0"/>
              </a:rPr>
              <a:t>Reference:</a:t>
            </a:r>
            <a:r>
              <a:rPr lang="en-US" altLang="en-US" sz="2000" i="1" dirty="0">
                <a:solidFill>
                  <a:schemeClr val="tx1"/>
                </a:solidFill>
                <a:latin typeface="Arial" panose="020B0604020202020204" pitchFamily="34" charset="0"/>
              </a:rPr>
              <a:t> 1.2 IR Insider Threat full doc on google drive</a:t>
            </a:r>
          </a:p>
          <a:p>
            <a:endParaRPr lang="en-US" sz="3200" b="1" dirty="0"/>
          </a:p>
        </p:txBody>
      </p:sp>
    </p:spTree>
    <p:extLst>
      <p:ext uri="{BB962C8B-B14F-4D97-AF65-F5344CB8AC3E}">
        <p14:creationId xmlns:p14="http://schemas.microsoft.com/office/powerpoint/2010/main" val="19541684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27">
          <a:extLst>
            <a:ext uri="{FF2B5EF4-FFF2-40B4-BE49-F238E27FC236}">
              <a16:creationId xmlns:a16="http://schemas.microsoft.com/office/drawing/2014/main" id="{F9830361-BC96-CB7C-C78F-57A4C47219FC}"/>
            </a:ext>
          </a:extLst>
        </p:cNvPr>
        <p:cNvGrpSpPr/>
        <p:nvPr/>
      </p:nvGrpSpPr>
      <p:grpSpPr>
        <a:xfrm>
          <a:off x="0" y="0"/>
          <a:ext cx="0" cy="0"/>
          <a:chOff x="0" y="0"/>
          <a:chExt cx="0" cy="0"/>
        </a:xfrm>
      </p:grpSpPr>
      <p:sp>
        <p:nvSpPr>
          <p:cNvPr id="128" name="Google Shape;128;p5">
            <a:extLst>
              <a:ext uri="{FF2B5EF4-FFF2-40B4-BE49-F238E27FC236}">
                <a16:creationId xmlns:a16="http://schemas.microsoft.com/office/drawing/2014/main" id="{B37AA1AD-F52A-AC59-612D-1582337FE196}"/>
              </a:ext>
            </a:extLst>
          </p:cNvPr>
          <p:cNvSpPr/>
          <p:nvPr/>
        </p:nvSpPr>
        <p:spPr>
          <a:xfrm>
            <a:off x="-39756" y="-25341"/>
            <a:ext cx="10067365" cy="488589"/>
          </a:xfrm>
          <a:prstGeom prst="rect">
            <a:avLst/>
          </a:prstGeom>
          <a:solidFill>
            <a:srgbClr val="FE4A5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a:solidFill>
                  <a:schemeClr val="lt1"/>
                </a:solidFill>
                <a:latin typeface="Calibri"/>
                <a:ea typeface="Calibri"/>
                <a:cs typeface="Calibri"/>
                <a:sym typeface="Calibri"/>
              </a:rPr>
              <a:t>CAPSTONE PROJECT</a:t>
            </a:r>
            <a:endParaRPr sz="1400" b="0" i="0" u="none" strike="noStrike" cap="none">
              <a:solidFill>
                <a:srgbClr val="000000"/>
              </a:solidFill>
              <a:latin typeface="Arial"/>
              <a:ea typeface="Arial"/>
              <a:cs typeface="Arial"/>
              <a:sym typeface="Arial"/>
            </a:endParaRPr>
          </a:p>
        </p:txBody>
      </p:sp>
      <p:pic>
        <p:nvPicPr>
          <p:cNvPr id="129" name="Google Shape;129;p5">
            <a:extLst>
              <a:ext uri="{FF2B5EF4-FFF2-40B4-BE49-F238E27FC236}">
                <a16:creationId xmlns:a16="http://schemas.microsoft.com/office/drawing/2014/main" id="{EB4A860C-BDAA-966E-5291-88775176569D}"/>
              </a:ext>
            </a:extLst>
          </p:cNvPr>
          <p:cNvPicPr preferRelativeResize="0"/>
          <p:nvPr/>
        </p:nvPicPr>
        <p:blipFill rotWithShape="1">
          <a:blip r:embed="rId3">
            <a:alphaModFix/>
          </a:blip>
          <a:srcRect/>
          <a:stretch/>
        </p:blipFill>
        <p:spPr>
          <a:xfrm>
            <a:off x="10206443" y="0"/>
            <a:ext cx="1886945" cy="502031"/>
          </a:xfrm>
          <a:prstGeom prst="rect">
            <a:avLst/>
          </a:prstGeom>
          <a:noFill/>
          <a:ln>
            <a:noFill/>
          </a:ln>
        </p:spPr>
      </p:pic>
      <p:sp>
        <p:nvSpPr>
          <p:cNvPr id="130" name="Google Shape;130;p5">
            <a:extLst>
              <a:ext uri="{FF2B5EF4-FFF2-40B4-BE49-F238E27FC236}">
                <a16:creationId xmlns:a16="http://schemas.microsoft.com/office/drawing/2014/main" id="{AFCFBFD6-E046-426D-F27A-39BFBA758D4C}"/>
              </a:ext>
            </a:extLst>
          </p:cNvPr>
          <p:cNvSpPr/>
          <p:nvPr/>
        </p:nvSpPr>
        <p:spPr>
          <a:xfrm>
            <a:off x="-3" y="528340"/>
            <a:ext cx="10067365" cy="161941"/>
          </a:xfrm>
          <a:prstGeom prst="rect">
            <a:avLst/>
          </a:prstGeom>
          <a:solidFill>
            <a:schemeClr val="dk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1" name="Google Shape;131;p5">
            <a:extLst>
              <a:ext uri="{FF2B5EF4-FFF2-40B4-BE49-F238E27FC236}">
                <a16:creationId xmlns:a16="http://schemas.microsoft.com/office/drawing/2014/main" id="{977F5697-5F20-70D6-E0B3-3C5797AB8F73}"/>
              </a:ext>
            </a:extLst>
          </p:cNvPr>
          <p:cNvSpPr txBox="1"/>
          <p:nvPr/>
        </p:nvSpPr>
        <p:spPr>
          <a:xfrm>
            <a:off x="1138518" y="6472519"/>
            <a:ext cx="760207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1" u="none" strike="noStrike" cap="none" dirty="0">
                <a:solidFill>
                  <a:schemeClr val="dk1"/>
                </a:solidFill>
                <a:latin typeface="Calibri"/>
                <a:ea typeface="Calibri"/>
                <a:cs typeface="Calibri"/>
                <a:sym typeface="Calibri"/>
              </a:rPr>
              <a:t>Disclaimer: This training material belongs to </a:t>
            </a:r>
            <a:r>
              <a:rPr lang="en-US" sz="1800" b="0" i="1" u="none" strike="noStrike" cap="none" dirty="0" err="1">
                <a:solidFill>
                  <a:schemeClr val="dk1"/>
                </a:solidFill>
                <a:latin typeface="Calibri"/>
                <a:ea typeface="Calibri"/>
                <a:cs typeface="Calibri"/>
                <a:sym typeface="Calibri"/>
              </a:rPr>
              <a:t>techcrush</a:t>
            </a:r>
            <a:r>
              <a:rPr lang="en-US" sz="1800" b="0" i="1" u="none" strike="noStrike" cap="none" dirty="0">
                <a:solidFill>
                  <a:schemeClr val="dk1"/>
                </a:solidFill>
                <a:latin typeface="Calibri"/>
                <a:ea typeface="Calibri"/>
                <a:cs typeface="Calibri"/>
                <a:sym typeface="Calibri"/>
              </a:rPr>
              <a:t> and shouldn’t be shared</a:t>
            </a:r>
            <a:endParaRPr sz="1400" b="0" i="0" u="none" strike="noStrike" cap="none" dirty="0">
              <a:solidFill>
                <a:srgbClr val="000000"/>
              </a:solidFill>
              <a:latin typeface="Arial"/>
              <a:ea typeface="Arial"/>
              <a:cs typeface="Arial"/>
              <a:sym typeface="Arial"/>
            </a:endParaRPr>
          </a:p>
        </p:txBody>
      </p:sp>
      <p:pic>
        <p:nvPicPr>
          <p:cNvPr id="132" name="Google Shape;132;p5">
            <a:extLst>
              <a:ext uri="{FF2B5EF4-FFF2-40B4-BE49-F238E27FC236}">
                <a16:creationId xmlns:a16="http://schemas.microsoft.com/office/drawing/2014/main" id="{42D20D93-16B8-2355-EB12-46DC98551F9F}"/>
              </a:ext>
            </a:extLst>
          </p:cNvPr>
          <p:cNvPicPr preferRelativeResize="0"/>
          <p:nvPr/>
        </p:nvPicPr>
        <p:blipFill rotWithShape="1">
          <a:blip r:embed="rId3">
            <a:alphaModFix amt="26000"/>
          </a:blip>
          <a:srcRect/>
          <a:stretch/>
        </p:blipFill>
        <p:spPr>
          <a:xfrm>
            <a:off x="825004" y="1951993"/>
            <a:ext cx="10541991" cy="2804748"/>
          </a:xfrm>
          <a:prstGeom prst="rect">
            <a:avLst/>
          </a:prstGeom>
          <a:noFill/>
          <a:ln>
            <a:noFill/>
          </a:ln>
          <a:effectLst>
            <a:outerShdw dist="50800" sx="1000" sy="1000" algn="ctr" rotWithShape="0">
              <a:srgbClr val="000000"/>
            </a:outerShdw>
          </a:effectLst>
        </p:spPr>
      </p:pic>
      <p:pic>
        <p:nvPicPr>
          <p:cNvPr id="133" name="Google Shape;133;p5">
            <a:extLst>
              <a:ext uri="{FF2B5EF4-FFF2-40B4-BE49-F238E27FC236}">
                <a16:creationId xmlns:a16="http://schemas.microsoft.com/office/drawing/2014/main" id="{EC45C0DE-F3D6-63B1-5F4B-DDCAB405440F}"/>
              </a:ext>
            </a:extLst>
          </p:cNvPr>
          <p:cNvPicPr preferRelativeResize="0"/>
          <p:nvPr/>
        </p:nvPicPr>
        <p:blipFill rotWithShape="1">
          <a:blip r:embed="rId4">
            <a:alphaModFix/>
          </a:blip>
          <a:srcRect/>
          <a:stretch/>
        </p:blipFill>
        <p:spPr>
          <a:xfrm>
            <a:off x="8646453" y="1232642"/>
            <a:ext cx="502028" cy="502028"/>
          </a:xfrm>
          <a:prstGeom prst="rect">
            <a:avLst/>
          </a:prstGeom>
          <a:noFill/>
          <a:ln>
            <a:noFill/>
          </a:ln>
        </p:spPr>
      </p:pic>
      <p:sp>
        <p:nvSpPr>
          <p:cNvPr id="134" name="Google Shape;134;p5">
            <a:extLst>
              <a:ext uri="{FF2B5EF4-FFF2-40B4-BE49-F238E27FC236}">
                <a16:creationId xmlns:a16="http://schemas.microsoft.com/office/drawing/2014/main" id="{BD5A7A7D-AF4C-32F3-39DC-41A700C8B51C}"/>
              </a:ext>
            </a:extLst>
          </p:cNvPr>
          <p:cNvSpPr txBox="1"/>
          <p:nvPr/>
        </p:nvSpPr>
        <p:spPr>
          <a:xfrm>
            <a:off x="51903" y="1026824"/>
            <a:ext cx="11748053" cy="1261844"/>
          </a:xfrm>
          <a:prstGeom prst="rect">
            <a:avLst/>
          </a:prstGeom>
          <a:noFill/>
          <a:ln>
            <a:noFill/>
          </a:ln>
        </p:spPr>
        <p:txBody>
          <a:bodyPr spcFirstLastPara="1" wrap="square" lIns="91425" tIns="45700" rIns="91425" bIns="45700" anchor="t" anchorCtr="0">
            <a:spAutoFit/>
          </a:bodyPr>
          <a:lstStyle/>
          <a:p>
            <a:r>
              <a:rPr lang="en-US" sz="3800" b="1" dirty="0"/>
              <a:t>Phishing to Malware Delivery Playbook</a:t>
            </a:r>
            <a:r>
              <a:rPr lang="en-US" sz="4000" b="1" dirty="0"/>
              <a:t>: </a:t>
            </a:r>
            <a:r>
              <a:rPr lang="en-US" sz="3600" dirty="0"/>
              <a:t>Design Rationale</a:t>
            </a:r>
          </a:p>
        </p:txBody>
      </p:sp>
      <p:sp>
        <p:nvSpPr>
          <p:cNvPr id="3" name="TextBox 2">
            <a:extLst>
              <a:ext uri="{FF2B5EF4-FFF2-40B4-BE49-F238E27FC236}">
                <a16:creationId xmlns:a16="http://schemas.microsoft.com/office/drawing/2014/main" id="{FD39F6CD-9EF0-65E2-C9C7-E1A23BC43E04}"/>
              </a:ext>
            </a:extLst>
          </p:cNvPr>
          <p:cNvSpPr txBox="1"/>
          <p:nvPr/>
        </p:nvSpPr>
        <p:spPr>
          <a:xfrm>
            <a:off x="669175" y="2505991"/>
            <a:ext cx="10853648" cy="3385542"/>
          </a:xfrm>
          <a:prstGeom prst="rect">
            <a:avLst/>
          </a:prstGeom>
          <a:noFill/>
        </p:spPr>
        <p:txBody>
          <a:bodyPr wrap="square">
            <a:spAutoFit/>
          </a:bodyPr>
          <a:lstStyle/>
          <a:p>
            <a:r>
              <a:rPr lang="en-US" sz="2600" b="1" dirty="0"/>
              <a:t>Scope: </a:t>
            </a:r>
            <a:r>
              <a:rPr lang="en-US" sz="2600" dirty="0"/>
              <a:t>Covers phishing emails that drop malware or trojan infection.</a:t>
            </a:r>
          </a:p>
          <a:p>
            <a:r>
              <a:rPr lang="en-US" sz="2600" dirty="0"/>
              <a:t> </a:t>
            </a:r>
          </a:p>
          <a:p>
            <a:r>
              <a:rPr lang="en-US" sz="2600" b="1" dirty="0"/>
              <a:t>Phases:</a:t>
            </a:r>
            <a:r>
              <a:rPr lang="en-US" sz="2600" dirty="0"/>
              <a:t> Detection (email logs, EDR) → Containment (network isolation, IOC blocking) → Eradication → Recovery → Post-incident.</a:t>
            </a:r>
          </a:p>
          <a:p>
            <a:r>
              <a:rPr lang="en-US" sz="2600" b="1" dirty="0">
                <a:solidFill>
                  <a:schemeClr val="tx1"/>
                </a:solidFill>
                <a:latin typeface="Arial" panose="020B0604020202020204" pitchFamily="34" charset="0"/>
              </a:rPr>
              <a:t>Clear </a:t>
            </a:r>
            <a:r>
              <a:rPr lang="en-US" altLang="en-US" sz="2600" b="1" dirty="0">
                <a:solidFill>
                  <a:schemeClr val="tx1"/>
                </a:solidFill>
                <a:latin typeface="Arial" panose="020B0604020202020204" pitchFamily="34" charset="0"/>
              </a:rPr>
              <a:t>Roles </a:t>
            </a:r>
            <a:r>
              <a:rPr lang="en-US" sz="2600" b="1" dirty="0">
                <a:solidFill>
                  <a:schemeClr val="tx1"/>
                </a:solidFill>
                <a:latin typeface="Arial" panose="020B0604020202020204" pitchFamily="34" charset="0"/>
              </a:rPr>
              <a:t>Separation</a:t>
            </a:r>
            <a:r>
              <a:rPr lang="en-US" altLang="en-US" sz="2600" b="1" dirty="0">
                <a:solidFill>
                  <a:schemeClr val="tx1"/>
                </a:solidFill>
                <a:latin typeface="Arial" panose="020B0604020202020204" pitchFamily="34" charset="0"/>
              </a:rPr>
              <a:t>:</a:t>
            </a:r>
            <a:r>
              <a:rPr lang="en-US" altLang="en-US" sz="2600" dirty="0">
                <a:solidFill>
                  <a:schemeClr val="tx1"/>
                </a:solidFill>
                <a:latin typeface="Arial" panose="020B0604020202020204" pitchFamily="34" charset="0"/>
              </a:rPr>
              <a:t> </a:t>
            </a:r>
            <a:r>
              <a:rPr lang="en-US" sz="2600" dirty="0"/>
              <a:t>SOC, Forensics, Network, Legal, PR defined clearly to reduce confusion.</a:t>
            </a:r>
          </a:p>
          <a:p>
            <a:pPr lvl="0" eaLnBrk="0" fontAlgn="base" hangingPunct="0">
              <a:spcBef>
                <a:spcPct val="0"/>
              </a:spcBef>
              <a:spcAft>
                <a:spcPct val="0"/>
              </a:spcAft>
              <a:buClrTx/>
              <a:buFontTx/>
              <a:buChar char="•"/>
            </a:pPr>
            <a:r>
              <a:rPr lang="en-US" sz="2600" b="1" dirty="0"/>
              <a:t>Communication:</a:t>
            </a:r>
            <a:r>
              <a:rPr lang="en-US" sz="2600" dirty="0"/>
              <a:t> 1-hour IR notification, status updates every 4 hours.</a:t>
            </a:r>
          </a:p>
          <a:p>
            <a:endParaRPr lang="en-US" sz="3200" b="1" dirty="0"/>
          </a:p>
        </p:txBody>
      </p:sp>
    </p:spTree>
    <p:extLst>
      <p:ext uri="{BB962C8B-B14F-4D97-AF65-F5344CB8AC3E}">
        <p14:creationId xmlns:p14="http://schemas.microsoft.com/office/powerpoint/2010/main" val="13656828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27">
          <a:extLst>
            <a:ext uri="{FF2B5EF4-FFF2-40B4-BE49-F238E27FC236}">
              <a16:creationId xmlns:a16="http://schemas.microsoft.com/office/drawing/2014/main" id="{D7434A3D-A3E2-D3FC-27AB-C208D10FF43F}"/>
            </a:ext>
          </a:extLst>
        </p:cNvPr>
        <p:cNvGrpSpPr/>
        <p:nvPr/>
      </p:nvGrpSpPr>
      <p:grpSpPr>
        <a:xfrm>
          <a:off x="0" y="0"/>
          <a:ext cx="0" cy="0"/>
          <a:chOff x="0" y="0"/>
          <a:chExt cx="0" cy="0"/>
        </a:xfrm>
      </p:grpSpPr>
      <p:sp>
        <p:nvSpPr>
          <p:cNvPr id="128" name="Google Shape;128;p5">
            <a:extLst>
              <a:ext uri="{FF2B5EF4-FFF2-40B4-BE49-F238E27FC236}">
                <a16:creationId xmlns:a16="http://schemas.microsoft.com/office/drawing/2014/main" id="{B9BB136B-4873-D565-8802-23D1E9B2B5B0}"/>
              </a:ext>
            </a:extLst>
          </p:cNvPr>
          <p:cNvSpPr/>
          <p:nvPr/>
        </p:nvSpPr>
        <p:spPr>
          <a:xfrm>
            <a:off x="-39756" y="-25341"/>
            <a:ext cx="10067365" cy="488589"/>
          </a:xfrm>
          <a:prstGeom prst="rect">
            <a:avLst/>
          </a:prstGeom>
          <a:solidFill>
            <a:srgbClr val="FE4A5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a:solidFill>
                  <a:schemeClr val="lt1"/>
                </a:solidFill>
                <a:latin typeface="Calibri"/>
                <a:ea typeface="Calibri"/>
                <a:cs typeface="Calibri"/>
                <a:sym typeface="Calibri"/>
              </a:rPr>
              <a:t>CAPSTONE PROJECT</a:t>
            </a:r>
            <a:endParaRPr sz="1400" b="0" i="0" u="none" strike="noStrike" cap="none">
              <a:solidFill>
                <a:srgbClr val="000000"/>
              </a:solidFill>
              <a:latin typeface="Arial"/>
              <a:ea typeface="Arial"/>
              <a:cs typeface="Arial"/>
              <a:sym typeface="Arial"/>
            </a:endParaRPr>
          </a:p>
        </p:txBody>
      </p:sp>
      <p:pic>
        <p:nvPicPr>
          <p:cNvPr id="129" name="Google Shape;129;p5">
            <a:extLst>
              <a:ext uri="{FF2B5EF4-FFF2-40B4-BE49-F238E27FC236}">
                <a16:creationId xmlns:a16="http://schemas.microsoft.com/office/drawing/2014/main" id="{92C9A056-527D-8007-6E91-EAFCA4BFD436}"/>
              </a:ext>
            </a:extLst>
          </p:cNvPr>
          <p:cNvPicPr preferRelativeResize="0"/>
          <p:nvPr/>
        </p:nvPicPr>
        <p:blipFill rotWithShape="1">
          <a:blip r:embed="rId3">
            <a:alphaModFix/>
          </a:blip>
          <a:srcRect/>
          <a:stretch/>
        </p:blipFill>
        <p:spPr>
          <a:xfrm>
            <a:off x="10206443" y="0"/>
            <a:ext cx="1886945" cy="502031"/>
          </a:xfrm>
          <a:prstGeom prst="rect">
            <a:avLst/>
          </a:prstGeom>
          <a:noFill/>
          <a:ln>
            <a:noFill/>
          </a:ln>
        </p:spPr>
      </p:pic>
      <p:sp>
        <p:nvSpPr>
          <p:cNvPr id="130" name="Google Shape;130;p5">
            <a:extLst>
              <a:ext uri="{FF2B5EF4-FFF2-40B4-BE49-F238E27FC236}">
                <a16:creationId xmlns:a16="http://schemas.microsoft.com/office/drawing/2014/main" id="{27368873-6A2E-1CDD-792B-A5C6C1E8DBD9}"/>
              </a:ext>
            </a:extLst>
          </p:cNvPr>
          <p:cNvSpPr/>
          <p:nvPr/>
        </p:nvSpPr>
        <p:spPr>
          <a:xfrm>
            <a:off x="-3" y="528340"/>
            <a:ext cx="10067365" cy="161941"/>
          </a:xfrm>
          <a:prstGeom prst="rect">
            <a:avLst/>
          </a:prstGeom>
          <a:solidFill>
            <a:schemeClr val="dk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1" name="Google Shape;131;p5">
            <a:extLst>
              <a:ext uri="{FF2B5EF4-FFF2-40B4-BE49-F238E27FC236}">
                <a16:creationId xmlns:a16="http://schemas.microsoft.com/office/drawing/2014/main" id="{37AE1936-E667-811D-332C-2A99111F5C6F}"/>
              </a:ext>
            </a:extLst>
          </p:cNvPr>
          <p:cNvSpPr txBox="1"/>
          <p:nvPr/>
        </p:nvSpPr>
        <p:spPr>
          <a:xfrm>
            <a:off x="1138518" y="6472519"/>
            <a:ext cx="760207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1" u="none" strike="noStrike" cap="none" dirty="0">
                <a:solidFill>
                  <a:schemeClr val="dk1"/>
                </a:solidFill>
                <a:latin typeface="Calibri"/>
                <a:ea typeface="Calibri"/>
                <a:cs typeface="Calibri"/>
                <a:sym typeface="Calibri"/>
              </a:rPr>
              <a:t>Disclaimer: This training material belongs to </a:t>
            </a:r>
            <a:r>
              <a:rPr lang="en-US" sz="1800" b="0" i="1" u="none" strike="noStrike" cap="none" dirty="0" err="1">
                <a:solidFill>
                  <a:schemeClr val="dk1"/>
                </a:solidFill>
                <a:latin typeface="Calibri"/>
                <a:ea typeface="Calibri"/>
                <a:cs typeface="Calibri"/>
                <a:sym typeface="Calibri"/>
              </a:rPr>
              <a:t>techcrush</a:t>
            </a:r>
            <a:r>
              <a:rPr lang="en-US" sz="1800" b="0" i="1" u="none" strike="noStrike" cap="none" dirty="0">
                <a:solidFill>
                  <a:schemeClr val="dk1"/>
                </a:solidFill>
                <a:latin typeface="Calibri"/>
                <a:ea typeface="Calibri"/>
                <a:cs typeface="Calibri"/>
                <a:sym typeface="Calibri"/>
              </a:rPr>
              <a:t> and shouldn’t be shared</a:t>
            </a:r>
            <a:endParaRPr sz="1400" b="0" i="0" u="none" strike="noStrike" cap="none" dirty="0">
              <a:solidFill>
                <a:srgbClr val="000000"/>
              </a:solidFill>
              <a:latin typeface="Arial"/>
              <a:ea typeface="Arial"/>
              <a:cs typeface="Arial"/>
              <a:sym typeface="Arial"/>
            </a:endParaRPr>
          </a:p>
        </p:txBody>
      </p:sp>
      <p:pic>
        <p:nvPicPr>
          <p:cNvPr id="132" name="Google Shape;132;p5">
            <a:extLst>
              <a:ext uri="{FF2B5EF4-FFF2-40B4-BE49-F238E27FC236}">
                <a16:creationId xmlns:a16="http://schemas.microsoft.com/office/drawing/2014/main" id="{4B23B9B2-B7F3-6939-548D-F114CEF099FC}"/>
              </a:ext>
            </a:extLst>
          </p:cNvPr>
          <p:cNvPicPr preferRelativeResize="0"/>
          <p:nvPr/>
        </p:nvPicPr>
        <p:blipFill rotWithShape="1">
          <a:blip r:embed="rId3">
            <a:alphaModFix amt="26000"/>
          </a:blip>
          <a:srcRect/>
          <a:stretch/>
        </p:blipFill>
        <p:spPr>
          <a:xfrm>
            <a:off x="825004" y="1951993"/>
            <a:ext cx="10541991" cy="2804748"/>
          </a:xfrm>
          <a:prstGeom prst="rect">
            <a:avLst/>
          </a:prstGeom>
          <a:noFill/>
          <a:ln>
            <a:noFill/>
          </a:ln>
          <a:effectLst>
            <a:outerShdw dist="50800" sx="1000" sy="1000" algn="ctr" rotWithShape="0">
              <a:srgbClr val="000000"/>
            </a:outerShdw>
          </a:effectLst>
        </p:spPr>
      </p:pic>
      <p:pic>
        <p:nvPicPr>
          <p:cNvPr id="133" name="Google Shape;133;p5">
            <a:extLst>
              <a:ext uri="{FF2B5EF4-FFF2-40B4-BE49-F238E27FC236}">
                <a16:creationId xmlns:a16="http://schemas.microsoft.com/office/drawing/2014/main" id="{34E591EE-D4EE-FD0C-96A4-5F97F7F9BE55}"/>
              </a:ext>
            </a:extLst>
          </p:cNvPr>
          <p:cNvPicPr preferRelativeResize="0"/>
          <p:nvPr/>
        </p:nvPicPr>
        <p:blipFill rotWithShape="1">
          <a:blip r:embed="rId4">
            <a:alphaModFix/>
          </a:blip>
          <a:srcRect/>
          <a:stretch/>
        </p:blipFill>
        <p:spPr>
          <a:xfrm>
            <a:off x="8646453" y="1232642"/>
            <a:ext cx="502028" cy="502028"/>
          </a:xfrm>
          <a:prstGeom prst="rect">
            <a:avLst/>
          </a:prstGeom>
          <a:noFill/>
          <a:ln>
            <a:noFill/>
          </a:ln>
        </p:spPr>
      </p:pic>
      <p:pic>
        <p:nvPicPr>
          <p:cNvPr id="5" name="Picture 4" descr="A diagram of a delivery service&#10;&#10;AI-generated content may be incorrect.">
            <a:extLst>
              <a:ext uri="{FF2B5EF4-FFF2-40B4-BE49-F238E27FC236}">
                <a16:creationId xmlns:a16="http://schemas.microsoft.com/office/drawing/2014/main" id="{5172BA56-4C83-5FA0-6C12-D766F7AC8762}"/>
              </a:ext>
            </a:extLst>
          </p:cNvPr>
          <p:cNvPicPr>
            <a:picLocks noChangeAspect="1"/>
          </p:cNvPicPr>
          <p:nvPr/>
        </p:nvPicPr>
        <p:blipFill>
          <a:blip r:embed="rId5"/>
          <a:stretch>
            <a:fillRect/>
          </a:stretch>
        </p:blipFill>
        <p:spPr>
          <a:xfrm>
            <a:off x="985393" y="755373"/>
            <a:ext cx="9081969" cy="5358834"/>
          </a:xfrm>
          <a:prstGeom prst="rect">
            <a:avLst/>
          </a:prstGeom>
        </p:spPr>
      </p:pic>
    </p:spTree>
    <p:extLst>
      <p:ext uri="{BB962C8B-B14F-4D97-AF65-F5344CB8AC3E}">
        <p14:creationId xmlns:p14="http://schemas.microsoft.com/office/powerpoint/2010/main" val="6829206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27">
          <a:extLst>
            <a:ext uri="{FF2B5EF4-FFF2-40B4-BE49-F238E27FC236}">
              <a16:creationId xmlns:a16="http://schemas.microsoft.com/office/drawing/2014/main" id="{C8DE628B-99F5-61D3-47D7-254F59A5B9AE}"/>
            </a:ext>
          </a:extLst>
        </p:cNvPr>
        <p:cNvGrpSpPr/>
        <p:nvPr/>
      </p:nvGrpSpPr>
      <p:grpSpPr>
        <a:xfrm>
          <a:off x="0" y="0"/>
          <a:ext cx="0" cy="0"/>
          <a:chOff x="0" y="0"/>
          <a:chExt cx="0" cy="0"/>
        </a:xfrm>
      </p:grpSpPr>
      <p:sp>
        <p:nvSpPr>
          <p:cNvPr id="128" name="Google Shape;128;p5">
            <a:extLst>
              <a:ext uri="{FF2B5EF4-FFF2-40B4-BE49-F238E27FC236}">
                <a16:creationId xmlns:a16="http://schemas.microsoft.com/office/drawing/2014/main" id="{17314508-3F3E-5937-B508-A80C2B06AC5C}"/>
              </a:ext>
            </a:extLst>
          </p:cNvPr>
          <p:cNvSpPr/>
          <p:nvPr/>
        </p:nvSpPr>
        <p:spPr>
          <a:xfrm>
            <a:off x="-39756" y="-25341"/>
            <a:ext cx="10067365" cy="488589"/>
          </a:xfrm>
          <a:prstGeom prst="rect">
            <a:avLst/>
          </a:prstGeom>
          <a:solidFill>
            <a:srgbClr val="FE4A5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a:solidFill>
                  <a:schemeClr val="lt1"/>
                </a:solidFill>
                <a:latin typeface="Calibri"/>
                <a:ea typeface="Calibri"/>
                <a:cs typeface="Calibri"/>
                <a:sym typeface="Calibri"/>
              </a:rPr>
              <a:t>CAPSTONE PROJECT</a:t>
            </a:r>
            <a:endParaRPr sz="1400" b="0" i="0" u="none" strike="noStrike" cap="none">
              <a:solidFill>
                <a:srgbClr val="000000"/>
              </a:solidFill>
              <a:latin typeface="Arial"/>
              <a:ea typeface="Arial"/>
              <a:cs typeface="Arial"/>
              <a:sym typeface="Arial"/>
            </a:endParaRPr>
          </a:p>
        </p:txBody>
      </p:sp>
      <p:pic>
        <p:nvPicPr>
          <p:cNvPr id="129" name="Google Shape;129;p5">
            <a:extLst>
              <a:ext uri="{FF2B5EF4-FFF2-40B4-BE49-F238E27FC236}">
                <a16:creationId xmlns:a16="http://schemas.microsoft.com/office/drawing/2014/main" id="{48058746-8DAE-BEC1-12A0-A0F20F4476E3}"/>
              </a:ext>
            </a:extLst>
          </p:cNvPr>
          <p:cNvPicPr preferRelativeResize="0"/>
          <p:nvPr/>
        </p:nvPicPr>
        <p:blipFill rotWithShape="1">
          <a:blip r:embed="rId3">
            <a:alphaModFix/>
          </a:blip>
          <a:srcRect/>
          <a:stretch/>
        </p:blipFill>
        <p:spPr>
          <a:xfrm>
            <a:off x="10206443" y="0"/>
            <a:ext cx="1886945" cy="502031"/>
          </a:xfrm>
          <a:prstGeom prst="rect">
            <a:avLst/>
          </a:prstGeom>
          <a:noFill/>
          <a:ln>
            <a:noFill/>
          </a:ln>
        </p:spPr>
      </p:pic>
      <p:sp>
        <p:nvSpPr>
          <p:cNvPr id="130" name="Google Shape;130;p5">
            <a:extLst>
              <a:ext uri="{FF2B5EF4-FFF2-40B4-BE49-F238E27FC236}">
                <a16:creationId xmlns:a16="http://schemas.microsoft.com/office/drawing/2014/main" id="{CF42AE1B-C619-7812-68C1-A96708194696}"/>
              </a:ext>
            </a:extLst>
          </p:cNvPr>
          <p:cNvSpPr/>
          <p:nvPr/>
        </p:nvSpPr>
        <p:spPr>
          <a:xfrm>
            <a:off x="-3" y="528340"/>
            <a:ext cx="10067365" cy="161941"/>
          </a:xfrm>
          <a:prstGeom prst="rect">
            <a:avLst/>
          </a:prstGeom>
          <a:solidFill>
            <a:schemeClr val="dk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1" name="Google Shape;131;p5">
            <a:extLst>
              <a:ext uri="{FF2B5EF4-FFF2-40B4-BE49-F238E27FC236}">
                <a16:creationId xmlns:a16="http://schemas.microsoft.com/office/drawing/2014/main" id="{DF38DCFD-D81B-65EC-FA00-426D0086D8E7}"/>
              </a:ext>
            </a:extLst>
          </p:cNvPr>
          <p:cNvSpPr txBox="1"/>
          <p:nvPr/>
        </p:nvSpPr>
        <p:spPr>
          <a:xfrm>
            <a:off x="1138518" y="6472519"/>
            <a:ext cx="760207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1" u="none" strike="noStrike" cap="none" dirty="0">
                <a:solidFill>
                  <a:schemeClr val="dk1"/>
                </a:solidFill>
                <a:latin typeface="Calibri"/>
                <a:ea typeface="Calibri"/>
                <a:cs typeface="Calibri"/>
                <a:sym typeface="Calibri"/>
              </a:rPr>
              <a:t>Disclaimer: This training material belongs to </a:t>
            </a:r>
            <a:r>
              <a:rPr lang="en-US" sz="1800" b="0" i="1" u="none" strike="noStrike" cap="none" dirty="0" err="1">
                <a:solidFill>
                  <a:schemeClr val="dk1"/>
                </a:solidFill>
                <a:latin typeface="Calibri"/>
                <a:ea typeface="Calibri"/>
                <a:cs typeface="Calibri"/>
                <a:sym typeface="Calibri"/>
              </a:rPr>
              <a:t>techcrush</a:t>
            </a:r>
            <a:r>
              <a:rPr lang="en-US" sz="1800" b="0" i="1" u="none" strike="noStrike" cap="none" dirty="0">
                <a:solidFill>
                  <a:schemeClr val="dk1"/>
                </a:solidFill>
                <a:latin typeface="Calibri"/>
                <a:ea typeface="Calibri"/>
                <a:cs typeface="Calibri"/>
                <a:sym typeface="Calibri"/>
              </a:rPr>
              <a:t> and shouldn’t be shared</a:t>
            </a:r>
            <a:endParaRPr sz="1400" b="0" i="0" u="none" strike="noStrike" cap="none" dirty="0">
              <a:solidFill>
                <a:srgbClr val="000000"/>
              </a:solidFill>
              <a:latin typeface="Arial"/>
              <a:ea typeface="Arial"/>
              <a:cs typeface="Arial"/>
              <a:sym typeface="Arial"/>
            </a:endParaRPr>
          </a:p>
        </p:txBody>
      </p:sp>
      <p:pic>
        <p:nvPicPr>
          <p:cNvPr id="132" name="Google Shape;132;p5">
            <a:extLst>
              <a:ext uri="{FF2B5EF4-FFF2-40B4-BE49-F238E27FC236}">
                <a16:creationId xmlns:a16="http://schemas.microsoft.com/office/drawing/2014/main" id="{951D1BCA-8EB2-EC3B-138F-8B6784029728}"/>
              </a:ext>
            </a:extLst>
          </p:cNvPr>
          <p:cNvPicPr preferRelativeResize="0"/>
          <p:nvPr/>
        </p:nvPicPr>
        <p:blipFill rotWithShape="1">
          <a:blip r:embed="rId3">
            <a:alphaModFix amt="26000"/>
          </a:blip>
          <a:srcRect/>
          <a:stretch/>
        </p:blipFill>
        <p:spPr>
          <a:xfrm>
            <a:off x="825004" y="1951993"/>
            <a:ext cx="10541991" cy="2804748"/>
          </a:xfrm>
          <a:prstGeom prst="rect">
            <a:avLst/>
          </a:prstGeom>
          <a:noFill/>
          <a:ln>
            <a:noFill/>
          </a:ln>
          <a:effectLst>
            <a:outerShdw dist="50800" sx="1000" sy="1000" algn="ctr" rotWithShape="0">
              <a:srgbClr val="000000"/>
            </a:outerShdw>
          </a:effectLst>
        </p:spPr>
      </p:pic>
      <p:pic>
        <p:nvPicPr>
          <p:cNvPr id="133" name="Google Shape;133;p5">
            <a:extLst>
              <a:ext uri="{FF2B5EF4-FFF2-40B4-BE49-F238E27FC236}">
                <a16:creationId xmlns:a16="http://schemas.microsoft.com/office/drawing/2014/main" id="{CAE5451C-D724-8746-52E7-F090AAE428EE}"/>
              </a:ext>
            </a:extLst>
          </p:cNvPr>
          <p:cNvPicPr preferRelativeResize="0"/>
          <p:nvPr/>
        </p:nvPicPr>
        <p:blipFill rotWithShape="1">
          <a:blip r:embed="rId4">
            <a:alphaModFix/>
          </a:blip>
          <a:srcRect/>
          <a:stretch/>
        </p:blipFill>
        <p:spPr>
          <a:xfrm>
            <a:off x="8646453" y="1232642"/>
            <a:ext cx="502028" cy="502028"/>
          </a:xfrm>
          <a:prstGeom prst="rect">
            <a:avLst/>
          </a:prstGeom>
          <a:noFill/>
          <a:ln>
            <a:noFill/>
          </a:ln>
        </p:spPr>
      </p:pic>
      <p:sp>
        <p:nvSpPr>
          <p:cNvPr id="134" name="Google Shape;134;p5">
            <a:extLst>
              <a:ext uri="{FF2B5EF4-FFF2-40B4-BE49-F238E27FC236}">
                <a16:creationId xmlns:a16="http://schemas.microsoft.com/office/drawing/2014/main" id="{3AA552D8-6A4F-9D9E-5AF2-455BFB06863A}"/>
              </a:ext>
            </a:extLst>
          </p:cNvPr>
          <p:cNvSpPr txBox="1"/>
          <p:nvPr/>
        </p:nvSpPr>
        <p:spPr>
          <a:xfrm>
            <a:off x="221972" y="1005609"/>
            <a:ext cx="11748053" cy="707846"/>
          </a:xfrm>
          <a:prstGeom prst="rect">
            <a:avLst/>
          </a:prstGeom>
          <a:noFill/>
          <a:ln>
            <a:noFill/>
          </a:ln>
        </p:spPr>
        <p:txBody>
          <a:bodyPr spcFirstLastPara="1" wrap="square" lIns="91425" tIns="45700" rIns="91425" bIns="45700" anchor="t" anchorCtr="0">
            <a:spAutoFit/>
          </a:bodyPr>
          <a:lstStyle/>
          <a:p>
            <a:r>
              <a:rPr lang="en-US" sz="4000" b="1" dirty="0"/>
              <a:t>Phishing to Malware Delivery Playbook: </a:t>
            </a:r>
            <a:r>
              <a:rPr lang="en-US" sz="3600" dirty="0"/>
              <a:t>Benefits</a:t>
            </a:r>
          </a:p>
        </p:txBody>
      </p:sp>
      <p:sp>
        <p:nvSpPr>
          <p:cNvPr id="3" name="TextBox 2">
            <a:extLst>
              <a:ext uri="{FF2B5EF4-FFF2-40B4-BE49-F238E27FC236}">
                <a16:creationId xmlns:a16="http://schemas.microsoft.com/office/drawing/2014/main" id="{CD925B55-2F4D-3A0C-07F2-FE545B04602D}"/>
              </a:ext>
            </a:extLst>
          </p:cNvPr>
          <p:cNvSpPr txBox="1"/>
          <p:nvPr/>
        </p:nvSpPr>
        <p:spPr>
          <a:xfrm>
            <a:off x="669175" y="2119371"/>
            <a:ext cx="10853648" cy="4216539"/>
          </a:xfrm>
          <a:prstGeom prst="rect">
            <a:avLst/>
          </a:prstGeom>
          <a:noFill/>
        </p:spPr>
        <p:txBody>
          <a:bodyPr wrap="square">
            <a:spAutoFit/>
          </a:bodyPr>
          <a:lstStyle/>
          <a:p>
            <a:pPr lvl="0" eaLnBrk="0" fontAlgn="base" hangingPunct="0">
              <a:spcBef>
                <a:spcPct val="0"/>
              </a:spcBef>
              <a:spcAft>
                <a:spcPct val="0"/>
              </a:spcAft>
              <a:buClrTx/>
              <a:buFontTx/>
              <a:buChar char="•"/>
            </a:pPr>
            <a:r>
              <a:rPr lang="en-US" altLang="en-US" sz="2800" dirty="0">
                <a:solidFill>
                  <a:schemeClr val="tx1"/>
                </a:solidFill>
                <a:latin typeface="Arial" panose="020B0604020202020204" pitchFamily="34" charset="0"/>
              </a:rPr>
              <a:t>Immediate network isolation limits spread.</a:t>
            </a:r>
          </a:p>
          <a:p>
            <a:pPr lvl="0" eaLnBrk="0" fontAlgn="base" hangingPunct="0">
              <a:spcBef>
                <a:spcPct val="0"/>
              </a:spcBef>
              <a:spcAft>
                <a:spcPct val="0"/>
              </a:spcAft>
              <a:buClrTx/>
              <a:buFontTx/>
              <a:buChar char="•"/>
            </a:pPr>
            <a:r>
              <a:rPr lang="en-US" sz="2800" dirty="0"/>
              <a:t>Credential reset priority: Force password resets, revoke sessions, require MFA</a:t>
            </a:r>
            <a:endParaRPr lang="en-US" altLang="en-US" sz="2800" dirty="0">
              <a:solidFill>
                <a:schemeClr val="tx1"/>
              </a:solidFill>
              <a:latin typeface="Arial" panose="020B0604020202020204" pitchFamily="34" charset="0"/>
            </a:endParaRPr>
          </a:p>
          <a:p>
            <a:pPr lvl="0" eaLnBrk="0" fontAlgn="base" hangingPunct="0">
              <a:spcBef>
                <a:spcPct val="0"/>
              </a:spcBef>
              <a:spcAft>
                <a:spcPct val="0"/>
              </a:spcAft>
              <a:buClrTx/>
              <a:buFontTx/>
              <a:buChar char="•"/>
            </a:pPr>
            <a:r>
              <a:rPr lang="en-US" altLang="en-US" sz="2800" dirty="0">
                <a:solidFill>
                  <a:schemeClr val="tx1"/>
                </a:solidFill>
                <a:latin typeface="Arial" panose="020B0604020202020204" pitchFamily="34" charset="0"/>
              </a:rPr>
              <a:t>Preserves forensic evidence for RCA and compliance.</a:t>
            </a:r>
          </a:p>
          <a:p>
            <a:pPr lvl="0" eaLnBrk="0" fontAlgn="base" hangingPunct="0">
              <a:spcBef>
                <a:spcPct val="0"/>
              </a:spcBef>
              <a:spcAft>
                <a:spcPct val="0"/>
              </a:spcAft>
              <a:buClrTx/>
              <a:buFontTx/>
              <a:buChar char="•"/>
            </a:pPr>
            <a:r>
              <a:rPr lang="en-US" altLang="en-US" sz="2800" dirty="0">
                <a:solidFill>
                  <a:schemeClr val="tx1"/>
                </a:solidFill>
                <a:latin typeface="Arial" panose="020B0604020202020204" pitchFamily="34" charset="0"/>
              </a:rPr>
              <a:t>Reduces downtime, increases user awareness, and strengthens email filtering rules.</a:t>
            </a:r>
          </a:p>
          <a:p>
            <a:pPr lvl="0" eaLnBrk="0" fontAlgn="base" hangingPunct="0">
              <a:spcBef>
                <a:spcPct val="0"/>
              </a:spcBef>
              <a:spcAft>
                <a:spcPct val="0"/>
              </a:spcAft>
              <a:buClrTx/>
              <a:buFontTx/>
              <a:buChar char="•"/>
            </a:pPr>
            <a:r>
              <a:rPr lang="en-US" altLang="en-US" sz="2800" dirty="0">
                <a:solidFill>
                  <a:schemeClr val="tx1"/>
                </a:solidFill>
                <a:latin typeface="Arial" panose="020B0604020202020204" pitchFamily="34" charset="0"/>
              </a:rPr>
              <a:t>Improves detection accuracy with SIEM + EDR integration.</a:t>
            </a:r>
          </a:p>
          <a:p>
            <a:pPr lvl="0" eaLnBrk="0" fontAlgn="base" hangingPunct="0">
              <a:spcBef>
                <a:spcPct val="0"/>
              </a:spcBef>
              <a:spcAft>
                <a:spcPct val="0"/>
              </a:spcAft>
              <a:buClrTx/>
            </a:pPr>
            <a:endParaRPr lang="en-US" altLang="en-US" sz="2000" b="1" i="1" dirty="0">
              <a:solidFill>
                <a:schemeClr val="tx1"/>
              </a:solidFill>
              <a:latin typeface="Arial" panose="020B0604020202020204" pitchFamily="34" charset="0"/>
            </a:endParaRPr>
          </a:p>
          <a:p>
            <a:pPr eaLnBrk="0" fontAlgn="base" hangingPunct="0">
              <a:spcBef>
                <a:spcPct val="0"/>
              </a:spcBef>
              <a:spcAft>
                <a:spcPct val="0"/>
              </a:spcAft>
              <a:buClrTx/>
            </a:pPr>
            <a:r>
              <a:rPr lang="en-US" altLang="en-US" sz="2000" b="1" i="1" dirty="0">
                <a:solidFill>
                  <a:schemeClr val="tx1"/>
                </a:solidFill>
                <a:latin typeface="Arial" panose="020B0604020202020204" pitchFamily="34" charset="0"/>
              </a:rPr>
              <a:t>Reference:</a:t>
            </a:r>
            <a:r>
              <a:rPr lang="en-US" altLang="en-US" sz="2000" i="1" dirty="0">
                <a:solidFill>
                  <a:schemeClr val="tx1"/>
                </a:solidFill>
                <a:latin typeface="Arial" panose="020B0604020202020204" pitchFamily="34" charset="0"/>
              </a:rPr>
              <a:t> 1.3 IR </a:t>
            </a:r>
            <a:r>
              <a:rPr lang="en-US" sz="2000" i="1" dirty="0">
                <a:solidFill>
                  <a:schemeClr val="tx1"/>
                </a:solidFill>
                <a:latin typeface="Arial" panose="020B0604020202020204" pitchFamily="34" charset="0"/>
              </a:rPr>
              <a:t>Phishing to Malware </a:t>
            </a:r>
            <a:r>
              <a:rPr lang="en-US" altLang="en-US" sz="2000" i="1" dirty="0">
                <a:solidFill>
                  <a:schemeClr val="tx1"/>
                </a:solidFill>
                <a:latin typeface="Arial" panose="020B0604020202020204" pitchFamily="34" charset="0"/>
              </a:rPr>
              <a:t>full doc on google drive</a:t>
            </a:r>
          </a:p>
          <a:p>
            <a:endParaRPr lang="en-US" sz="3200" b="1" dirty="0"/>
          </a:p>
        </p:txBody>
      </p:sp>
    </p:spTree>
    <p:extLst>
      <p:ext uri="{BB962C8B-B14F-4D97-AF65-F5344CB8AC3E}">
        <p14:creationId xmlns:p14="http://schemas.microsoft.com/office/powerpoint/2010/main" val="35483277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6"/>
          <p:cNvSpPr/>
          <p:nvPr/>
        </p:nvSpPr>
        <p:spPr>
          <a:xfrm>
            <a:off x="-39756" y="-25341"/>
            <a:ext cx="10067365" cy="488589"/>
          </a:xfrm>
          <a:prstGeom prst="rect">
            <a:avLst/>
          </a:prstGeom>
          <a:solidFill>
            <a:srgbClr val="FE4A5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a:solidFill>
                  <a:schemeClr val="lt1"/>
                </a:solidFill>
                <a:latin typeface="Calibri"/>
                <a:ea typeface="Calibri"/>
                <a:cs typeface="Calibri"/>
                <a:sym typeface="Calibri"/>
              </a:rPr>
              <a:t>CAPSTONE PROJECT</a:t>
            </a:r>
            <a:endParaRPr sz="1400" b="0" i="0" u="none" strike="noStrike" cap="none">
              <a:solidFill>
                <a:srgbClr val="000000"/>
              </a:solidFill>
              <a:latin typeface="Arial"/>
              <a:ea typeface="Arial"/>
              <a:cs typeface="Arial"/>
              <a:sym typeface="Arial"/>
            </a:endParaRPr>
          </a:p>
        </p:txBody>
      </p:sp>
      <p:pic>
        <p:nvPicPr>
          <p:cNvPr id="140" name="Google Shape;140;p6"/>
          <p:cNvPicPr preferRelativeResize="0"/>
          <p:nvPr/>
        </p:nvPicPr>
        <p:blipFill rotWithShape="1">
          <a:blip r:embed="rId3">
            <a:alphaModFix/>
          </a:blip>
          <a:srcRect/>
          <a:stretch/>
        </p:blipFill>
        <p:spPr>
          <a:xfrm>
            <a:off x="10206443" y="0"/>
            <a:ext cx="1886945" cy="502031"/>
          </a:xfrm>
          <a:prstGeom prst="rect">
            <a:avLst/>
          </a:prstGeom>
          <a:noFill/>
          <a:ln>
            <a:noFill/>
          </a:ln>
        </p:spPr>
      </p:pic>
      <p:sp>
        <p:nvSpPr>
          <p:cNvPr id="141" name="Google Shape;141;p6"/>
          <p:cNvSpPr/>
          <p:nvPr/>
        </p:nvSpPr>
        <p:spPr>
          <a:xfrm>
            <a:off x="-3" y="528340"/>
            <a:ext cx="10067365" cy="161941"/>
          </a:xfrm>
          <a:prstGeom prst="rect">
            <a:avLst/>
          </a:prstGeom>
          <a:solidFill>
            <a:schemeClr val="dk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42" name="Google Shape;142;p6"/>
          <p:cNvSpPr txBox="1"/>
          <p:nvPr/>
        </p:nvSpPr>
        <p:spPr>
          <a:xfrm>
            <a:off x="1138518" y="6472519"/>
            <a:ext cx="760207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1" u="none" strike="noStrike" cap="none" dirty="0">
                <a:solidFill>
                  <a:schemeClr val="dk1"/>
                </a:solidFill>
                <a:latin typeface="Calibri"/>
                <a:ea typeface="Calibri"/>
                <a:cs typeface="Calibri"/>
                <a:sym typeface="Calibri"/>
              </a:rPr>
              <a:t>Disclaimer: This training material belongs to </a:t>
            </a:r>
            <a:r>
              <a:rPr lang="en-US" sz="1800" b="0" i="1" u="none" strike="noStrike" cap="none" dirty="0" err="1">
                <a:solidFill>
                  <a:schemeClr val="dk1"/>
                </a:solidFill>
                <a:latin typeface="Calibri"/>
                <a:ea typeface="Calibri"/>
                <a:cs typeface="Calibri"/>
                <a:sym typeface="Calibri"/>
              </a:rPr>
              <a:t>techcrush</a:t>
            </a:r>
            <a:r>
              <a:rPr lang="en-US" sz="1800" b="0" i="1" u="none" strike="noStrike" cap="none" dirty="0">
                <a:solidFill>
                  <a:schemeClr val="dk1"/>
                </a:solidFill>
                <a:latin typeface="Calibri"/>
                <a:ea typeface="Calibri"/>
                <a:cs typeface="Calibri"/>
                <a:sym typeface="Calibri"/>
              </a:rPr>
              <a:t> and shouldn’t be shared</a:t>
            </a:r>
            <a:endParaRPr sz="1400" b="0" i="0" u="none" strike="noStrike" cap="none" dirty="0">
              <a:solidFill>
                <a:srgbClr val="000000"/>
              </a:solidFill>
              <a:latin typeface="Arial"/>
              <a:ea typeface="Arial"/>
              <a:cs typeface="Arial"/>
              <a:sym typeface="Arial"/>
            </a:endParaRPr>
          </a:p>
        </p:txBody>
      </p:sp>
      <p:pic>
        <p:nvPicPr>
          <p:cNvPr id="143" name="Google Shape;143;p6"/>
          <p:cNvPicPr preferRelativeResize="0"/>
          <p:nvPr/>
        </p:nvPicPr>
        <p:blipFill rotWithShape="1">
          <a:blip r:embed="rId3">
            <a:alphaModFix amt="26000"/>
          </a:blip>
          <a:srcRect/>
          <a:stretch/>
        </p:blipFill>
        <p:spPr>
          <a:xfrm>
            <a:off x="825004" y="1951993"/>
            <a:ext cx="10541991" cy="2804748"/>
          </a:xfrm>
          <a:prstGeom prst="rect">
            <a:avLst/>
          </a:prstGeom>
          <a:noFill/>
          <a:ln>
            <a:noFill/>
          </a:ln>
          <a:effectLst>
            <a:outerShdw dist="50800" sx="1000" sy="1000" algn="ctr" rotWithShape="0">
              <a:srgbClr val="000000"/>
            </a:outerShdw>
          </a:effectLst>
        </p:spPr>
      </p:pic>
      <p:pic>
        <p:nvPicPr>
          <p:cNvPr id="144" name="Google Shape;144;p6"/>
          <p:cNvPicPr preferRelativeResize="0"/>
          <p:nvPr/>
        </p:nvPicPr>
        <p:blipFill rotWithShape="1">
          <a:blip r:embed="rId4">
            <a:alphaModFix/>
          </a:blip>
          <a:srcRect/>
          <a:stretch/>
        </p:blipFill>
        <p:spPr>
          <a:xfrm>
            <a:off x="8646453" y="1232642"/>
            <a:ext cx="502028" cy="502028"/>
          </a:xfrm>
          <a:prstGeom prst="rect">
            <a:avLst/>
          </a:prstGeom>
          <a:noFill/>
          <a:ln>
            <a:noFill/>
          </a:ln>
        </p:spPr>
      </p:pic>
      <p:pic>
        <p:nvPicPr>
          <p:cNvPr id="5" name="Picture 4" descr="A screen shot of a computer">
            <a:extLst>
              <a:ext uri="{FF2B5EF4-FFF2-40B4-BE49-F238E27FC236}">
                <a16:creationId xmlns:a16="http://schemas.microsoft.com/office/drawing/2014/main" id="{4D16BD4E-392E-DCD1-46C2-3E3188999D50}"/>
              </a:ext>
            </a:extLst>
          </p:cNvPr>
          <p:cNvPicPr>
            <a:picLocks noChangeAspect="1"/>
          </p:cNvPicPr>
          <p:nvPr/>
        </p:nvPicPr>
        <p:blipFill>
          <a:blip r:embed="rId5"/>
          <a:stretch>
            <a:fillRect/>
          </a:stretch>
        </p:blipFill>
        <p:spPr>
          <a:xfrm>
            <a:off x="377406" y="755373"/>
            <a:ext cx="11269162" cy="5464841"/>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8930FDEE-E4CC-25E3-796D-4953A72A441F}"/>
            </a:ext>
          </a:extLst>
        </p:cNvPr>
        <p:cNvGrpSpPr/>
        <p:nvPr/>
      </p:nvGrpSpPr>
      <p:grpSpPr>
        <a:xfrm>
          <a:off x="0" y="0"/>
          <a:ext cx="0" cy="0"/>
          <a:chOff x="0" y="0"/>
          <a:chExt cx="0" cy="0"/>
        </a:xfrm>
      </p:grpSpPr>
      <p:sp>
        <p:nvSpPr>
          <p:cNvPr id="139" name="Google Shape;139;p6">
            <a:extLst>
              <a:ext uri="{FF2B5EF4-FFF2-40B4-BE49-F238E27FC236}">
                <a16:creationId xmlns:a16="http://schemas.microsoft.com/office/drawing/2014/main" id="{E225B7BA-39F3-A8E1-E3DC-8A7515F4AD72}"/>
              </a:ext>
            </a:extLst>
          </p:cNvPr>
          <p:cNvSpPr/>
          <p:nvPr/>
        </p:nvSpPr>
        <p:spPr>
          <a:xfrm>
            <a:off x="-39756" y="-25341"/>
            <a:ext cx="10067365" cy="488589"/>
          </a:xfrm>
          <a:prstGeom prst="rect">
            <a:avLst/>
          </a:prstGeom>
          <a:solidFill>
            <a:srgbClr val="FE4A5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a:solidFill>
                  <a:schemeClr val="lt1"/>
                </a:solidFill>
                <a:latin typeface="Calibri"/>
                <a:ea typeface="Calibri"/>
                <a:cs typeface="Calibri"/>
                <a:sym typeface="Calibri"/>
              </a:rPr>
              <a:t>CAPSTONE PROJECT</a:t>
            </a:r>
            <a:endParaRPr sz="1400" b="0" i="0" u="none" strike="noStrike" cap="none">
              <a:solidFill>
                <a:srgbClr val="000000"/>
              </a:solidFill>
              <a:latin typeface="Arial"/>
              <a:ea typeface="Arial"/>
              <a:cs typeface="Arial"/>
              <a:sym typeface="Arial"/>
            </a:endParaRPr>
          </a:p>
        </p:txBody>
      </p:sp>
      <p:pic>
        <p:nvPicPr>
          <p:cNvPr id="140" name="Google Shape;140;p6">
            <a:extLst>
              <a:ext uri="{FF2B5EF4-FFF2-40B4-BE49-F238E27FC236}">
                <a16:creationId xmlns:a16="http://schemas.microsoft.com/office/drawing/2014/main" id="{40FABD90-CF3E-6648-471E-E24F9A4C066A}"/>
              </a:ext>
            </a:extLst>
          </p:cNvPr>
          <p:cNvPicPr preferRelativeResize="0"/>
          <p:nvPr/>
        </p:nvPicPr>
        <p:blipFill rotWithShape="1">
          <a:blip r:embed="rId3">
            <a:alphaModFix/>
          </a:blip>
          <a:srcRect/>
          <a:stretch/>
        </p:blipFill>
        <p:spPr>
          <a:xfrm>
            <a:off x="10206443" y="0"/>
            <a:ext cx="1886945" cy="502031"/>
          </a:xfrm>
          <a:prstGeom prst="rect">
            <a:avLst/>
          </a:prstGeom>
          <a:noFill/>
          <a:ln>
            <a:noFill/>
          </a:ln>
        </p:spPr>
      </p:pic>
      <p:sp>
        <p:nvSpPr>
          <p:cNvPr id="141" name="Google Shape;141;p6">
            <a:extLst>
              <a:ext uri="{FF2B5EF4-FFF2-40B4-BE49-F238E27FC236}">
                <a16:creationId xmlns:a16="http://schemas.microsoft.com/office/drawing/2014/main" id="{D25C9BDC-735A-A597-9771-546A9F5F9CEB}"/>
              </a:ext>
            </a:extLst>
          </p:cNvPr>
          <p:cNvSpPr/>
          <p:nvPr/>
        </p:nvSpPr>
        <p:spPr>
          <a:xfrm>
            <a:off x="-3" y="528340"/>
            <a:ext cx="10067365" cy="161941"/>
          </a:xfrm>
          <a:prstGeom prst="rect">
            <a:avLst/>
          </a:prstGeom>
          <a:solidFill>
            <a:schemeClr val="dk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42" name="Google Shape;142;p6">
            <a:extLst>
              <a:ext uri="{FF2B5EF4-FFF2-40B4-BE49-F238E27FC236}">
                <a16:creationId xmlns:a16="http://schemas.microsoft.com/office/drawing/2014/main" id="{01EFA050-F5FD-8A93-322F-96C0B2A4349C}"/>
              </a:ext>
            </a:extLst>
          </p:cNvPr>
          <p:cNvSpPr txBox="1"/>
          <p:nvPr/>
        </p:nvSpPr>
        <p:spPr>
          <a:xfrm>
            <a:off x="1138518" y="6472519"/>
            <a:ext cx="760207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1" u="none" strike="noStrike" cap="none" dirty="0">
                <a:solidFill>
                  <a:schemeClr val="dk1"/>
                </a:solidFill>
                <a:latin typeface="Calibri"/>
                <a:ea typeface="Calibri"/>
                <a:cs typeface="Calibri"/>
                <a:sym typeface="Calibri"/>
              </a:rPr>
              <a:t>Disclaimer: This training material belongs to </a:t>
            </a:r>
            <a:r>
              <a:rPr lang="en-US" sz="1800" b="0" i="1" u="none" strike="noStrike" cap="none" dirty="0" err="1">
                <a:solidFill>
                  <a:schemeClr val="dk1"/>
                </a:solidFill>
                <a:latin typeface="Calibri"/>
                <a:ea typeface="Calibri"/>
                <a:cs typeface="Calibri"/>
                <a:sym typeface="Calibri"/>
              </a:rPr>
              <a:t>techcrush</a:t>
            </a:r>
            <a:r>
              <a:rPr lang="en-US" sz="1800" b="0" i="1" u="none" strike="noStrike" cap="none" dirty="0">
                <a:solidFill>
                  <a:schemeClr val="dk1"/>
                </a:solidFill>
                <a:latin typeface="Calibri"/>
                <a:ea typeface="Calibri"/>
                <a:cs typeface="Calibri"/>
                <a:sym typeface="Calibri"/>
              </a:rPr>
              <a:t> and shouldn’t be shared</a:t>
            </a:r>
            <a:endParaRPr sz="1400" b="0" i="0" u="none" strike="noStrike" cap="none" dirty="0">
              <a:solidFill>
                <a:srgbClr val="000000"/>
              </a:solidFill>
              <a:latin typeface="Arial"/>
              <a:ea typeface="Arial"/>
              <a:cs typeface="Arial"/>
              <a:sym typeface="Arial"/>
            </a:endParaRPr>
          </a:p>
        </p:txBody>
      </p:sp>
      <p:pic>
        <p:nvPicPr>
          <p:cNvPr id="143" name="Google Shape;143;p6">
            <a:extLst>
              <a:ext uri="{FF2B5EF4-FFF2-40B4-BE49-F238E27FC236}">
                <a16:creationId xmlns:a16="http://schemas.microsoft.com/office/drawing/2014/main" id="{94974687-1611-34C1-6C49-72E4BCEC05FF}"/>
              </a:ext>
            </a:extLst>
          </p:cNvPr>
          <p:cNvPicPr preferRelativeResize="0"/>
          <p:nvPr/>
        </p:nvPicPr>
        <p:blipFill rotWithShape="1">
          <a:blip r:embed="rId3">
            <a:alphaModFix amt="26000"/>
          </a:blip>
          <a:srcRect/>
          <a:stretch/>
        </p:blipFill>
        <p:spPr>
          <a:xfrm>
            <a:off x="825004" y="1951993"/>
            <a:ext cx="10541991" cy="2804748"/>
          </a:xfrm>
          <a:prstGeom prst="rect">
            <a:avLst/>
          </a:prstGeom>
          <a:noFill/>
          <a:ln>
            <a:noFill/>
          </a:ln>
          <a:effectLst>
            <a:outerShdw dist="50800" sx="1000" sy="1000" algn="ctr" rotWithShape="0">
              <a:srgbClr val="000000"/>
            </a:outerShdw>
          </a:effectLst>
        </p:spPr>
      </p:pic>
      <p:pic>
        <p:nvPicPr>
          <p:cNvPr id="144" name="Google Shape;144;p6">
            <a:extLst>
              <a:ext uri="{FF2B5EF4-FFF2-40B4-BE49-F238E27FC236}">
                <a16:creationId xmlns:a16="http://schemas.microsoft.com/office/drawing/2014/main" id="{62D91572-E269-1A57-CF77-F789F9E737A3}"/>
              </a:ext>
            </a:extLst>
          </p:cNvPr>
          <p:cNvPicPr preferRelativeResize="0"/>
          <p:nvPr/>
        </p:nvPicPr>
        <p:blipFill rotWithShape="1">
          <a:blip r:embed="rId4">
            <a:alphaModFix/>
          </a:blip>
          <a:srcRect/>
          <a:stretch/>
        </p:blipFill>
        <p:spPr>
          <a:xfrm>
            <a:off x="8646453" y="1232642"/>
            <a:ext cx="502028" cy="502028"/>
          </a:xfrm>
          <a:prstGeom prst="rect">
            <a:avLst/>
          </a:prstGeom>
          <a:noFill/>
          <a:ln>
            <a:noFill/>
          </a:ln>
        </p:spPr>
      </p:pic>
      <p:sp>
        <p:nvSpPr>
          <p:cNvPr id="145" name="Google Shape;145;p6">
            <a:extLst>
              <a:ext uri="{FF2B5EF4-FFF2-40B4-BE49-F238E27FC236}">
                <a16:creationId xmlns:a16="http://schemas.microsoft.com/office/drawing/2014/main" id="{CB408DD4-5E81-0210-F937-A1FB67639357}"/>
              </a:ext>
            </a:extLst>
          </p:cNvPr>
          <p:cNvSpPr txBox="1"/>
          <p:nvPr/>
        </p:nvSpPr>
        <p:spPr>
          <a:xfrm>
            <a:off x="0" y="999170"/>
            <a:ext cx="11748053" cy="870967"/>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Clr>
                <a:srgbClr val="000000"/>
              </a:buClr>
              <a:buSzPts val="2800"/>
              <a:buFont typeface="Arial"/>
              <a:buNone/>
            </a:pPr>
            <a:r>
              <a:rPr lang="en-US" sz="4400" b="1" i="0" u="none" strike="noStrike" cap="none" dirty="0">
                <a:solidFill>
                  <a:schemeClr val="dk1"/>
                </a:solidFill>
                <a:latin typeface="Arial"/>
                <a:ea typeface="Arial"/>
                <a:cs typeface="Arial"/>
                <a:sym typeface="Arial"/>
              </a:rPr>
              <a:t>Overall Benefits of Playbooks</a:t>
            </a:r>
            <a:r>
              <a:rPr lang="en-US" sz="2800" b="1" i="0" u="none" strike="noStrike" cap="none" dirty="0">
                <a:solidFill>
                  <a:schemeClr val="dk1"/>
                </a:solidFill>
                <a:latin typeface="Arial"/>
                <a:ea typeface="Arial"/>
                <a:cs typeface="Arial"/>
                <a:sym typeface="Arial"/>
              </a:rPr>
              <a:t> </a:t>
            </a:r>
            <a:endParaRPr sz="2800" b="0" i="0" u="none" strike="noStrike" cap="none" dirty="0">
              <a:solidFill>
                <a:schemeClr val="dk1"/>
              </a:solidFill>
              <a:latin typeface="Arial"/>
              <a:ea typeface="Arial"/>
              <a:cs typeface="Arial"/>
              <a:sym typeface="Arial"/>
            </a:endParaRPr>
          </a:p>
        </p:txBody>
      </p:sp>
      <p:sp>
        <p:nvSpPr>
          <p:cNvPr id="3" name="TextBox 2">
            <a:extLst>
              <a:ext uri="{FF2B5EF4-FFF2-40B4-BE49-F238E27FC236}">
                <a16:creationId xmlns:a16="http://schemas.microsoft.com/office/drawing/2014/main" id="{53113410-EDFD-8C17-5236-152C01F824D1}"/>
              </a:ext>
            </a:extLst>
          </p:cNvPr>
          <p:cNvSpPr txBox="1"/>
          <p:nvPr/>
        </p:nvSpPr>
        <p:spPr>
          <a:xfrm>
            <a:off x="334615" y="2179026"/>
            <a:ext cx="11522767" cy="3908762"/>
          </a:xfrm>
          <a:prstGeom prst="rect">
            <a:avLst/>
          </a:prstGeom>
          <a:noFill/>
        </p:spPr>
        <p:txBody>
          <a:bodyPr wrap="square">
            <a:spAutoFit/>
          </a:bodyPr>
          <a:lstStyle/>
          <a:p>
            <a:pPr>
              <a:buNone/>
            </a:pPr>
            <a:r>
              <a:rPr lang="en-US" sz="2400" dirty="0"/>
              <a:t>1. </a:t>
            </a:r>
            <a:r>
              <a:rPr lang="en-US" sz="2800" dirty="0"/>
              <a:t>Time saving: 50% time on detection, 60% on containment &amp; 40% on recovery.</a:t>
            </a:r>
          </a:p>
          <a:p>
            <a:pPr>
              <a:buNone/>
            </a:pPr>
            <a:r>
              <a:rPr lang="en-US" sz="2800" dirty="0"/>
              <a:t>2. Staff knows what to do, Customer has more confidence in organization, management has visibility.</a:t>
            </a:r>
          </a:p>
          <a:p>
            <a:pPr>
              <a:buNone/>
            </a:pPr>
            <a:r>
              <a:rPr lang="en-US" sz="2800" dirty="0"/>
              <a:t>There is cost savings: less downtime, few repeat attacks.</a:t>
            </a:r>
          </a:p>
          <a:p>
            <a:r>
              <a:rPr lang="en-US" sz="2800" dirty="0"/>
              <a:t>CONTINUOUS IMPROVEMENT:</a:t>
            </a:r>
          </a:p>
          <a:p>
            <a:r>
              <a:rPr lang="en-US" sz="2800" dirty="0"/>
              <a:t>3. Learn from every incident, update defenses, stay ahead of hackers.</a:t>
            </a:r>
          </a:p>
          <a:p>
            <a:pPr>
              <a:buNone/>
            </a:pPr>
            <a:endParaRPr lang="en-US" sz="2800" dirty="0"/>
          </a:p>
          <a:p>
            <a:pPr>
              <a:buNone/>
            </a:pPr>
            <a:endParaRPr lang="en-US" sz="2400" dirty="0"/>
          </a:p>
        </p:txBody>
      </p:sp>
    </p:spTree>
    <p:extLst>
      <p:ext uri="{BB962C8B-B14F-4D97-AF65-F5344CB8AC3E}">
        <p14:creationId xmlns:p14="http://schemas.microsoft.com/office/powerpoint/2010/main" val="24931820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1667137E-FFA2-9C64-3A83-D243B7892430}"/>
            </a:ext>
          </a:extLst>
        </p:cNvPr>
        <p:cNvGrpSpPr/>
        <p:nvPr/>
      </p:nvGrpSpPr>
      <p:grpSpPr>
        <a:xfrm>
          <a:off x="0" y="0"/>
          <a:ext cx="0" cy="0"/>
          <a:chOff x="0" y="0"/>
          <a:chExt cx="0" cy="0"/>
        </a:xfrm>
      </p:grpSpPr>
      <p:sp>
        <p:nvSpPr>
          <p:cNvPr id="139" name="Google Shape;139;p6">
            <a:extLst>
              <a:ext uri="{FF2B5EF4-FFF2-40B4-BE49-F238E27FC236}">
                <a16:creationId xmlns:a16="http://schemas.microsoft.com/office/drawing/2014/main" id="{7217561D-8721-8611-3604-64F435EA60FE}"/>
              </a:ext>
            </a:extLst>
          </p:cNvPr>
          <p:cNvSpPr/>
          <p:nvPr/>
        </p:nvSpPr>
        <p:spPr>
          <a:xfrm>
            <a:off x="-39756" y="-25341"/>
            <a:ext cx="10067365" cy="488589"/>
          </a:xfrm>
          <a:prstGeom prst="rect">
            <a:avLst/>
          </a:prstGeom>
          <a:solidFill>
            <a:srgbClr val="FE4A5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a:solidFill>
                  <a:schemeClr val="lt1"/>
                </a:solidFill>
                <a:latin typeface="Calibri"/>
                <a:ea typeface="Calibri"/>
                <a:cs typeface="Calibri"/>
                <a:sym typeface="Calibri"/>
              </a:rPr>
              <a:t>CAPSTONE PROJECT</a:t>
            </a:r>
            <a:endParaRPr sz="1400" b="0" i="0" u="none" strike="noStrike" cap="none">
              <a:solidFill>
                <a:srgbClr val="000000"/>
              </a:solidFill>
              <a:latin typeface="Arial"/>
              <a:ea typeface="Arial"/>
              <a:cs typeface="Arial"/>
              <a:sym typeface="Arial"/>
            </a:endParaRPr>
          </a:p>
        </p:txBody>
      </p:sp>
      <p:pic>
        <p:nvPicPr>
          <p:cNvPr id="140" name="Google Shape;140;p6">
            <a:extLst>
              <a:ext uri="{FF2B5EF4-FFF2-40B4-BE49-F238E27FC236}">
                <a16:creationId xmlns:a16="http://schemas.microsoft.com/office/drawing/2014/main" id="{2683805D-94C8-A537-D87F-B566EDDF9B3F}"/>
              </a:ext>
            </a:extLst>
          </p:cNvPr>
          <p:cNvPicPr preferRelativeResize="0"/>
          <p:nvPr/>
        </p:nvPicPr>
        <p:blipFill rotWithShape="1">
          <a:blip r:embed="rId3">
            <a:alphaModFix/>
          </a:blip>
          <a:srcRect/>
          <a:stretch/>
        </p:blipFill>
        <p:spPr>
          <a:xfrm>
            <a:off x="10206443" y="0"/>
            <a:ext cx="1886945" cy="502031"/>
          </a:xfrm>
          <a:prstGeom prst="rect">
            <a:avLst/>
          </a:prstGeom>
          <a:noFill/>
          <a:ln>
            <a:noFill/>
          </a:ln>
        </p:spPr>
      </p:pic>
      <p:sp>
        <p:nvSpPr>
          <p:cNvPr id="141" name="Google Shape;141;p6">
            <a:extLst>
              <a:ext uri="{FF2B5EF4-FFF2-40B4-BE49-F238E27FC236}">
                <a16:creationId xmlns:a16="http://schemas.microsoft.com/office/drawing/2014/main" id="{A7689859-1EED-47FC-5305-5C2731A140EB}"/>
              </a:ext>
            </a:extLst>
          </p:cNvPr>
          <p:cNvSpPr/>
          <p:nvPr/>
        </p:nvSpPr>
        <p:spPr>
          <a:xfrm>
            <a:off x="-3" y="528340"/>
            <a:ext cx="10067365" cy="161941"/>
          </a:xfrm>
          <a:prstGeom prst="rect">
            <a:avLst/>
          </a:prstGeom>
          <a:solidFill>
            <a:schemeClr val="dk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42" name="Google Shape;142;p6">
            <a:extLst>
              <a:ext uri="{FF2B5EF4-FFF2-40B4-BE49-F238E27FC236}">
                <a16:creationId xmlns:a16="http://schemas.microsoft.com/office/drawing/2014/main" id="{9BED11B0-FB3C-0D87-9DB1-D6093AD7E787}"/>
              </a:ext>
            </a:extLst>
          </p:cNvPr>
          <p:cNvSpPr txBox="1"/>
          <p:nvPr/>
        </p:nvSpPr>
        <p:spPr>
          <a:xfrm>
            <a:off x="1138518" y="6472519"/>
            <a:ext cx="760207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1" u="none" strike="noStrike" cap="none" dirty="0">
                <a:solidFill>
                  <a:schemeClr val="dk1"/>
                </a:solidFill>
                <a:latin typeface="Calibri"/>
                <a:ea typeface="Calibri"/>
                <a:cs typeface="Calibri"/>
                <a:sym typeface="Calibri"/>
              </a:rPr>
              <a:t>Disclaimer: This training material belongs to </a:t>
            </a:r>
            <a:r>
              <a:rPr lang="en-US" sz="1800" b="0" i="1" u="none" strike="noStrike" cap="none" dirty="0" err="1">
                <a:solidFill>
                  <a:schemeClr val="dk1"/>
                </a:solidFill>
                <a:latin typeface="Calibri"/>
                <a:ea typeface="Calibri"/>
                <a:cs typeface="Calibri"/>
                <a:sym typeface="Calibri"/>
              </a:rPr>
              <a:t>techcrush</a:t>
            </a:r>
            <a:r>
              <a:rPr lang="en-US" sz="1800" b="0" i="1" u="none" strike="noStrike" cap="none" dirty="0">
                <a:solidFill>
                  <a:schemeClr val="dk1"/>
                </a:solidFill>
                <a:latin typeface="Calibri"/>
                <a:ea typeface="Calibri"/>
                <a:cs typeface="Calibri"/>
                <a:sym typeface="Calibri"/>
              </a:rPr>
              <a:t> and shouldn’t be shared</a:t>
            </a:r>
            <a:endParaRPr sz="1400" b="0" i="0" u="none" strike="noStrike" cap="none" dirty="0">
              <a:solidFill>
                <a:srgbClr val="000000"/>
              </a:solidFill>
              <a:latin typeface="Arial"/>
              <a:ea typeface="Arial"/>
              <a:cs typeface="Arial"/>
              <a:sym typeface="Arial"/>
            </a:endParaRPr>
          </a:p>
        </p:txBody>
      </p:sp>
      <p:pic>
        <p:nvPicPr>
          <p:cNvPr id="143" name="Google Shape;143;p6">
            <a:extLst>
              <a:ext uri="{FF2B5EF4-FFF2-40B4-BE49-F238E27FC236}">
                <a16:creationId xmlns:a16="http://schemas.microsoft.com/office/drawing/2014/main" id="{B98180F9-BFEA-F223-80E2-AAE566D71999}"/>
              </a:ext>
            </a:extLst>
          </p:cNvPr>
          <p:cNvPicPr preferRelativeResize="0"/>
          <p:nvPr/>
        </p:nvPicPr>
        <p:blipFill rotWithShape="1">
          <a:blip r:embed="rId3">
            <a:alphaModFix amt="26000"/>
          </a:blip>
          <a:srcRect/>
          <a:stretch/>
        </p:blipFill>
        <p:spPr>
          <a:xfrm>
            <a:off x="825004" y="1951993"/>
            <a:ext cx="10541991" cy="2804748"/>
          </a:xfrm>
          <a:prstGeom prst="rect">
            <a:avLst/>
          </a:prstGeom>
          <a:noFill/>
          <a:ln>
            <a:noFill/>
          </a:ln>
          <a:effectLst>
            <a:outerShdw dist="50800" sx="1000" sy="1000" algn="ctr" rotWithShape="0">
              <a:srgbClr val="000000"/>
            </a:outerShdw>
          </a:effectLst>
        </p:spPr>
      </p:pic>
      <p:pic>
        <p:nvPicPr>
          <p:cNvPr id="144" name="Google Shape;144;p6">
            <a:extLst>
              <a:ext uri="{FF2B5EF4-FFF2-40B4-BE49-F238E27FC236}">
                <a16:creationId xmlns:a16="http://schemas.microsoft.com/office/drawing/2014/main" id="{CBD4DB72-5550-C40B-BCBF-F837264208BA}"/>
              </a:ext>
            </a:extLst>
          </p:cNvPr>
          <p:cNvPicPr preferRelativeResize="0"/>
          <p:nvPr/>
        </p:nvPicPr>
        <p:blipFill rotWithShape="1">
          <a:blip r:embed="rId4">
            <a:alphaModFix/>
          </a:blip>
          <a:srcRect/>
          <a:stretch/>
        </p:blipFill>
        <p:spPr>
          <a:xfrm>
            <a:off x="8646453" y="1232642"/>
            <a:ext cx="502028" cy="502028"/>
          </a:xfrm>
          <a:prstGeom prst="rect">
            <a:avLst/>
          </a:prstGeom>
          <a:noFill/>
          <a:ln>
            <a:noFill/>
          </a:ln>
        </p:spPr>
      </p:pic>
      <p:sp>
        <p:nvSpPr>
          <p:cNvPr id="145" name="Google Shape;145;p6">
            <a:extLst>
              <a:ext uri="{FF2B5EF4-FFF2-40B4-BE49-F238E27FC236}">
                <a16:creationId xmlns:a16="http://schemas.microsoft.com/office/drawing/2014/main" id="{60BA4B0F-0301-BB90-9E72-B6543569208F}"/>
              </a:ext>
            </a:extLst>
          </p:cNvPr>
          <p:cNvSpPr txBox="1"/>
          <p:nvPr/>
        </p:nvSpPr>
        <p:spPr>
          <a:xfrm>
            <a:off x="10807" y="863703"/>
            <a:ext cx="11748053" cy="870967"/>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Clr>
                <a:srgbClr val="000000"/>
              </a:buClr>
              <a:buSzPts val="2800"/>
              <a:buFont typeface="Arial"/>
              <a:buNone/>
            </a:pPr>
            <a:r>
              <a:rPr lang="en-US" sz="4400" b="1" i="0" u="none" strike="noStrike" cap="none" dirty="0">
                <a:solidFill>
                  <a:schemeClr val="dk1"/>
                </a:solidFill>
                <a:latin typeface="Arial"/>
                <a:ea typeface="Arial"/>
                <a:cs typeface="Arial"/>
                <a:sym typeface="Arial"/>
              </a:rPr>
              <a:t>Conclusion</a:t>
            </a:r>
            <a:r>
              <a:rPr lang="en-US" sz="2800" b="1" i="0" u="none" strike="noStrike" cap="none" dirty="0">
                <a:solidFill>
                  <a:schemeClr val="dk1"/>
                </a:solidFill>
                <a:latin typeface="Arial"/>
                <a:ea typeface="Arial"/>
                <a:cs typeface="Arial"/>
                <a:sym typeface="Arial"/>
              </a:rPr>
              <a:t> </a:t>
            </a:r>
            <a:endParaRPr sz="2800" b="0" i="0" u="none" strike="noStrike" cap="none" dirty="0">
              <a:solidFill>
                <a:schemeClr val="dk1"/>
              </a:solidFill>
              <a:latin typeface="Arial"/>
              <a:ea typeface="Arial"/>
              <a:cs typeface="Arial"/>
              <a:sym typeface="Arial"/>
            </a:endParaRPr>
          </a:p>
        </p:txBody>
      </p:sp>
      <p:sp>
        <p:nvSpPr>
          <p:cNvPr id="3" name="TextBox 2">
            <a:extLst>
              <a:ext uri="{FF2B5EF4-FFF2-40B4-BE49-F238E27FC236}">
                <a16:creationId xmlns:a16="http://schemas.microsoft.com/office/drawing/2014/main" id="{266F05CC-117C-69CC-AABF-E6E4429F4EDF}"/>
              </a:ext>
            </a:extLst>
          </p:cNvPr>
          <p:cNvSpPr txBox="1"/>
          <p:nvPr/>
        </p:nvSpPr>
        <p:spPr>
          <a:xfrm>
            <a:off x="334615" y="1830613"/>
            <a:ext cx="11522767" cy="4524315"/>
          </a:xfrm>
          <a:prstGeom prst="rect">
            <a:avLst/>
          </a:prstGeom>
          <a:noFill/>
        </p:spPr>
        <p:txBody>
          <a:bodyPr wrap="square">
            <a:spAutoFit/>
          </a:bodyPr>
          <a:lstStyle/>
          <a:p>
            <a:pPr>
              <a:buNone/>
            </a:pPr>
            <a:r>
              <a:rPr lang="en-US" sz="2400" dirty="0"/>
              <a:t>1. Structured Approach Reduces Chaos: Transforms reactive scrambling to coordinated execution</a:t>
            </a:r>
          </a:p>
          <a:p>
            <a:pPr>
              <a:buNone/>
            </a:pPr>
            <a:r>
              <a:rPr lang="en-US" sz="2400" dirty="0"/>
              <a:t>2. Evidence-First Philosophy Protects Organization: Supports legal action and regulatory compliance</a:t>
            </a:r>
          </a:p>
          <a:p>
            <a:pPr>
              <a:buNone/>
            </a:pPr>
            <a:r>
              <a:rPr lang="en-US" sz="2400" dirty="0"/>
              <a:t>3. Cross-Functional Collaboration Is Essential: Security, IT, HR, Legal, Communications work seamlessly</a:t>
            </a:r>
          </a:p>
          <a:p>
            <a:pPr>
              <a:buNone/>
            </a:pPr>
            <a:r>
              <a:rPr lang="en-US" sz="2400" dirty="0"/>
              <a:t>4. Metrics Drive Improvement: Enables continuous optimization</a:t>
            </a:r>
          </a:p>
          <a:p>
            <a:pPr>
              <a:buNone/>
            </a:pPr>
            <a:r>
              <a:rPr lang="en-US" sz="2400" dirty="0"/>
              <a:t>5. Playbooks Are Living Documents: Regular updates keep capabilities current</a:t>
            </a:r>
          </a:p>
          <a:p>
            <a:pPr>
              <a:buNone/>
            </a:pPr>
            <a:r>
              <a:rPr lang="en-US" sz="2400" b="1" dirty="0"/>
              <a:t>NEXT STEPS:</a:t>
            </a:r>
          </a:p>
          <a:p>
            <a:pPr>
              <a:buNone/>
            </a:pPr>
            <a:r>
              <a:rPr lang="en-US" sz="2400" dirty="0"/>
              <a:t>• Update &amp; approve playbook for implementation.</a:t>
            </a:r>
          </a:p>
          <a:p>
            <a:pPr>
              <a:buNone/>
            </a:pPr>
            <a:r>
              <a:rPr lang="en-US" sz="2400" dirty="0"/>
              <a:t>• Begin training, testing the tools, system.</a:t>
            </a:r>
          </a:p>
          <a:p>
            <a:pPr>
              <a:buNone/>
            </a:pPr>
            <a:r>
              <a:rPr lang="en-US" sz="2400" dirty="0"/>
              <a:t>• Schedule first practice exercise within 60 days.</a:t>
            </a:r>
          </a:p>
        </p:txBody>
      </p:sp>
    </p:spTree>
    <p:extLst>
      <p:ext uri="{BB962C8B-B14F-4D97-AF65-F5344CB8AC3E}">
        <p14:creationId xmlns:p14="http://schemas.microsoft.com/office/powerpoint/2010/main" val="21626215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7"/>
          <p:cNvSpPr/>
          <p:nvPr/>
        </p:nvSpPr>
        <p:spPr>
          <a:xfrm>
            <a:off x="-39756" y="-25341"/>
            <a:ext cx="10067365" cy="488589"/>
          </a:xfrm>
          <a:prstGeom prst="rect">
            <a:avLst/>
          </a:prstGeom>
          <a:solidFill>
            <a:srgbClr val="FE4A5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a:solidFill>
                  <a:schemeClr val="lt1"/>
                </a:solidFill>
                <a:latin typeface="Calibri"/>
                <a:ea typeface="Calibri"/>
                <a:cs typeface="Calibri"/>
                <a:sym typeface="Calibri"/>
              </a:rPr>
              <a:t>CAPSTONE PROJECT</a:t>
            </a:r>
            <a:endParaRPr sz="1400" b="0" i="0" u="none" strike="noStrike" cap="none">
              <a:solidFill>
                <a:srgbClr val="000000"/>
              </a:solidFill>
              <a:latin typeface="Arial"/>
              <a:ea typeface="Arial"/>
              <a:cs typeface="Arial"/>
              <a:sym typeface="Arial"/>
            </a:endParaRPr>
          </a:p>
        </p:txBody>
      </p:sp>
      <p:pic>
        <p:nvPicPr>
          <p:cNvPr id="151" name="Google Shape;151;p7"/>
          <p:cNvPicPr preferRelativeResize="0"/>
          <p:nvPr/>
        </p:nvPicPr>
        <p:blipFill rotWithShape="1">
          <a:blip r:embed="rId3">
            <a:alphaModFix/>
          </a:blip>
          <a:srcRect/>
          <a:stretch/>
        </p:blipFill>
        <p:spPr>
          <a:xfrm>
            <a:off x="10206443" y="0"/>
            <a:ext cx="1886945" cy="502031"/>
          </a:xfrm>
          <a:prstGeom prst="rect">
            <a:avLst/>
          </a:prstGeom>
          <a:noFill/>
          <a:ln>
            <a:noFill/>
          </a:ln>
        </p:spPr>
      </p:pic>
      <p:sp>
        <p:nvSpPr>
          <p:cNvPr id="152" name="Google Shape;152;p7"/>
          <p:cNvSpPr/>
          <p:nvPr/>
        </p:nvSpPr>
        <p:spPr>
          <a:xfrm>
            <a:off x="-3" y="528340"/>
            <a:ext cx="10067365" cy="161941"/>
          </a:xfrm>
          <a:prstGeom prst="rect">
            <a:avLst/>
          </a:prstGeom>
          <a:solidFill>
            <a:schemeClr val="dk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53" name="Google Shape;153;p7"/>
          <p:cNvSpPr txBox="1"/>
          <p:nvPr/>
        </p:nvSpPr>
        <p:spPr>
          <a:xfrm>
            <a:off x="1138518" y="6472519"/>
            <a:ext cx="760207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1" u="none" strike="noStrike" cap="none" dirty="0">
                <a:solidFill>
                  <a:schemeClr val="dk1"/>
                </a:solidFill>
                <a:latin typeface="Calibri"/>
                <a:ea typeface="Calibri"/>
                <a:cs typeface="Calibri"/>
                <a:sym typeface="Calibri"/>
              </a:rPr>
              <a:t>Disclaimer: This training material belongs to </a:t>
            </a:r>
            <a:r>
              <a:rPr lang="en-US" sz="1800" b="0" i="1" u="none" strike="noStrike" cap="none" dirty="0" err="1">
                <a:solidFill>
                  <a:schemeClr val="dk1"/>
                </a:solidFill>
                <a:latin typeface="Calibri"/>
                <a:ea typeface="Calibri"/>
                <a:cs typeface="Calibri"/>
                <a:sym typeface="Calibri"/>
              </a:rPr>
              <a:t>techcrush</a:t>
            </a:r>
            <a:r>
              <a:rPr lang="en-US" sz="1800" b="0" i="1" u="none" strike="noStrike" cap="none" dirty="0">
                <a:solidFill>
                  <a:schemeClr val="dk1"/>
                </a:solidFill>
                <a:latin typeface="Calibri"/>
                <a:ea typeface="Calibri"/>
                <a:cs typeface="Calibri"/>
                <a:sym typeface="Calibri"/>
              </a:rPr>
              <a:t> and shouldn’t be shared</a:t>
            </a:r>
            <a:endParaRPr sz="1400" b="0" i="0" u="none" strike="noStrike" cap="none" dirty="0">
              <a:solidFill>
                <a:srgbClr val="000000"/>
              </a:solidFill>
              <a:latin typeface="Arial"/>
              <a:ea typeface="Arial"/>
              <a:cs typeface="Arial"/>
              <a:sym typeface="Arial"/>
            </a:endParaRPr>
          </a:p>
        </p:txBody>
      </p:sp>
      <p:pic>
        <p:nvPicPr>
          <p:cNvPr id="154" name="Google Shape;154;p7"/>
          <p:cNvPicPr preferRelativeResize="0"/>
          <p:nvPr/>
        </p:nvPicPr>
        <p:blipFill rotWithShape="1">
          <a:blip r:embed="rId3">
            <a:alphaModFix amt="26000"/>
          </a:blip>
          <a:srcRect/>
          <a:stretch/>
        </p:blipFill>
        <p:spPr>
          <a:xfrm>
            <a:off x="825004" y="1951993"/>
            <a:ext cx="10541991" cy="2804748"/>
          </a:xfrm>
          <a:prstGeom prst="rect">
            <a:avLst/>
          </a:prstGeom>
          <a:noFill/>
          <a:ln>
            <a:noFill/>
          </a:ln>
          <a:effectLst>
            <a:outerShdw dist="50800" sx="1000" sy="1000" algn="ctr" rotWithShape="0">
              <a:srgbClr val="000000"/>
            </a:outerShdw>
          </a:effectLst>
        </p:spPr>
      </p:pic>
      <p:pic>
        <p:nvPicPr>
          <p:cNvPr id="155" name="Google Shape;155;p7"/>
          <p:cNvPicPr preferRelativeResize="0"/>
          <p:nvPr/>
        </p:nvPicPr>
        <p:blipFill rotWithShape="1">
          <a:blip r:embed="rId4">
            <a:alphaModFix/>
          </a:blip>
          <a:srcRect/>
          <a:stretch/>
        </p:blipFill>
        <p:spPr>
          <a:xfrm>
            <a:off x="8646453" y="1232642"/>
            <a:ext cx="502028" cy="502028"/>
          </a:xfrm>
          <a:prstGeom prst="rect">
            <a:avLst/>
          </a:prstGeom>
          <a:noFill/>
          <a:ln>
            <a:noFill/>
          </a:ln>
        </p:spPr>
      </p:pic>
      <p:sp>
        <p:nvSpPr>
          <p:cNvPr id="156" name="Google Shape;156;p7"/>
          <p:cNvSpPr txBox="1"/>
          <p:nvPr/>
        </p:nvSpPr>
        <p:spPr>
          <a:xfrm>
            <a:off x="221972" y="867100"/>
            <a:ext cx="11748053" cy="658601"/>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Clr>
                <a:srgbClr val="000000"/>
              </a:buClr>
              <a:buSzPts val="2800"/>
              <a:buFont typeface="Arial"/>
              <a:buNone/>
            </a:pPr>
            <a:r>
              <a:rPr lang="en-US" sz="3200" b="1" i="0" u="none" strike="noStrike" cap="none" dirty="0">
                <a:solidFill>
                  <a:schemeClr val="dk1"/>
                </a:solidFill>
                <a:latin typeface="Arial"/>
                <a:ea typeface="Arial"/>
                <a:cs typeface="Arial"/>
                <a:sym typeface="Arial"/>
              </a:rPr>
              <a:t>References </a:t>
            </a:r>
            <a:endParaRPr sz="3200" b="0" i="0" u="none" strike="noStrike" cap="none" dirty="0">
              <a:solidFill>
                <a:schemeClr val="dk1"/>
              </a:solidFill>
              <a:latin typeface="Arial"/>
              <a:ea typeface="Arial"/>
              <a:cs typeface="Arial"/>
              <a:sym typeface="Arial"/>
            </a:endParaRPr>
          </a:p>
        </p:txBody>
      </p:sp>
      <p:sp>
        <p:nvSpPr>
          <p:cNvPr id="3" name="TextBox 2">
            <a:extLst>
              <a:ext uri="{FF2B5EF4-FFF2-40B4-BE49-F238E27FC236}">
                <a16:creationId xmlns:a16="http://schemas.microsoft.com/office/drawing/2014/main" id="{25A09F8E-E220-0FF8-538E-5019E1E2D84B}"/>
              </a:ext>
            </a:extLst>
          </p:cNvPr>
          <p:cNvSpPr txBox="1"/>
          <p:nvPr/>
        </p:nvSpPr>
        <p:spPr>
          <a:xfrm>
            <a:off x="898358" y="1702520"/>
            <a:ext cx="11293642" cy="3570208"/>
          </a:xfrm>
          <a:prstGeom prst="rect">
            <a:avLst/>
          </a:prstGeom>
          <a:noFill/>
        </p:spPr>
        <p:txBody>
          <a:bodyPr wrap="square">
            <a:spAutoFit/>
          </a:bodyPr>
          <a:lstStyle/>
          <a:p>
            <a:r>
              <a:rPr lang="en-US" sz="2400" b="1" dirty="0"/>
              <a:t>Template</a:t>
            </a:r>
            <a:r>
              <a:rPr lang="en-US" sz="2400" dirty="0"/>
              <a:t>:Techcrush</a:t>
            </a:r>
          </a:p>
          <a:p>
            <a:r>
              <a:rPr lang="en-US" sz="2400" b="1" dirty="0"/>
              <a:t>Slide Notes:</a:t>
            </a:r>
            <a:endParaRPr lang="en-US" sz="2400" dirty="0"/>
          </a:p>
          <a:p>
            <a:r>
              <a:rPr lang="en-US" sz="2200" dirty="0"/>
              <a:t>NIST SP 800-61 Rev.2 — </a:t>
            </a:r>
            <a:r>
              <a:rPr lang="en-US" sz="2200" i="1" dirty="0"/>
              <a:t>Incident Handling Guide.</a:t>
            </a:r>
            <a:endParaRPr lang="en-US" sz="2200" dirty="0"/>
          </a:p>
          <a:p>
            <a:r>
              <a:rPr lang="en-US" sz="2200" dirty="0"/>
              <a:t>MITRE ATT&amp;CK Framework — </a:t>
            </a:r>
            <a:r>
              <a:rPr lang="en-US" sz="2200" i="1" dirty="0"/>
              <a:t>Adversarial Tactics and Techniques.</a:t>
            </a:r>
            <a:endParaRPr lang="en-US" sz="2200" dirty="0"/>
          </a:p>
          <a:p>
            <a:r>
              <a:rPr lang="en-US" sz="2200" dirty="0"/>
              <a:t>ISO/IEC 27035 — </a:t>
            </a:r>
            <a:r>
              <a:rPr lang="en-US" sz="2200" i="1" dirty="0"/>
              <a:t>Incident Management.</a:t>
            </a:r>
            <a:endParaRPr lang="en-US" sz="2200" dirty="0"/>
          </a:p>
          <a:p>
            <a:r>
              <a:rPr lang="en-US" sz="2200" dirty="0"/>
              <a:t>Internal Organizational Policies — </a:t>
            </a:r>
            <a:r>
              <a:rPr lang="en-US" sz="2200" i="1" dirty="0"/>
              <a:t>IR SOPs and Risk Register.</a:t>
            </a:r>
            <a:endParaRPr lang="en-US" sz="2200" dirty="0"/>
          </a:p>
          <a:p>
            <a:r>
              <a:rPr lang="en-US" sz="2400" b="1" dirty="0"/>
              <a:t>Project Files:</a:t>
            </a:r>
          </a:p>
          <a:p>
            <a:pPr>
              <a:buFont typeface="Arial" panose="020B0604020202020204" pitchFamily="34" charset="0"/>
              <a:buChar char="•"/>
            </a:pPr>
            <a:r>
              <a:rPr lang="en-US" sz="2200" dirty="0"/>
              <a:t>IR Website Defacement (project 1.1)</a:t>
            </a:r>
          </a:p>
          <a:p>
            <a:pPr>
              <a:buFont typeface="Arial" panose="020B0604020202020204" pitchFamily="34" charset="0"/>
              <a:buChar char="•"/>
            </a:pPr>
            <a:r>
              <a:rPr lang="en-US" sz="2200" dirty="0"/>
              <a:t>Insider Threat Playbook (project 1.2)</a:t>
            </a:r>
          </a:p>
          <a:p>
            <a:pPr>
              <a:buFont typeface="Arial" panose="020B0604020202020204" pitchFamily="34" charset="0"/>
              <a:buChar char="•"/>
            </a:pPr>
            <a:r>
              <a:rPr lang="en-US" sz="2200" dirty="0"/>
              <a:t>Phishing to Malware Delivery (project 1.3)</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8"/>
          <p:cNvSpPr/>
          <p:nvPr/>
        </p:nvSpPr>
        <p:spPr>
          <a:xfrm>
            <a:off x="-39756" y="-25341"/>
            <a:ext cx="10067365" cy="488589"/>
          </a:xfrm>
          <a:prstGeom prst="rect">
            <a:avLst/>
          </a:prstGeom>
          <a:solidFill>
            <a:srgbClr val="FE4A5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a:solidFill>
                  <a:schemeClr val="lt1"/>
                </a:solidFill>
                <a:latin typeface="Calibri"/>
                <a:ea typeface="Calibri"/>
                <a:cs typeface="Calibri"/>
                <a:sym typeface="Calibri"/>
              </a:rPr>
              <a:t>CAPSTONE PROJECT </a:t>
            </a:r>
            <a:endParaRPr sz="1400" b="0" i="0" u="none" strike="noStrike" cap="none">
              <a:solidFill>
                <a:srgbClr val="000000"/>
              </a:solidFill>
              <a:latin typeface="Arial"/>
              <a:ea typeface="Arial"/>
              <a:cs typeface="Arial"/>
              <a:sym typeface="Arial"/>
            </a:endParaRPr>
          </a:p>
        </p:txBody>
      </p:sp>
      <p:pic>
        <p:nvPicPr>
          <p:cNvPr id="162" name="Google Shape;162;p8"/>
          <p:cNvPicPr preferRelativeResize="0"/>
          <p:nvPr/>
        </p:nvPicPr>
        <p:blipFill rotWithShape="1">
          <a:blip r:embed="rId3">
            <a:alphaModFix/>
          </a:blip>
          <a:srcRect/>
          <a:stretch/>
        </p:blipFill>
        <p:spPr>
          <a:xfrm>
            <a:off x="10206443" y="0"/>
            <a:ext cx="1886945" cy="502031"/>
          </a:xfrm>
          <a:prstGeom prst="rect">
            <a:avLst/>
          </a:prstGeom>
          <a:noFill/>
          <a:ln>
            <a:noFill/>
          </a:ln>
        </p:spPr>
      </p:pic>
      <p:sp>
        <p:nvSpPr>
          <p:cNvPr id="163" name="Google Shape;163;p8"/>
          <p:cNvSpPr/>
          <p:nvPr/>
        </p:nvSpPr>
        <p:spPr>
          <a:xfrm>
            <a:off x="-3" y="528340"/>
            <a:ext cx="10067365" cy="161941"/>
          </a:xfrm>
          <a:prstGeom prst="rect">
            <a:avLst/>
          </a:prstGeom>
          <a:solidFill>
            <a:schemeClr val="dk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64" name="Google Shape;164;p8"/>
          <p:cNvSpPr txBox="1"/>
          <p:nvPr/>
        </p:nvSpPr>
        <p:spPr>
          <a:xfrm>
            <a:off x="1138518" y="6472519"/>
            <a:ext cx="760207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1" u="none" strike="noStrike" cap="none" dirty="0">
                <a:solidFill>
                  <a:schemeClr val="dk1"/>
                </a:solidFill>
                <a:latin typeface="Calibri"/>
                <a:ea typeface="Calibri"/>
                <a:cs typeface="Calibri"/>
                <a:sym typeface="Calibri"/>
              </a:rPr>
              <a:t>Disclaimer: This training material belongs to </a:t>
            </a:r>
            <a:r>
              <a:rPr lang="en-US" sz="1800" b="0" i="1" u="none" strike="noStrike" cap="none" dirty="0" err="1">
                <a:solidFill>
                  <a:schemeClr val="dk1"/>
                </a:solidFill>
                <a:latin typeface="Calibri"/>
                <a:ea typeface="Calibri"/>
                <a:cs typeface="Calibri"/>
                <a:sym typeface="Calibri"/>
              </a:rPr>
              <a:t>techcrush</a:t>
            </a:r>
            <a:r>
              <a:rPr lang="en-US" sz="1800" b="0" i="1" u="none" strike="noStrike" cap="none" dirty="0">
                <a:solidFill>
                  <a:schemeClr val="dk1"/>
                </a:solidFill>
                <a:latin typeface="Calibri"/>
                <a:ea typeface="Calibri"/>
                <a:cs typeface="Calibri"/>
                <a:sym typeface="Calibri"/>
              </a:rPr>
              <a:t> and shouldn’t be shared</a:t>
            </a:r>
            <a:endParaRPr sz="1400" b="0" i="0" u="none" strike="noStrike" cap="none" dirty="0">
              <a:solidFill>
                <a:srgbClr val="000000"/>
              </a:solidFill>
              <a:latin typeface="Arial"/>
              <a:ea typeface="Arial"/>
              <a:cs typeface="Arial"/>
              <a:sym typeface="Arial"/>
            </a:endParaRPr>
          </a:p>
        </p:txBody>
      </p:sp>
      <p:pic>
        <p:nvPicPr>
          <p:cNvPr id="165" name="Google Shape;165;p8"/>
          <p:cNvPicPr preferRelativeResize="0"/>
          <p:nvPr/>
        </p:nvPicPr>
        <p:blipFill rotWithShape="1">
          <a:blip r:embed="rId3">
            <a:alphaModFix amt="26000"/>
          </a:blip>
          <a:srcRect/>
          <a:stretch/>
        </p:blipFill>
        <p:spPr>
          <a:xfrm>
            <a:off x="825004" y="1951993"/>
            <a:ext cx="10541991" cy="2804748"/>
          </a:xfrm>
          <a:prstGeom prst="rect">
            <a:avLst/>
          </a:prstGeom>
          <a:noFill/>
          <a:ln>
            <a:noFill/>
          </a:ln>
          <a:effectLst>
            <a:outerShdw dist="50800" sx="1000" sy="1000" algn="ctr" rotWithShape="0">
              <a:srgbClr val="000000"/>
            </a:outerShdw>
          </a:effectLst>
        </p:spPr>
      </p:pic>
      <p:pic>
        <p:nvPicPr>
          <p:cNvPr id="166" name="Google Shape;166;p8"/>
          <p:cNvPicPr preferRelativeResize="0"/>
          <p:nvPr/>
        </p:nvPicPr>
        <p:blipFill rotWithShape="1">
          <a:blip r:embed="rId4">
            <a:alphaModFix/>
          </a:blip>
          <a:srcRect/>
          <a:stretch/>
        </p:blipFill>
        <p:spPr>
          <a:xfrm>
            <a:off x="8646453" y="1232642"/>
            <a:ext cx="502028" cy="502028"/>
          </a:xfrm>
          <a:prstGeom prst="rect">
            <a:avLst/>
          </a:prstGeom>
          <a:noFill/>
          <a:ln>
            <a:noFill/>
          </a:ln>
        </p:spPr>
      </p:pic>
      <p:sp>
        <p:nvSpPr>
          <p:cNvPr id="167" name="Google Shape;167;p8"/>
          <p:cNvSpPr txBox="1"/>
          <p:nvPr/>
        </p:nvSpPr>
        <p:spPr>
          <a:xfrm>
            <a:off x="-1409815" y="2160121"/>
            <a:ext cx="11477177" cy="1695336"/>
          </a:xfrm>
          <a:prstGeom prst="rect">
            <a:avLst/>
          </a:prstGeom>
          <a:noFill/>
          <a:ln>
            <a:noFill/>
          </a:ln>
        </p:spPr>
        <p:txBody>
          <a:bodyPr spcFirstLastPara="1" wrap="square" lIns="91425" tIns="45700" rIns="91425" bIns="45700" anchor="ctr" anchorCtr="0">
            <a:spAutoFit/>
          </a:bodyPr>
          <a:lstStyle/>
          <a:p>
            <a:pPr marL="0" marR="0" lvl="0" indent="0" algn="ctr" rtl="0">
              <a:lnSpc>
                <a:spcPct val="115000"/>
              </a:lnSpc>
              <a:spcBef>
                <a:spcPts val="0"/>
              </a:spcBef>
              <a:spcAft>
                <a:spcPts val="0"/>
              </a:spcAft>
              <a:buClr>
                <a:srgbClr val="000000"/>
              </a:buClr>
              <a:buSzPts val="9600"/>
              <a:buFont typeface="Arial"/>
              <a:buNone/>
            </a:pPr>
            <a:r>
              <a:rPr lang="en-US" sz="9600" b="0" i="0" u="none" strike="noStrike" cap="none">
                <a:solidFill>
                  <a:schemeClr val="dk1"/>
                </a:solidFill>
                <a:latin typeface="Arial"/>
                <a:ea typeface="Arial"/>
                <a:cs typeface="Arial"/>
                <a:sym typeface="Arial"/>
              </a:rPr>
              <a:t>			</a:t>
            </a:r>
            <a:r>
              <a:rPr lang="en-US" sz="9600" b="1" i="0" u="none" strike="noStrike" cap="none">
                <a:solidFill>
                  <a:schemeClr val="dk1"/>
                </a:solidFill>
                <a:latin typeface="Arial"/>
                <a:ea typeface="Arial"/>
                <a:cs typeface="Arial"/>
                <a:sym typeface="Arial"/>
              </a:rPr>
              <a:t>THANK YOU</a:t>
            </a:r>
            <a:endParaRPr sz="9600" b="1" i="0" u="none" strike="noStrike" cap="none">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TotalTime>
  <Words>1249</Words>
  <Application>Microsoft Office PowerPoint</Application>
  <PresentationFormat>Widescreen</PresentationFormat>
  <Paragraphs>174</Paragraphs>
  <Slides>22</Slides>
  <Notes>22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Olaniyi Eluwole</dc:creator>
  <cp:lastModifiedBy>hanifa salihu</cp:lastModifiedBy>
  <cp:revision>6</cp:revision>
  <dcterms:created xsi:type="dcterms:W3CDTF">2024-10-09T19:59:03Z</dcterms:created>
  <dcterms:modified xsi:type="dcterms:W3CDTF">2025-12-15T07:53:29Z</dcterms:modified>
</cp:coreProperties>
</file>