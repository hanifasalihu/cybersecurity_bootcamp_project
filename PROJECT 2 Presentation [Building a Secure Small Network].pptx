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7"/>
  </p:notesMasterIdLst>
  <p:sldIdLst>
    <p:sldId id="256" r:id="rId2"/>
    <p:sldId id="264" r:id="rId3"/>
    <p:sldId id="265" r:id="rId4"/>
    <p:sldId id="268" r:id="rId5"/>
    <p:sldId id="269" r:id="rId6"/>
    <p:sldId id="266" r:id="rId7"/>
    <p:sldId id="267" r:id="rId8"/>
    <p:sldId id="273" r:id="rId9"/>
    <p:sldId id="272" r:id="rId10"/>
    <p:sldId id="259" r:id="rId11"/>
    <p:sldId id="275" r:id="rId12"/>
    <p:sldId id="274" r:id="rId13"/>
    <p:sldId id="277" r:id="rId14"/>
    <p:sldId id="278" r:id="rId15"/>
    <p:sldId id="279" r:id="rId16"/>
    <p:sldId id="281" r:id="rId17"/>
    <p:sldId id="280" r:id="rId18"/>
    <p:sldId id="276" r:id="rId19"/>
    <p:sldId id="270" r:id="rId20"/>
    <p:sldId id="283" r:id="rId21"/>
    <p:sldId id="282" r:id="rId22"/>
    <p:sldId id="262" r:id="rId23"/>
    <p:sldId id="261" r:id="rId24"/>
    <p:sldId id="284" r:id="rId25"/>
    <p:sldId id="263" r:id="rId2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9" roundtripDataSignature="AMtx7mjBb122vIqdX3IgMWKn3EVI0zoJH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4F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autoAdjust="0"/>
  </p:normalViewPr>
  <p:slideViewPr>
    <p:cSldViewPr snapToGrid="0">
      <p:cViewPr varScale="1">
        <p:scale>
          <a:sx n="47" d="100"/>
          <a:sy n="47" d="100"/>
        </p:scale>
        <p:origin x="1046" y="43"/>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CCD32B8-B309-4773-93EE-9BA9658E4705}"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76B919E5-303A-4146-A88A-FD1389634073}">
      <dgm:prSet phldrT="[Text]" custT="1">
        <dgm:style>
          <a:lnRef idx="2">
            <a:schemeClr val="accent2"/>
          </a:lnRef>
          <a:fillRef idx="1">
            <a:schemeClr val="lt1"/>
          </a:fillRef>
          <a:effectRef idx="0">
            <a:schemeClr val="accent2"/>
          </a:effectRef>
          <a:fontRef idx="minor">
            <a:schemeClr val="dk1"/>
          </a:fontRef>
        </dgm:style>
      </dgm:prSet>
      <dgm:spPr>
        <a:ln>
          <a:solidFill>
            <a:srgbClr val="E04F28"/>
          </a:solidFill>
        </a:ln>
      </dgm:spPr>
      <dgm:t>
        <a:bodyPr/>
        <a:lstStyle/>
        <a:p>
          <a:pPr algn="ctr"/>
          <a:r>
            <a:rPr lang="en-US" sz="2400" b="1" u="sng" dirty="0">
              <a:latin typeface="+mn-lt"/>
              <a:cs typeface="Times New Roman" panose="02020603050405020304" pitchFamily="18" charset="0"/>
            </a:rPr>
            <a:t>Network Components</a:t>
          </a:r>
        </a:p>
        <a:p>
          <a:pPr algn="l"/>
          <a:r>
            <a:rPr lang="en-US" sz="2400" dirty="0">
              <a:latin typeface="+mn-lt"/>
              <a:cs typeface="Times New Roman" panose="02020603050405020304" pitchFamily="18" charset="0"/>
            </a:rPr>
            <a:t>• Cloud-PT– Internet connectivity</a:t>
          </a:r>
        </a:p>
        <a:p>
          <a:pPr algn="l"/>
          <a:r>
            <a:rPr lang="en-US" sz="2400" dirty="0">
              <a:latin typeface="+mn-lt"/>
              <a:cs typeface="Times New Roman" panose="02020603050405020304" pitchFamily="18" charset="0"/>
            </a:rPr>
            <a:t>Router (Cisco 1941) - Core routing</a:t>
          </a:r>
        </a:p>
        <a:p>
          <a:pPr algn="l"/>
          <a:r>
            <a:rPr lang="en-US" sz="2400" dirty="0">
              <a:latin typeface="+mn-lt"/>
              <a:cs typeface="Times New Roman" panose="02020603050405020304" pitchFamily="18" charset="0"/>
            </a:rPr>
            <a:t>• 2 Switches (2960) - LAN/IoT</a:t>
          </a:r>
        </a:p>
        <a:p>
          <a:pPr algn="l"/>
          <a:r>
            <a:rPr lang="en-US" sz="2400" dirty="0">
              <a:latin typeface="+mn-lt"/>
              <a:cs typeface="Times New Roman" panose="02020603050405020304" pitchFamily="18" charset="0"/>
            </a:rPr>
            <a:t>• Server - DHCP/DNS services</a:t>
          </a:r>
        </a:p>
        <a:p>
          <a:pPr algn="l"/>
          <a:r>
            <a:rPr lang="en-US" sz="2400" dirty="0">
              <a:latin typeface="+mn-lt"/>
              <a:cs typeface="Times New Roman" panose="02020603050405020304" pitchFamily="18" charset="0"/>
            </a:rPr>
            <a:t>• PC &amp; Printer - User zone</a:t>
          </a:r>
        </a:p>
        <a:p>
          <a:pPr algn="l"/>
          <a:r>
            <a:rPr lang="en-US" sz="2400" dirty="0">
              <a:latin typeface="+mn-lt"/>
              <a:cs typeface="Times New Roman" panose="02020603050405020304" pitchFamily="18" charset="0"/>
            </a:rPr>
            <a:t>• IoT devices - Smart LED, sensors</a:t>
          </a:r>
        </a:p>
      </dgm:t>
    </dgm:pt>
    <dgm:pt modelId="{573313E6-24F5-4BDF-9E36-0439DD835956}" type="parTrans" cxnId="{494BA76C-8894-4A64-8134-2CDFF563FEC0}">
      <dgm:prSet/>
      <dgm:spPr/>
      <dgm:t>
        <a:bodyPr/>
        <a:lstStyle/>
        <a:p>
          <a:endParaRPr lang="en-US"/>
        </a:p>
      </dgm:t>
    </dgm:pt>
    <dgm:pt modelId="{4EA6B34C-705B-4B65-858A-A1A5A83407B3}" type="sibTrans" cxnId="{494BA76C-8894-4A64-8134-2CDFF563FEC0}">
      <dgm:prSet/>
      <dgm:spPr/>
      <dgm:t>
        <a:bodyPr/>
        <a:lstStyle/>
        <a:p>
          <a:endParaRPr lang="en-US"/>
        </a:p>
      </dgm:t>
    </dgm:pt>
    <dgm:pt modelId="{F43FE7F2-9AC3-48B6-964F-275C5DD2C692}">
      <dgm:prSet phldrT="[Text]" custT="1">
        <dgm:style>
          <a:lnRef idx="2">
            <a:schemeClr val="accent2"/>
          </a:lnRef>
          <a:fillRef idx="1">
            <a:schemeClr val="lt1"/>
          </a:fillRef>
          <a:effectRef idx="0">
            <a:schemeClr val="accent2"/>
          </a:effectRef>
          <a:fontRef idx="minor">
            <a:schemeClr val="dk1"/>
          </a:fontRef>
        </dgm:style>
      </dgm:prSet>
      <dgm:spPr>
        <a:ln>
          <a:solidFill>
            <a:srgbClr val="E04F28"/>
          </a:solidFill>
        </a:ln>
      </dgm:spPr>
      <dgm:t>
        <a:bodyPr/>
        <a:lstStyle/>
        <a:p>
          <a:pPr algn="ctr"/>
          <a:r>
            <a:rPr lang="en-US" sz="2400" b="1" u="sng" dirty="0">
              <a:latin typeface="+mn-lt"/>
              <a:cs typeface="Times New Roman" panose="02020603050405020304" pitchFamily="18" charset="0"/>
            </a:rPr>
            <a:t>Security Zones</a:t>
          </a:r>
        </a:p>
        <a:p>
          <a:pPr algn="l"/>
          <a:r>
            <a:rPr lang="en-US" sz="2400" dirty="0">
              <a:latin typeface="+mn-lt"/>
              <a:cs typeface="Times New Roman" panose="02020603050405020304" pitchFamily="18" charset="0"/>
            </a:rPr>
            <a:t>• DMZ: Server (public services)</a:t>
          </a:r>
        </a:p>
        <a:p>
          <a:pPr algn="l"/>
          <a:r>
            <a:rPr lang="en-US" sz="2400" dirty="0">
              <a:latin typeface="+mn-lt"/>
              <a:cs typeface="Times New Roman" panose="02020603050405020304" pitchFamily="18" charset="0"/>
            </a:rPr>
            <a:t>• User Zone: PC, Printer</a:t>
          </a:r>
        </a:p>
        <a:p>
          <a:pPr algn="l"/>
          <a:r>
            <a:rPr lang="en-US" sz="2400" dirty="0">
              <a:latin typeface="+mn-lt"/>
              <a:cs typeface="Times New Roman" panose="02020603050405020304" pitchFamily="18" charset="0"/>
            </a:rPr>
            <a:t>• IoT Zone: Smart devices</a:t>
          </a:r>
        </a:p>
        <a:p>
          <a:pPr algn="l"/>
          <a:r>
            <a:rPr lang="en-US" sz="2400" dirty="0">
              <a:latin typeface="+mn-lt"/>
              <a:cs typeface="Times New Roman" panose="02020603050405020304" pitchFamily="18" charset="0"/>
            </a:rPr>
            <a:t>• WAN Zone: Internet gateway</a:t>
          </a:r>
        </a:p>
      </dgm:t>
    </dgm:pt>
    <dgm:pt modelId="{58025920-66F1-4F36-A527-0C99686C0BAB}" type="sibTrans" cxnId="{C12EA072-B7A6-4813-8F02-06262207674E}">
      <dgm:prSet/>
      <dgm:spPr/>
      <dgm:t>
        <a:bodyPr/>
        <a:lstStyle/>
        <a:p>
          <a:endParaRPr lang="en-US"/>
        </a:p>
      </dgm:t>
    </dgm:pt>
    <dgm:pt modelId="{06D603B0-A98C-4DD9-848A-66EE220C809D}" type="parTrans" cxnId="{C12EA072-B7A6-4813-8F02-06262207674E}">
      <dgm:prSet/>
      <dgm:spPr/>
      <dgm:t>
        <a:bodyPr/>
        <a:lstStyle/>
        <a:p>
          <a:endParaRPr lang="en-US"/>
        </a:p>
      </dgm:t>
    </dgm:pt>
    <dgm:pt modelId="{7A637371-C955-4833-9274-94BF66B990B9}" type="pres">
      <dgm:prSet presAssocID="{ECCD32B8-B309-4773-93EE-9BA9658E4705}" presName="diagram" presStyleCnt="0">
        <dgm:presLayoutVars>
          <dgm:dir/>
          <dgm:resizeHandles val="exact"/>
        </dgm:presLayoutVars>
      </dgm:prSet>
      <dgm:spPr/>
    </dgm:pt>
    <dgm:pt modelId="{BE0F0493-3366-4E53-ABAE-B88C5951BFA8}" type="pres">
      <dgm:prSet presAssocID="{76B919E5-303A-4146-A88A-FD1389634073}" presName="node" presStyleLbl="node1" presStyleIdx="0" presStyleCnt="2" custLinFactNeighborX="2805" custLinFactNeighborY="-2411">
        <dgm:presLayoutVars>
          <dgm:bulletEnabled val="1"/>
        </dgm:presLayoutVars>
      </dgm:prSet>
      <dgm:spPr/>
    </dgm:pt>
    <dgm:pt modelId="{C74E6FE9-4952-4204-B699-CCF8B4B1C2DC}" type="pres">
      <dgm:prSet presAssocID="{4EA6B34C-705B-4B65-858A-A1A5A83407B3}" presName="sibTrans" presStyleCnt="0"/>
      <dgm:spPr/>
    </dgm:pt>
    <dgm:pt modelId="{4BB0B3D5-4977-4CA9-A32E-D8D092009C68}" type="pres">
      <dgm:prSet presAssocID="{F43FE7F2-9AC3-48B6-964F-275C5DD2C692}" presName="node" presStyleLbl="node1" presStyleIdx="1" presStyleCnt="2" custLinFactNeighborX="26" custLinFactNeighborY="-2411">
        <dgm:presLayoutVars>
          <dgm:bulletEnabled val="1"/>
        </dgm:presLayoutVars>
      </dgm:prSet>
      <dgm:spPr/>
    </dgm:pt>
  </dgm:ptLst>
  <dgm:cxnLst>
    <dgm:cxn modelId="{2A5C232A-7617-47F8-B44B-A718CE72AFF0}" type="presOf" srcId="{F43FE7F2-9AC3-48B6-964F-275C5DD2C692}" destId="{4BB0B3D5-4977-4CA9-A32E-D8D092009C68}" srcOrd="0" destOrd="0" presId="urn:microsoft.com/office/officeart/2005/8/layout/default"/>
    <dgm:cxn modelId="{494BA76C-8894-4A64-8134-2CDFF563FEC0}" srcId="{ECCD32B8-B309-4773-93EE-9BA9658E4705}" destId="{76B919E5-303A-4146-A88A-FD1389634073}" srcOrd="0" destOrd="0" parTransId="{573313E6-24F5-4BDF-9E36-0439DD835956}" sibTransId="{4EA6B34C-705B-4B65-858A-A1A5A83407B3}"/>
    <dgm:cxn modelId="{C12EA072-B7A6-4813-8F02-06262207674E}" srcId="{ECCD32B8-B309-4773-93EE-9BA9658E4705}" destId="{F43FE7F2-9AC3-48B6-964F-275C5DD2C692}" srcOrd="1" destOrd="0" parTransId="{06D603B0-A98C-4DD9-848A-66EE220C809D}" sibTransId="{58025920-66F1-4F36-A527-0C99686C0BAB}"/>
    <dgm:cxn modelId="{4B3A64B6-CAB7-4427-841F-E5D7B070828A}" type="presOf" srcId="{76B919E5-303A-4146-A88A-FD1389634073}" destId="{BE0F0493-3366-4E53-ABAE-B88C5951BFA8}" srcOrd="0" destOrd="0" presId="urn:microsoft.com/office/officeart/2005/8/layout/default"/>
    <dgm:cxn modelId="{9FC7B6D4-FD21-442E-80C2-D6DB0CDD710E}" type="presOf" srcId="{ECCD32B8-B309-4773-93EE-9BA9658E4705}" destId="{7A637371-C955-4833-9274-94BF66B990B9}" srcOrd="0" destOrd="0" presId="urn:microsoft.com/office/officeart/2005/8/layout/default"/>
    <dgm:cxn modelId="{019324FF-4C74-45DC-A9A7-E531048FDEA3}" type="presParOf" srcId="{7A637371-C955-4833-9274-94BF66B990B9}" destId="{BE0F0493-3366-4E53-ABAE-B88C5951BFA8}" srcOrd="0" destOrd="0" presId="urn:microsoft.com/office/officeart/2005/8/layout/default"/>
    <dgm:cxn modelId="{60DCC3C0-AE9D-4DC0-ADD3-0EF6931431C1}" type="presParOf" srcId="{7A637371-C955-4833-9274-94BF66B990B9}" destId="{C74E6FE9-4952-4204-B699-CCF8B4B1C2DC}" srcOrd="1" destOrd="0" presId="urn:microsoft.com/office/officeart/2005/8/layout/default"/>
    <dgm:cxn modelId="{9F6AD522-FBDF-40E9-BD49-2D2052931762}" type="presParOf" srcId="{7A637371-C955-4833-9274-94BF66B990B9}" destId="{4BB0B3D5-4977-4CA9-A32E-D8D092009C68}" srcOrd="2" destOrd="0" presId="urn:microsoft.com/office/officeart/2005/8/layout/defaul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CCD32B8-B309-4773-93EE-9BA9658E4705}"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76B919E5-303A-4146-A88A-FD1389634073}">
      <dgm:prSet phldrT="[Text]" custT="1">
        <dgm:style>
          <a:lnRef idx="2">
            <a:schemeClr val="accent2"/>
          </a:lnRef>
          <a:fillRef idx="1">
            <a:schemeClr val="lt1"/>
          </a:fillRef>
          <a:effectRef idx="0">
            <a:schemeClr val="accent2"/>
          </a:effectRef>
          <a:fontRef idx="minor">
            <a:schemeClr val="dk1"/>
          </a:fontRef>
        </dgm:style>
      </dgm:prSet>
      <dgm:spPr>
        <a:ln>
          <a:solidFill>
            <a:srgbClr val="E04F28"/>
          </a:solidFill>
        </a:ln>
      </dgm:spPr>
      <dgm:t>
        <a:bodyPr/>
        <a:lstStyle/>
        <a:p>
          <a:pPr algn="ctr"/>
          <a:r>
            <a:rPr lang="en-US" sz="2400" b="1" dirty="0"/>
            <a:t> UFW Firewall Configuration</a:t>
          </a:r>
        </a:p>
        <a:p>
          <a:pPr algn="ctr">
            <a:buFont typeface="Arial" panose="020B0604020202020204" pitchFamily="34" charset="0"/>
            <a:buChar char="•"/>
          </a:pPr>
          <a:r>
            <a:rPr lang="en-US" sz="2400" dirty="0"/>
            <a:t>• </a:t>
          </a:r>
          <a:r>
            <a:rPr lang="en-US" sz="2400" b="1" dirty="0"/>
            <a:t>Default deny incoming</a:t>
          </a:r>
          <a:r>
            <a:rPr lang="en-US" sz="2400" dirty="0"/>
            <a:t> - Block unauthorized access</a:t>
          </a:r>
        </a:p>
        <a:p>
          <a:pPr algn="ctr">
            <a:buFont typeface="Arial" panose="020B0604020202020204" pitchFamily="34" charset="0"/>
            <a:buChar char="•"/>
          </a:pPr>
          <a:r>
            <a:rPr lang="en-US" sz="2400" dirty="0"/>
            <a:t>• </a:t>
          </a:r>
          <a:r>
            <a:rPr lang="en-US" sz="2400" b="1" dirty="0"/>
            <a:t>Default allow outgoing</a:t>
          </a:r>
          <a:r>
            <a:rPr lang="en-US" sz="2400" dirty="0"/>
            <a:t> - Permit internet connectivity</a:t>
          </a:r>
        </a:p>
        <a:p>
          <a:pPr algn="ctr">
            <a:buFont typeface="Arial" panose="020B0604020202020204" pitchFamily="34" charset="0"/>
            <a:buChar char="•"/>
          </a:pPr>
          <a:r>
            <a:rPr lang="en-US" sz="2400" dirty="0"/>
            <a:t>• </a:t>
          </a:r>
          <a:r>
            <a:rPr lang="en-US" sz="2400" b="1" dirty="0"/>
            <a:t>Allow SSH (22/</a:t>
          </a:r>
          <a:r>
            <a:rPr lang="en-US" sz="2400" b="1" dirty="0" err="1"/>
            <a:t>tcp</a:t>
          </a:r>
          <a:r>
            <a:rPr lang="en-US" sz="2400" b="1" dirty="0"/>
            <a:t>)</a:t>
          </a:r>
          <a:r>
            <a:rPr lang="en-US" sz="2400" dirty="0"/>
            <a:t> - Remote administration</a:t>
          </a:r>
        </a:p>
        <a:p>
          <a:pPr algn="ctr">
            <a:buFont typeface="Arial" panose="020B0604020202020204" pitchFamily="34" charset="0"/>
            <a:buChar char="•"/>
          </a:pPr>
          <a:r>
            <a:rPr lang="en-US" sz="2400" dirty="0"/>
            <a:t>• </a:t>
          </a:r>
          <a:r>
            <a:rPr lang="en-US" sz="2400" b="1" dirty="0"/>
            <a:t>Allow HTTP (80/</a:t>
          </a:r>
          <a:r>
            <a:rPr lang="en-US" sz="2400" b="1" dirty="0" err="1"/>
            <a:t>tcp</a:t>
          </a:r>
          <a:r>
            <a:rPr lang="en-US" sz="2400" b="1" dirty="0"/>
            <a:t>)</a:t>
          </a:r>
          <a:r>
            <a:rPr lang="en-US" sz="2400" dirty="0"/>
            <a:t> - Web services</a:t>
          </a:r>
        </a:p>
        <a:p>
          <a:pPr algn="ctr">
            <a:buFont typeface="Arial" panose="020B0604020202020204" pitchFamily="34" charset="0"/>
            <a:buChar char="•"/>
          </a:pPr>
          <a:r>
            <a:rPr lang="en-US" sz="2400" dirty="0"/>
            <a:t>• </a:t>
          </a:r>
          <a:r>
            <a:rPr lang="en-US" sz="2400" b="1" dirty="0"/>
            <a:t>Dynamic rule management</a:t>
          </a:r>
          <a:r>
            <a:rPr lang="en-US" sz="2400" dirty="0"/>
            <a:t> - Add/remove as needed</a:t>
          </a:r>
          <a:endParaRPr lang="en-US" sz="2400" dirty="0">
            <a:latin typeface="Times New Roman" panose="02020603050405020304" pitchFamily="18" charset="0"/>
            <a:cs typeface="Times New Roman" panose="02020603050405020304" pitchFamily="18" charset="0"/>
          </a:endParaRPr>
        </a:p>
      </dgm:t>
    </dgm:pt>
    <dgm:pt modelId="{573313E6-24F5-4BDF-9E36-0439DD835956}" type="parTrans" cxnId="{494BA76C-8894-4A64-8134-2CDFF563FEC0}">
      <dgm:prSet/>
      <dgm:spPr/>
      <dgm:t>
        <a:bodyPr/>
        <a:lstStyle/>
        <a:p>
          <a:endParaRPr lang="en-US"/>
        </a:p>
      </dgm:t>
    </dgm:pt>
    <dgm:pt modelId="{4EA6B34C-705B-4B65-858A-A1A5A83407B3}" type="sibTrans" cxnId="{494BA76C-8894-4A64-8134-2CDFF563FEC0}">
      <dgm:prSet/>
      <dgm:spPr/>
      <dgm:t>
        <a:bodyPr/>
        <a:lstStyle/>
        <a:p>
          <a:endParaRPr lang="en-US"/>
        </a:p>
      </dgm:t>
    </dgm:pt>
    <dgm:pt modelId="{7A637371-C955-4833-9274-94BF66B990B9}" type="pres">
      <dgm:prSet presAssocID="{ECCD32B8-B309-4773-93EE-9BA9658E4705}" presName="diagram" presStyleCnt="0">
        <dgm:presLayoutVars>
          <dgm:dir/>
          <dgm:resizeHandles val="exact"/>
        </dgm:presLayoutVars>
      </dgm:prSet>
      <dgm:spPr/>
    </dgm:pt>
    <dgm:pt modelId="{BE0F0493-3366-4E53-ABAE-B88C5951BFA8}" type="pres">
      <dgm:prSet presAssocID="{76B919E5-303A-4146-A88A-FD1389634073}" presName="node" presStyleLbl="node1" presStyleIdx="0" presStyleCnt="1" custScaleX="160502">
        <dgm:presLayoutVars>
          <dgm:bulletEnabled val="1"/>
        </dgm:presLayoutVars>
      </dgm:prSet>
      <dgm:spPr/>
    </dgm:pt>
  </dgm:ptLst>
  <dgm:cxnLst>
    <dgm:cxn modelId="{494BA76C-8894-4A64-8134-2CDFF563FEC0}" srcId="{ECCD32B8-B309-4773-93EE-9BA9658E4705}" destId="{76B919E5-303A-4146-A88A-FD1389634073}" srcOrd="0" destOrd="0" parTransId="{573313E6-24F5-4BDF-9E36-0439DD835956}" sibTransId="{4EA6B34C-705B-4B65-858A-A1A5A83407B3}"/>
    <dgm:cxn modelId="{4B3A64B6-CAB7-4427-841F-E5D7B070828A}" type="presOf" srcId="{76B919E5-303A-4146-A88A-FD1389634073}" destId="{BE0F0493-3366-4E53-ABAE-B88C5951BFA8}" srcOrd="0" destOrd="0" presId="urn:microsoft.com/office/officeart/2005/8/layout/default"/>
    <dgm:cxn modelId="{9FC7B6D4-FD21-442E-80C2-D6DB0CDD710E}" type="presOf" srcId="{ECCD32B8-B309-4773-93EE-9BA9658E4705}" destId="{7A637371-C955-4833-9274-94BF66B990B9}" srcOrd="0" destOrd="0" presId="urn:microsoft.com/office/officeart/2005/8/layout/default"/>
    <dgm:cxn modelId="{019324FF-4C74-45DC-A9A7-E531048FDEA3}" type="presParOf" srcId="{7A637371-C955-4833-9274-94BF66B990B9}" destId="{BE0F0493-3366-4E53-ABAE-B88C5951BFA8}" srcOrd="0" destOrd="0" presId="urn:microsoft.com/office/officeart/2005/8/layout/defaul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CCD32B8-B309-4773-93EE-9BA9658E4705}"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76B919E5-303A-4146-A88A-FD1389634073}">
      <dgm:prSet phldrT="[Text]" custT="1">
        <dgm:style>
          <a:lnRef idx="2">
            <a:schemeClr val="accent2"/>
          </a:lnRef>
          <a:fillRef idx="1">
            <a:schemeClr val="lt1"/>
          </a:fillRef>
          <a:effectRef idx="0">
            <a:schemeClr val="accent2"/>
          </a:effectRef>
          <a:fontRef idx="minor">
            <a:schemeClr val="dk1"/>
          </a:fontRef>
        </dgm:style>
      </dgm:prSet>
      <dgm:spPr>
        <a:ln>
          <a:solidFill>
            <a:srgbClr val="E04F28"/>
          </a:solidFill>
        </a:ln>
      </dgm:spPr>
      <dgm:t>
        <a:bodyPr/>
        <a:lstStyle/>
        <a:p>
          <a:pPr algn="ctr"/>
          <a:r>
            <a:rPr lang="en-US" sz="2400" b="1" dirty="0"/>
            <a:t>Scanning Techniques:</a:t>
          </a:r>
        </a:p>
        <a:p>
          <a:pPr algn="l"/>
          <a:r>
            <a:rPr lang="en-US" sz="2400" dirty="0"/>
            <a:t>• Ping scan (-</a:t>
          </a:r>
          <a:r>
            <a:rPr lang="en-US" sz="2400" dirty="0" err="1"/>
            <a:t>sP</a:t>
          </a:r>
          <a:r>
            <a:rPr lang="en-US" sz="2400" dirty="0"/>
            <a:t>) - Host discovery</a:t>
          </a:r>
        </a:p>
        <a:p>
          <a:pPr algn="l">
            <a:buFont typeface="Arial" panose="020B0604020202020204" pitchFamily="34" charset="0"/>
            <a:buChar char="•"/>
          </a:pPr>
          <a:r>
            <a:rPr lang="pt-BR" sz="2400" dirty="0"/>
            <a:t>• OS detection (-O) - System fingerprinting</a:t>
          </a:r>
        </a:p>
        <a:p>
          <a:pPr algn="l">
            <a:buFont typeface="Arial" panose="020B0604020202020204" pitchFamily="34" charset="0"/>
            <a:buChar char="•"/>
          </a:pPr>
          <a:r>
            <a:rPr lang="en-US" sz="2400" dirty="0"/>
            <a:t>• Port scan - Service identification</a:t>
          </a:r>
          <a:endParaRPr lang="en-US" sz="2400" dirty="0">
            <a:latin typeface="Times New Roman" panose="02020603050405020304" pitchFamily="18" charset="0"/>
            <a:cs typeface="Times New Roman" panose="02020603050405020304" pitchFamily="18" charset="0"/>
          </a:endParaRPr>
        </a:p>
      </dgm:t>
    </dgm:pt>
    <dgm:pt modelId="{573313E6-24F5-4BDF-9E36-0439DD835956}" type="parTrans" cxnId="{494BA76C-8894-4A64-8134-2CDFF563FEC0}">
      <dgm:prSet/>
      <dgm:spPr/>
      <dgm:t>
        <a:bodyPr/>
        <a:lstStyle/>
        <a:p>
          <a:endParaRPr lang="en-US"/>
        </a:p>
      </dgm:t>
    </dgm:pt>
    <dgm:pt modelId="{4EA6B34C-705B-4B65-858A-A1A5A83407B3}" type="sibTrans" cxnId="{494BA76C-8894-4A64-8134-2CDFF563FEC0}">
      <dgm:prSet/>
      <dgm:spPr/>
      <dgm:t>
        <a:bodyPr/>
        <a:lstStyle/>
        <a:p>
          <a:endParaRPr lang="en-US"/>
        </a:p>
      </dgm:t>
    </dgm:pt>
    <dgm:pt modelId="{F43FE7F2-9AC3-48B6-964F-275C5DD2C692}">
      <dgm:prSet phldrT="[Text]" custT="1">
        <dgm:style>
          <a:lnRef idx="2">
            <a:schemeClr val="accent2"/>
          </a:lnRef>
          <a:fillRef idx="1">
            <a:schemeClr val="lt1"/>
          </a:fillRef>
          <a:effectRef idx="0">
            <a:schemeClr val="accent2"/>
          </a:effectRef>
          <a:fontRef idx="minor">
            <a:schemeClr val="dk1"/>
          </a:fontRef>
        </dgm:style>
      </dgm:prSet>
      <dgm:spPr>
        <a:ln>
          <a:solidFill>
            <a:srgbClr val="E04F28"/>
          </a:solidFill>
        </a:ln>
      </dgm:spPr>
      <dgm:t>
        <a:bodyPr/>
        <a:lstStyle/>
        <a:p>
          <a:pPr algn="ctr"/>
          <a:r>
            <a:rPr lang="en-US" sz="2400" b="1" dirty="0"/>
            <a:t>Hardened Ports:</a:t>
          </a:r>
        </a:p>
        <a:p>
          <a:pPr algn="l"/>
          <a:r>
            <a:rPr lang="en-US" sz="2400" dirty="0"/>
            <a:t>•135/</a:t>
          </a:r>
          <a:r>
            <a:rPr lang="en-US" sz="2400" dirty="0" err="1"/>
            <a:t>tcp</a:t>
          </a:r>
          <a:r>
            <a:rPr lang="en-US" sz="2400" dirty="0"/>
            <a:t> (MSRPC) - Worm exploits</a:t>
          </a:r>
        </a:p>
        <a:p>
          <a:pPr algn="l">
            <a:buFont typeface="Arial" panose="020B0604020202020204" pitchFamily="34" charset="0"/>
            <a:buChar char="•"/>
          </a:pPr>
          <a:r>
            <a:rPr lang="en-US" sz="2400" dirty="0"/>
            <a:t>• 139/</a:t>
          </a:r>
          <a:r>
            <a:rPr lang="en-US" sz="2400" dirty="0" err="1"/>
            <a:t>tcp</a:t>
          </a:r>
          <a:r>
            <a:rPr lang="en-US" sz="2400" dirty="0"/>
            <a:t> (NetBIOS) - Brute-force</a:t>
          </a:r>
        </a:p>
        <a:p>
          <a:pPr algn="l">
            <a:buFont typeface="Arial" panose="020B0604020202020204" pitchFamily="34" charset="0"/>
            <a:buChar char="•"/>
          </a:pPr>
          <a:r>
            <a:rPr lang="en-US" sz="2400" dirty="0"/>
            <a:t>• 445/</a:t>
          </a:r>
          <a:r>
            <a:rPr lang="en-US" sz="2400" dirty="0" err="1"/>
            <a:t>tcp</a:t>
          </a:r>
          <a:r>
            <a:rPr lang="en-US" sz="2400" dirty="0"/>
            <a:t> (SMB) - Ransomware (WannaCry)</a:t>
          </a:r>
          <a:endParaRPr lang="en-US" sz="2400" dirty="0">
            <a:latin typeface="Times New Roman" panose="02020603050405020304" pitchFamily="18" charset="0"/>
            <a:cs typeface="Times New Roman" panose="02020603050405020304" pitchFamily="18" charset="0"/>
          </a:endParaRPr>
        </a:p>
      </dgm:t>
    </dgm:pt>
    <dgm:pt modelId="{58025920-66F1-4F36-A527-0C99686C0BAB}" type="sibTrans" cxnId="{C12EA072-B7A6-4813-8F02-06262207674E}">
      <dgm:prSet/>
      <dgm:spPr/>
      <dgm:t>
        <a:bodyPr/>
        <a:lstStyle/>
        <a:p>
          <a:endParaRPr lang="en-US"/>
        </a:p>
      </dgm:t>
    </dgm:pt>
    <dgm:pt modelId="{06D603B0-A98C-4DD9-848A-66EE220C809D}" type="parTrans" cxnId="{C12EA072-B7A6-4813-8F02-06262207674E}">
      <dgm:prSet/>
      <dgm:spPr/>
      <dgm:t>
        <a:bodyPr/>
        <a:lstStyle/>
        <a:p>
          <a:endParaRPr lang="en-US"/>
        </a:p>
      </dgm:t>
    </dgm:pt>
    <dgm:pt modelId="{7A637371-C955-4833-9274-94BF66B990B9}" type="pres">
      <dgm:prSet presAssocID="{ECCD32B8-B309-4773-93EE-9BA9658E4705}" presName="diagram" presStyleCnt="0">
        <dgm:presLayoutVars>
          <dgm:dir/>
          <dgm:resizeHandles val="exact"/>
        </dgm:presLayoutVars>
      </dgm:prSet>
      <dgm:spPr/>
    </dgm:pt>
    <dgm:pt modelId="{BE0F0493-3366-4E53-ABAE-B88C5951BFA8}" type="pres">
      <dgm:prSet presAssocID="{76B919E5-303A-4146-A88A-FD1389634073}" presName="node" presStyleLbl="node1" presStyleIdx="0" presStyleCnt="2">
        <dgm:presLayoutVars>
          <dgm:bulletEnabled val="1"/>
        </dgm:presLayoutVars>
      </dgm:prSet>
      <dgm:spPr/>
    </dgm:pt>
    <dgm:pt modelId="{C74E6FE9-4952-4204-B699-CCF8B4B1C2DC}" type="pres">
      <dgm:prSet presAssocID="{4EA6B34C-705B-4B65-858A-A1A5A83407B3}" presName="sibTrans" presStyleCnt="0"/>
      <dgm:spPr/>
    </dgm:pt>
    <dgm:pt modelId="{4BB0B3D5-4977-4CA9-A32E-D8D092009C68}" type="pres">
      <dgm:prSet presAssocID="{F43FE7F2-9AC3-48B6-964F-275C5DD2C692}" presName="node" presStyleLbl="node1" presStyleIdx="1" presStyleCnt="2">
        <dgm:presLayoutVars>
          <dgm:bulletEnabled val="1"/>
        </dgm:presLayoutVars>
      </dgm:prSet>
      <dgm:spPr/>
    </dgm:pt>
  </dgm:ptLst>
  <dgm:cxnLst>
    <dgm:cxn modelId="{2A5C232A-7617-47F8-B44B-A718CE72AFF0}" type="presOf" srcId="{F43FE7F2-9AC3-48B6-964F-275C5DD2C692}" destId="{4BB0B3D5-4977-4CA9-A32E-D8D092009C68}" srcOrd="0" destOrd="0" presId="urn:microsoft.com/office/officeart/2005/8/layout/default"/>
    <dgm:cxn modelId="{494BA76C-8894-4A64-8134-2CDFF563FEC0}" srcId="{ECCD32B8-B309-4773-93EE-9BA9658E4705}" destId="{76B919E5-303A-4146-A88A-FD1389634073}" srcOrd="0" destOrd="0" parTransId="{573313E6-24F5-4BDF-9E36-0439DD835956}" sibTransId="{4EA6B34C-705B-4B65-858A-A1A5A83407B3}"/>
    <dgm:cxn modelId="{C12EA072-B7A6-4813-8F02-06262207674E}" srcId="{ECCD32B8-B309-4773-93EE-9BA9658E4705}" destId="{F43FE7F2-9AC3-48B6-964F-275C5DD2C692}" srcOrd="1" destOrd="0" parTransId="{06D603B0-A98C-4DD9-848A-66EE220C809D}" sibTransId="{58025920-66F1-4F36-A527-0C99686C0BAB}"/>
    <dgm:cxn modelId="{4B3A64B6-CAB7-4427-841F-E5D7B070828A}" type="presOf" srcId="{76B919E5-303A-4146-A88A-FD1389634073}" destId="{BE0F0493-3366-4E53-ABAE-B88C5951BFA8}" srcOrd="0" destOrd="0" presId="urn:microsoft.com/office/officeart/2005/8/layout/default"/>
    <dgm:cxn modelId="{9FC7B6D4-FD21-442E-80C2-D6DB0CDD710E}" type="presOf" srcId="{ECCD32B8-B309-4773-93EE-9BA9658E4705}" destId="{7A637371-C955-4833-9274-94BF66B990B9}" srcOrd="0" destOrd="0" presId="urn:microsoft.com/office/officeart/2005/8/layout/default"/>
    <dgm:cxn modelId="{019324FF-4C74-45DC-A9A7-E531048FDEA3}" type="presParOf" srcId="{7A637371-C955-4833-9274-94BF66B990B9}" destId="{BE0F0493-3366-4E53-ABAE-B88C5951BFA8}" srcOrd="0" destOrd="0" presId="urn:microsoft.com/office/officeart/2005/8/layout/default"/>
    <dgm:cxn modelId="{60DCC3C0-AE9D-4DC0-ADD3-0EF6931431C1}" type="presParOf" srcId="{7A637371-C955-4833-9274-94BF66B990B9}" destId="{C74E6FE9-4952-4204-B699-CCF8B4B1C2DC}" srcOrd="1" destOrd="0" presId="urn:microsoft.com/office/officeart/2005/8/layout/default"/>
    <dgm:cxn modelId="{9F6AD522-FBDF-40E9-BD49-2D2052931762}" type="presParOf" srcId="{7A637371-C955-4833-9274-94BF66B990B9}" destId="{4BB0B3D5-4977-4CA9-A32E-D8D092009C68}" srcOrd="2" destOrd="0" presId="urn:microsoft.com/office/officeart/2005/8/layout/defaul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0F0493-3366-4E53-ABAE-B88C5951BFA8}">
      <dsp:nvSpPr>
        <dsp:cNvPr id="0" name=""/>
        <dsp:cNvSpPr/>
      </dsp:nvSpPr>
      <dsp:spPr>
        <a:xfrm>
          <a:off x="147622" y="409552"/>
          <a:ext cx="5215151" cy="3129090"/>
        </a:xfrm>
        <a:prstGeom prst="rect">
          <a:avLst/>
        </a:prstGeom>
        <a:solidFill>
          <a:schemeClr val="lt1"/>
        </a:solidFill>
        <a:ln w="25400" cap="flat" cmpd="sng" algn="ctr">
          <a:solidFill>
            <a:srgbClr val="E04F28"/>
          </a:solidFill>
          <a:prstDash val="solid"/>
        </a:ln>
        <a:effectLst/>
      </dsp:spPr>
      <dsp:style>
        <a:lnRef idx="2">
          <a:schemeClr val="accent2"/>
        </a:lnRef>
        <a:fillRef idx="1">
          <a:schemeClr val="lt1"/>
        </a:fillRef>
        <a:effectRef idx="0">
          <a:schemeClr val="accent2"/>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u="sng" kern="1200" dirty="0">
              <a:latin typeface="+mn-lt"/>
              <a:cs typeface="Times New Roman" panose="02020603050405020304" pitchFamily="18" charset="0"/>
            </a:rPr>
            <a:t>Network Components</a:t>
          </a:r>
        </a:p>
        <a:p>
          <a:pPr marL="0" lvl="0" indent="0" algn="l" defTabSz="1066800">
            <a:lnSpc>
              <a:spcPct val="90000"/>
            </a:lnSpc>
            <a:spcBef>
              <a:spcPct val="0"/>
            </a:spcBef>
            <a:spcAft>
              <a:spcPct val="35000"/>
            </a:spcAft>
            <a:buNone/>
          </a:pPr>
          <a:r>
            <a:rPr lang="en-US" sz="2400" kern="1200" dirty="0">
              <a:latin typeface="+mn-lt"/>
              <a:cs typeface="Times New Roman" panose="02020603050405020304" pitchFamily="18" charset="0"/>
            </a:rPr>
            <a:t>• Cloud-PT– Internet connectivity</a:t>
          </a:r>
        </a:p>
        <a:p>
          <a:pPr marL="0" lvl="0" indent="0" algn="l" defTabSz="1066800">
            <a:lnSpc>
              <a:spcPct val="90000"/>
            </a:lnSpc>
            <a:spcBef>
              <a:spcPct val="0"/>
            </a:spcBef>
            <a:spcAft>
              <a:spcPct val="35000"/>
            </a:spcAft>
            <a:buNone/>
          </a:pPr>
          <a:r>
            <a:rPr lang="en-US" sz="2400" kern="1200" dirty="0">
              <a:latin typeface="+mn-lt"/>
              <a:cs typeface="Times New Roman" panose="02020603050405020304" pitchFamily="18" charset="0"/>
            </a:rPr>
            <a:t>Router (Cisco 1941) - Core routing</a:t>
          </a:r>
        </a:p>
        <a:p>
          <a:pPr marL="0" lvl="0" indent="0" algn="l" defTabSz="1066800">
            <a:lnSpc>
              <a:spcPct val="90000"/>
            </a:lnSpc>
            <a:spcBef>
              <a:spcPct val="0"/>
            </a:spcBef>
            <a:spcAft>
              <a:spcPct val="35000"/>
            </a:spcAft>
            <a:buNone/>
          </a:pPr>
          <a:r>
            <a:rPr lang="en-US" sz="2400" kern="1200" dirty="0">
              <a:latin typeface="+mn-lt"/>
              <a:cs typeface="Times New Roman" panose="02020603050405020304" pitchFamily="18" charset="0"/>
            </a:rPr>
            <a:t>• 2 Switches (2960) - LAN/IoT</a:t>
          </a:r>
        </a:p>
        <a:p>
          <a:pPr marL="0" lvl="0" indent="0" algn="l" defTabSz="1066800">
            <a:lnSpc>
              <a:spcPct val="90000"/>
            </a:lnSpc>
            <a:spcBef>
              <a:spcPct val="0"/>
            </a:spcBef>
            <a:spcAft>
              <a:spcPct val="35000"/>
            </a:spcAft>
            <a:buNone/>
          </a:pPr>
          <a:r>
            <a:rPr lang="en-US" sz="2400" kern="1200" dirty="0">
              <a:latin typeface="+mn-lt"/>
              <a:cs typeface="Times New Roman" panose="02020603050405020304" pitchFamily="18" charset="0"/>
            </a:rPr>
            <a:t>• Server - DHCP/DNS services</a:t>
          </a:r>
        </a:p>
        <a:p>
          <a:pPr marL="0" lvl="0" indent="0" algn="l" defTabSz="1066800">
            <a:lnSpc>
              <a:spcPct val="90000"/>
            </a:lnSpc>
            <a:spcBef>
              <a:spcPct val="0"/>
            </a:spcBef>
            <a:spcAft>
              <a:spcPct val="35000"/>
            </a:spcAft>
            <a:buNone/>
          </a:pPr>
          <a:r>
            <a:rPr lang="en-US" sz="2400" kern="1200" dirty="0">
              <a:latin typeface="+mn-lt"/>
              <a:cs typeface="Times New Roman" panose="02020603050405020304" pitchFamily="18" charset="0"/>
            </a:rPr>
            <a:t>• PC &amp; Printer - User zone</a:t>
          </a:r>
        </a:p>
        <a:p>
          <a:pPr marL="0" lvl="0" indent="0" algn="l" defTabSz="1066800">
            <a:lnSpc>
              <a:spcPct val="90000"/>
            </a:lnSpc>
            <a:spcBef>
              <a:spcPct val="0"/>
            </a:spcBef>
            <a:spcAft>
              <a:spcPct val="35000"/>
            </a:spcAft>
            <a:buNone/>
          </a:pPr>
          <a:r>
            <a:rPr lang="en-US" sz="2400" kern="1200" dirty="0">
              <a:latin typeface="+mn-lt"/>
              <a:cs typeface="Times New Roman" panose="02020603050405020304" pitchFamily="18" charset="0"/>
            </a:rPr>
            <a:t>• IoT devices - Smart LED, sensors</a:t>
          </a:r>
        </a:p>
      </dsp:txBody>
      <dsp:txXfrm>
        <a:off x="147622" y="409552"/>
        <a:ext cx="5215151" cy="3129090"/>
      </dsp:txXfrm>
    </dsp:sp>
    <dsp:sp modelId="{4BB0B3D5-4977-4CA9-A32E-D8D092009C68}">
      <dsp:nvSpPr>
        <dsp:cNvPr id="0" name=""/>
        <dsp:cNvSpPr/>
      </dsp:nvSpPr>
      <dsp:spPr>
        <a:xfrm>
          <a:off x="5739340" y="409552"/>
          <a:ext cx="5215151" cy="3129090"/>
        </a:xfrm>
        <a:prstGeom prst="rect">
          <a:avLst/>
        </a:prstGeom>
        <a:solidFill>
          <a:schemeClr val="lt1"/>
        </a:solidFill>
        <a:ln w="25400" cap="flat" cmpd="sng" algn="ctr">
          <a:solidFill>
            <a:srgbClr val="E04F28"/>
          </a:solidFill>
          <a:prstDash val="solid"/>
        </a:ln>
        <a:effectLst/>
      </dsp:spPr>
      <dsp:style>
        <a:lnRef idx="2">
          <a:schemeClr val="accent2"/>
        </a:lnRef>
        <a:fillRef idx="1">
          <a:schemeClr val="lt1"/>
        </a:fillRef>
        <a:effectRef idx="0">
          <a:schemeClr val="accent2"/>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u="sng" kern="1200" dirty="0">
              <a:latin typeface="+mn-lt"/>
              <a:cs typeface="Times New Roman" panose="02020603050405020304" pitchFamily="18" charset="0"/>
            </a:rPr>
            <a:t>Security Zones</a:t>
          </a:r>
        </a:p>
        <a:p>
          <a:pPr marL="0" lvl="0" indent="0" algn="l" defTabSz="1066800">
            <a:lnSpc>
              <a:spcPct val="90000"/>
            </a:lnSpc>
            <a:spcBef>
              <a:spcPct val="0"/>
            </a:spcBef>
            <a:spcAft>
              <a:spcPct val="35000"/>
            </a:spcAft>
            <a:buNone/>
          </a:pPr>
          <a:r>
            <a:rPr lang="en-US" sz="2400" kern="1200" dirty="0">
              <a:latin typeface="+mn-lt"/>
              <a:cs typeface="Times New Roman" panose="02020603050405020304" pitchFamily="18" charset="0"/>
            </a:rPr>
            <a:t>• DMZ: Server (public services)</a:t>
          </a:r>
        </a:p>
        <a:p>
          <a:pPr marL="0" lvl="0" indent="0" algn="l" defTabSz="1066800">
            <a:lnSpc>
              <a:spcPct val="90000"/>
            </a:lnSpc>
            <a:spcBef>
              <a:spcPct val="0"/>
            </a:spcBef>
            <a:spcAft>
              <a:spcPct val="35000"/>
            </a:spcAft>
            <a:buNone/>
          </a:pPr>
          <a:r>
            <a:rPr lang="en-US" sz="2400" kern="1200" dirty="0">
              <a:latin typeface="+mn-lt"/>
              <a:cs typeface="Times New Roman" panose="02020603050405020304" pitchFamily="18" charset="0"/>
            </a:rPr>
            <a:t>• User Zone: PC, Printer</a:t>
          </a:r>
        </a:p>
        <a:p>
          <a:pPr marL="0" lvl="0" indent="0" algn="l" defTabSz="1066800">
            <a:lnSpc>
              <a:spcPct val="90000"/>
            </a:lnSpc>
            <a:spcBef>
              <a:spcPct val="0"/>
            </a:spcBef>
            <a:spcAft>
              <a:spcPct val="35000"/>
            </a:spcAft>
            <a:buNone/>
          </a:pPr>
          <a:r>
            <a:rPr lang="en-US" sz="2400" kern="1200" dirty="0">
              <a:latin typeface="+mn-lt"/>
              <a:cs typeface="Times New Roman" panose="02020603050405020304" pitchFamily="18" charset="0"/>
            </a:rPr>
            <a:t>• IoT Zone: Smart devices</a:t>
          </a:r>
        </a:p>
        <a:p>
          <a:pPr marL="0" lvl="0" indent="0" algn="l" defTabSz="1066800">
            <a:lnSpc>
              <a:spcPct val="90000"/>
            </a:lnSpc>
            <a:spcBef>
              <a:spcPct val="0"/>
            </a:spcBef>
            <a:spcAft>
              <a:spcPct val="35000"/>
            </a:spcAft>
            <a:buNone/>
          </a:pPr>
          <a:r>
            <a:rPr lang="en-US" sz="2400" kern="1200" dirty="0">
              <a:latin typeface="+mn-lt"/>
              <a:cs typeface="Times New Roman" panose="02020603050405020304" pitchFamily="18" charset="0"/>
            </a:rPr>
            <a:t>• WAN Zone: Internet gateway</a:t>
          </a:r>
        </a:p>
      </dsp:txBody>
      <dsp:txXfrm>
        <a:off x="5739340" y="409552"/>
        <a:ext cx="5215151" cy="31290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0F0493-3366-4E53-ABAE-B88C5951BFA8}">
      <dsp:nvSpPr>
        <dsp:cNvPr id="0" name=""/>
        <dsp:cNvSpPr/>
      </dsp:nvSpPr>
      <dsp:spPr>
        <a:xfrm>
          <a:off x="849905" y="3025"/>
          <a:ext cx="9254681" cy="3459651"/>
        </a:xfrm>
        <a:prstGeom prst="rect">
          <a:avLst/>
        </a:prstGeom>
        <a:solidFill>
          <a:schemeClr val="lt1"/>
        </a:solidFill>
        <a:ln w="25400" cap="flat" cmpd="sng" algn="ctr">
          <a:solidFill>
            <a:srgbClr val="E04F28"/>
          </a:solidFill>
          <a:prstDash val="solid"/>
        </a:ln>
        <a:effectLst/>
      </dsp:spPr>
      <dsp:style>
        <a:lnRef idx="2">
          <a:schemeClr val="accent2"/>
        </a:lnRef>
        <a:fillRef idx="1">
          <a:schemeClr val="lt1"/>
        </a:fillRef>
        <a:effectRef idx="0">
          <a:schemeClr val="accent2"/>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 UFW Firewall Configuration</a:t>
          </a:r>
        </a:p>
        <a:p>
          <a:pPr marL="0" lvl="0" indent="0" algn="ctr" defTabSz="1066800">
            <a:lnSpc>
              <a:spcPct val="90000"/>
            </a:lnSpc>
            <a:spcBef>
              <a:spcPct val="0"/>
            </a:spcBef>
            <a:spcAft>
              <a:spcPct val="35000"/>
            </a:spcAft>
            <a:buFont typeface="Arial" panose="020B0604020202020204" pitchFamily="34" charset="0"/>
            <a:buNone/>
          </a:pPr>
          <a:r>
            <a:rPr lang="en-US" sz="2400" kern="1200" dirty="0"/>
            <a:t>• </a:t>
          </a:r>
          <a:r>
            <a:rPr lang="en-US" sz="2400" b="1" kern="1200" dirty="0"/>
            <a:t>Default deny incoming</a:t>
          </a:r>
          <a:r>
            <a:rPr lang="en-US" sz="2400" kern="1200" dirty="0"/>
            <a:t> - Block unauthorized access</a:t>
          </a:r>
        </a:p>
        <a:p>
          <a:pPr marL="0" lvl="0" indent="0" algn="ctr" defTabSz="1066800">
            <a:lnSpc>
              <a:spcPct val="90000"/>
            </a:lnSpc>
            <a:spcBef>
              <a:spcPct val="0"/>
            </a:spcBef>
            <a:spcAft>
              <a:spcPct val="35000"/>
            </a:spcAft>
            <a:buFont typeface="Arial" panose="020B0604020202020204" pitchFamily="34" charset="0"/>
            <a:buNone/>
          </a:pPr>
          <a:r>
            <a:rPr lang="en-US" sz="2400" kern="1200" dirty="0"/>
            <a:t>• </a:t>
          </a:r>
          <a:r>
            <a:rPr lang="en-US" sz="2400" b="1" kern="1200" dirty="0"/>
            <a:t>Default allow outgoing</a:t>
          </a:r>
          <a:r>
            <a:rPr lang="en-US" sz="2400" kern="1200" dirty="0"/>
            <a:t> - Permit internet connectivity</a:t>
          </a:r>
        </a:p>
        <a:p>
          <a:pPr marL="0" lvl="0" indent="0" algn="ctr" defTabSz="1066800">
            <a:lnSpc>
              <a:spcPct val="90000"/>
            </a:lnSpc>
            <a:spcBef>
              <a:spcPct val="0"/>
            </a:spcBef>
            <a:spcAft>
              <a:spcPct val="35000"/>
            </a:spcAft>
            <a:buFont typeface="Arial" panose="020B0604020202020204" pitchFamily="34" charset="0"/>
            <a:buNone/>
          </a:pPr>
          <a:r>
            <a:rPr lang="en-US" sz="2400" kern="1200" dirty="0"/>
            <a:t>• </a:t>
          </a:r>
          <a:r>
            <a:rPr lang="en-US" sz="2400" b="1" kern="1200" dirty="0"/>
            <a:t>Allow SSH (22/</a:t>
          </a:r>
          <a:r>
            <a:rPr lang="en-US" sz="2400" b="1" kern="1200" dirty="0" err="1"/>
            <a:t>tcp</a:t>
          </a:r>
          <a:r>
            <a:rPr lang="en-US" sz="2400" b="1" kern="1200" dirty="0"/>
            <a:t>)</a:t>
          </a:r>
          <a:r>
            <a:rPr lang="en-US" sz="2400" kern="1200" dirty="0"/>
            <a:t> - Remote administration</a:t>
          </a:r>
        </a:p>
        <a:p>
          <a:pPr marL="0" lvl="0" indent="0" algn="ctr" defTabSz="1066800">
            <a:lnSpc>
              <a:spcPct val="90000"/>
            </a:lnSpc>
            <a:spcBef>
              <a:spcPct val="0"/>
            </a:spcBef>
            <a:spcAft>
              <a:spcPct val="35000"/>
            </a:spcAft>
            <a:buFont typeface="Arial" panose="020B0604020202020204" pitchFamily="34" charset="0"/>
            <a:buNone/>
          </a:pPr>
          <a:r>
            <a:rPr lang="en-US" sz="2400" kern="1200" dirty="0"/>
            <a:t>• </a:t>
          </a:r>
          <a:r>
            <a:rPr lang="en-US" sz="2400" b="1" kern="1200" dirty="0"/>
            <a:t>Allow HTTP (80/</a:t>
          </a:r>
          <a:r>
            <a:rPr lang="en-US" sz="2400" b="1" kern="1200" dirty="0" err="1"/>
            <a:t>tcp</a:t>
          </a:r>
          <a:r>
            <a:rPr lang="en-US" sz="2400" b="1" kern="1200" dirty="0"/>
            <a:t>)</a:t>
          </a:r>
          <a:r>
            <a:rPr lang="en-US" sz="2400" kern="1200" dirty="0"/>
            <a:t> - Web services</a:t>
          </a:r>
        </a:p>
        <a:p>
          <a:pPr marL="0" lvl="0" indent="0" algn="ctr" defTabSz="1066800">
            <a:lnSpc>
              <a:spcPct val="90000"/>
            </a:lnSpc>
            <a:spcBef>
              <a:spcPct val="0"/>
            </a:spcBef>
            <a:spcAft>
              <a:spcPct val="35000"/>
            </a:spcAft>
            <a:buFont typeface="Arial" panose="020B0604020202020204" pitchFamily="34" charset="0"/>
            <a:buNone/>
          </a:pPr>
          <a:r>
            <a:rPr lang="en-US" sz="2400" kern="1200" dirty="0"/>
            <a:t>• </a:t>
          </a:r>
          <a:r>
            <a:rPr lang="en-US" sz="2400" b="1" kern="1200" dirty="0"/>
            <a:t>Dynamic rule management</a:t>
          </a:r>
          <a:r>
            <a:rPr lang="en-US" sz="2400" kern="1200" dirty="0"/>
            <a:t> - Add/remove as needed</a:t>
          </a:r>
          <a:endParaRPr lang="en-US" sz="2400" kern="1200" dirty="0">
            <a:latin typeface="Times New Roman" panose="02020603050405020304" pitchFamily="18" charset="0"/>
            <a:cs typeface="Times New Roman" panose="02020603050405020304" pitchFamily="18" charset="0"/>
          </a:endParaRPr>
        </a:p>
      </dsp:txBody>
      <dsp:txXfrm>
        <a:off x="849905" y="3025"/>
        <a:ext cx="9254681" cy="345965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0F0493-3366-4E53-ABAE-B88C5951BFA8}">
      <dsp:nvSpPr>
        <dsp:cNvPr id="0" name=""/>
        <dsp:cNvSpPr/>
      </dsp:nvSpPr>
      <dsp:spPr>
        <a:xfrm>
          <a:off x="1337" y="484995"/>
          <a:ext cx="5215151" cy="3129090"/>
        </a:xfrm>
        <a:prstGeom prst="rect">
          <a:avLst/>
        </a:prstGeom>
        <a:solidFill>
          <a:schemeClr val="lt1"/>
        </a:solidFill>
        <a:ln w="25400" cap="flat" cmpd="sng" algn="ctr">
          <a:solidFill>
            <a:srgbClr val="E04F28"/>
          </a:solidFill>
          <a:prstDash val="solid"/>
        </a:ln>
        <a:effectLst/>
      </dsp:spPr>
      <dsp:style>
        <a:lnRef idx="2">
          <a:schemeClr val="accent2"/>
        </a:lnRef>
        <a:fillRef idx="1">
          <a:schemeClr val="lt1"/>
        </a:fillRef>
        <a:effectRef idx="0">
          <a:schemeClr val="accent2"/>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Scanning Techniques:</a:t>
          </a:r>
        </a:p>
        <a:p>
          <a:pPr marL="0" lvl="0" indent="0" algn="l" defTabSz="1066800">
            <a:lnSpc>
              <a:spcPct val="90000"/>
            </a:lnSpc>
            <a:spcBef>
              <a:spcPct val="0"/>
            </a:spcBef>
            <a:spcAft>
              <a:spcPct val="35000"/>
            </a:spcAft>
            <a:buNone/>
          </a:pPr>
          <a:r>
            <a:rPr lang="en-US" sz="2400" kern="1200" dirty="0"/>
            <a:t>• Ping scan (-</a:t>
          </a:r>
          <a:r>
            <a:rPr lang="en-US" sz="2400" kern="1200" dirty="0" err="1"/>
            <a:t>sP</a:t>
          </a:r>
          <a:r>
            <a:rPr lang="en-US" sz="2400" kern="1200" dirty="0"/>
            <a:t>) - Host discovery</a:t>
          </a:r>
        </a:p>
        <a:p>
          <a:pPr marL="0" lvl="0" indent="0" algn="l" defTabSz="1066800">
            <a:lnSpc>
              <a:spcPct val="90000"/>
            </a:lnSpc>
            <a:spcBef>
              <a:spcPct val="0"/>
            </a:spcBef>
            <a:spcAft>
              <a:spcPct val="35000"/>
            </a:spcAft>
            <a:buFont typeface="Arial" panose="020B0604020202020204" pitchFamily="34" charset="0"/>
            <a:buNone/>
          </a:pPr>
          <a:r>
            <a:rPr lang="pt-BR" sz="2400" kern="1200" dirty="0"/>
            <a:t>• OS detection (-O) - System fingerprinting</a:t>
          </a:r>
        </a:p>
        <a:p>
          <a:pPr marL="0" lvl="0" indent="0" algn="l" defTabSz="1066800">
            <a:lnSpc>
              <a:spcPct val="90000"/>
            </a:lnSpc>
            <a:spcBef>
              <a:spcPct val="0"/>
            </a:spcBef>
            <a:spcAft>
              <a:spcPct val="35000"/>
            </a:spcAft>
            <a:buFont typeface="Arial" panose="020B0604020202020204" pitchFamily="34" charset="0"/>
            <a:buNone/>
          </a:pPr>
          <a:r>
            <a:rPr lang="en-US" sz="2400" kern="1200" dirty="0"/>
            <a:t>• Port scan - Service identification</a:t>
          </a:r>
          <a:endParaRPr lang="en-US" sz="2400" kern="1200" dirty="0">
            <a:latin typeface="Times New Roman" panose="02020603050405020304" pitchFamily="18" charset="0"/>
            <a:cs typeface="Times New Roman" panose="02020603050405020304" pitchFamily="18" charset="0"/>
          </a:endParaRPr>
        </a:p>
      </dsp:txBody>
      <dsp:txXfrm>
        <a:off x="1337" y="484995"/>
        <a:ext cx="5215151" cy="3129090"/>
      </dsp:txXfrm>
    </dsp:sp>
    <dsp:sp modelId="{4BB0B3D5-4977-4CA9-A32E-D8D092009C68}">
      <dsp:nvSpPr>
        <dsp:cNvPr id="0" name=""/>
        <dsp:cNvSpPr/>
      </dsp:nvSpPr>
      <dsp:spPr>
        <a:xfrm>
          <a:off x="5738003" y="484995"/>
          <a:ext cx="5215151" cy="3129090"/>
        </a:xfrm>
        <a:prstGeom prst="rect">
          <a:avLst/>
        </a:prstGeom>
        <a:solidFill>
          <a:schemeClr val="lt1"/>
        </a:solidFill>
        <a:ln w="25400" cap="flat" cmpd="sng" algn="ctr">
          <a:solidFill>
            <a:srgbClr val="E04F28"/>
          </a:solidFill>
          <a:prstDash val="solid"/>
        </a:ln>
        <a:effectLst/>
      </dsp:spPr>
      <dsp:style>
        <a:lnRef idx="2">
          <a:schemeClr val="accent2"/>
        </a:lnRef>
        <a:fillRef idx="1">
          <a:schemeClr val="lt1"/>
        </a:fillRef>
        <a:effectRef idx="0">
          <a:schemeClr val="accent2"/>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Hardened Ports:</a:t>
          </a:r>
        </a:p>
        <a:p>
          <a:pPr marL="0" lvl="0" indent="0" algn="l" defTabSz="1066800">
            <a:lnSpc>
              <a:spcPct val="90000"/>
            </a:lnSpc>
            <a:spcBef>
              <a:spcPct val="0"/>
            </a:spcBef>
            <a:spcAft>
              <a:spcPct val="35000"/>
            </a:spcAft>
            <a:buNone/>
          </a:pPr>
          <a:r>
            <a:rPr lang="en-US" sz="2400" kern="1200" dirty="0"/>
            <a:t>•135/</a:t>
          </a:r>
          <a:r>
            <a:rPr lang="en-US" sz="2400" kern="1200" dirty="0" err="1"/>
            <a:t>tcp</a:t>
          </a:r>
          <a:r>
            <a:rPr lang="en-US" sz="2400" kern="1200" dirty="0"/>
            <a:t> (MSRPC) - Worm exploits</a:t>
          </a:r>
        </a:p>
        <a:p>
          <a:pPr marL="0" lvl="0" indent="0" algn="l" defTabSz="1066800">
            <a:lnSpc>
              <a:spcPct val="90000"/>
            </a:lnSpc>
            <a:spcBef>
              <a:spcPct val="0"/>
            </a:spcBef>
            <a:spcAft>
              <a:spcPct val="35000"/>
            </a:spcAft>
            <a:buFont typeface="Arial" panose="020B0604020202020204" pitchFamily="34" charset="0"/>
            <a:buNone/>
          </a:pPr>
          <a:r>
            <a:rPr lang="en-US" sz="2400" kern="1200" dirty="0"/>
            <a:t>• 139/</a:t>
          </a:r>
          <a:r>
            <a:rPr lang="en-US" sz="2400" kern="1200" dirty="0" err="1"/>
            <a:t>tcp</a:t>
          </a:r>
          <a:r>
            <a:rPr lang="en-US" sz="2400" kern="1200" dirty="0"/>
            <a:t> (NetBIOS) - Brute-force</a:t>
          </a:r>
        </a:p>
        <a:p>
          <a:pPr marL="0" lvl="0" indent="0" algn="l" defTabSz="1066800">
            <a:lnSpc>
              <a:spcPct val="90000"/>
            </a:lnSpc>
            <a:spcBef>
              <a:spcPct val="0"/>
            </a:spcBef>
            <a:spcAft>
              <a:spcPct val="35000"/>
            </a:spcAft>
            <a:buFont typeface="Arial" panose="020B0604020202020204" pitchFamily="34" charset="0"/>
            <a:buNone/>
          </a:pPr>
          <a:r>
            <a:rPr lang="en-US" sz="2400" kern="1200" dirty="0"/>
            <a:t>• 445/</a:t>
          </a:r>
          <a:r>
            <a:rPr lang="en-US" sz="2400" kern="1200" dirty="0" err="1"/>
            <a:t>tcp</a:t>
          </a:r>
          <a:r>
            <a:rPr lang="en-US" sz="2400" kern="1200" dirty="0"/>
            <a:t> (SMB) - Ransomware (WannaCry)</a:t>
          </a:r>
          <a:endParaRPr lang="en-US" sz="2400" kern="1200" dirty="0">
            <a:latin typeface="Times New Roman" panose="02020603050405020304" pitchFamily="18" charset="0"/>
            <a:cs typeface="Times New Roman" panose="02020603050405020304" pitchFamily="18" charset="0"/>
          </a:endParaRPr>
        </a:p>
      </dsp:txBody>
      <dsp:txXfrm>
        <a:off x="5738003" y="484995"/>
        <a:ext cx="5215151" cy="312909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 name="Google Shape;10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5" name="Google Shape;11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a:extLst>
            <a:ext uri="{FF2B5EF4-FFF2-40B4-BE49-F238E27FC236}">
              <a16:creationId xmlns:a16="http://schemas.microsoft.com/office/drawing/2014/main" id="{1C54E3F9-8963-7854-A673-9D4A6CF4EEC0}"/>
            </a:ext>
          </a:extLst>
        </p:cNvPr>
        <p:cNvGrpSpPr/>
        <p:nvPr/>
      </p:nvGrpSpPr>
      <p:grpSpPr>
        <a:xfrm>
          <a:off x="0" y="0"/>
          <a:ext cx="0" cy="0"/>
          <a:chOff x="0" y="0"/>
          <a:chExt cx="0" cy="0"/>
        </a:xfrm>
      </p:grpSpPr>
      <p:sp>
        <p:nvSpPr>
          <p:cNvPr id="114" name="Google Shape;114;p4:notes">
            <a:extLst>
              <a:ext uri="{FF2B5EF4-FFF2-40B4-BE49-F238E27FC236}">
                <a16:creationId xmlns:a16="http://schemas.microsoft.com/office/drawing/2014/main" id="{9B325F7D-CA88-62D4-6B0E-302F2B261BA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5" name="Google Shape;115;p4:notes">
            <a:extLst>
              <a:ext uri="{FF2B5EF4-FFF2-40B4-BE49-F238E27FC236}">
                <a16:creationId xmlns:a16="http://schemas.microsoft.com/office/drawing/2014/main" id="{2D22D264-5948-6AEC-8CFB-7AAA0C0D09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5199845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a:extLst>
            <a:ext uri="{FF2B5EF4-FFF2-40B4-BE49-F238E27FC236}">
              <a16:creationId xmlns:a16="http://schemas.microsoft.com/office/drawing/2014/main" id="{026ED37D-13E8-E70F-46AB-62C1FE6435D0}"/>
            </a:ext>
          </a:extLst>
        </p:cNvPr>
        <p:cNvGrpSpPr/>
        <p:nvPr/>
      </p:nvGrpSpPr>
      <p:grpSpPr>
        <a:xfrm>
          <a:off x="0" y="0"/>
          <a:ext cx="0" cy="0"/>
          <a:chOff x="0" y="0"/>
          <a:chExt cx="0" cy="0"/>
        </a:xfrm>
      </p:grpSpPr>
      <p:sp>
        <p:nvSpPr>
          <p:cNvPr id="114" name="Google Shape;114;p4:notes">
            <a:extLst>
              <a:ext uri="{FF2B5EF4-FFF2-40B4-BE49-F238E27FC236}">
                <a16:creationId xmlns:a16="http://schemas.microsoft.com/office/drawing/2014/main" id="{E26A58E0-CB2C-941E-1982-54AA08DF13F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5" name="Google Shape;115;p4:notes">
            <a:extLst>
              <a:ext uri="{FF2B5EF4-FFF2-40B4-BE49-F238E27FC236}">
                <a16:creationId xmlns:a16="http://schemas.microsoft.com/office/drawing/2014/main" id="{2A517FF6-D99F-D0A3-234C-82CC8EB0C1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4816078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a:extLst>
            <a:ext uri="{FF2B5EF4-FFF2-40B4-BE49-F238E27FC236}">
              <a16:creationId xmlns:a16="http://schemas.microsoft.com/office/drawing/2014/main" id="{769C3167-124A-C7D7-179A-65F653B62AC6}"/>
            </a:ext>
          </a:extLst>
        </p:cNvPr>
        <p:cNvGrpSpPr/>
        <p:nvPr/>
      </p:nvGrpSpPr>
      <p:grpSpPr>
        <a:xfrm>
          <a:off x="0" y="0"/>
          <a:ext cx="0" cy="0"/>
          <a:chOff x="0" y="0"/>
          <a:chExt cx="0" cy="0"/>
        </a:xfrm>
      </p:grpSpPr>
      <p:sp>
        <p:nvSpPr>
          <p:cNvPr id="114" name="Google Shape;114;p4:notes">
            <a:extLst>
              <a:ext uri="{FF2B5EF4-FFF2-40B4-BE49-F238E27FC236}">
                <a16:creationId xmlns:a16="http://schemas.microsoft.com/office/drawing/2014/main" id="{68076DE9-E0AA-B5AD-4B3C-1B0F1A5B95F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5" name="Google Shape;115;p4:notes">
            <a:extLst>
              <a:ext uri="{FF2B5EF4-FFF2-40B4-BE49-F238E27FC236}">
                <a16:creationId xmlns:a16="http://schemas.microsoft.com/office/drawing/2014/main" id="{F6AD7A13-A718-B9B4-62F6-829E349488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7129085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a:extLst>
            <a:ext uri="{FF2B5EF4-FFF2-40B4-BE49-F238E27FC236}">
              <a16:creationId xmlns:a16="http://schemas.microsoft.com/office/drawing/2014/main" id="{7F4B9EBC-B936-3E48-4C41-F5353C663FD0}"/>
            </a:ext>
          </a:extLst>
        </p:cNvPr>
        <p:cNvGrpSpPr/>
        <p:nvPr/>
      </p:nvGrpSpPr>
      <p:grpSpPr>
        <a:xfrm>
          <a:off x="0" y="0"/>
          <a:ext cx="0" cy="0"/>
          <a:chOff x="0" y="0"/>
          <a:chExt cx="0" cy="0"/>
        </a:xfrm>
      </p:grpSpPr>
      <p:sp>
        <p:nvSpPr>
          <p:cNvPr id="114" name="Google Shape;114;p4:notes">
            <a:extLst>
              <a:ext uri="{FF2B5EF4-FFF2-40B4-BE49-F238E27FC236}">
                <a16:creationId xmlns:a16="http://schemas.microsoft.com/office/drawing/2014/main" id="{870512D2-05B9-059F-0BF0-3947F7C2C83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5" name="Google Shape;115;p4:notes">
            <a:extLst>
              <a:ext uri="{FF2B5EF4-FFF2-40B4-BE49-F238E27FC236}">
                <a16:creationId xmlns:a16="http://schemas.microsoft.com/office/drawing/2014/main" id="{9606C704-ADE1-FDDF-6BB0-7413E0AAF93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3642652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a:extLst>
            <a:ext uri="{FF2B5EF4-FFF2-40B4-BE49-F238E27FC236}">
              <a16:creationId xmlns:a16="http://schemas.microsoft.com/office/drawing/2014/main" id="{BEDD4A70-BFBF-CB5D-EC0B-C14F38C3EB55}"/>
            </a:ext>
          </a:extLst>
        </p:cNvPr>
        <p:cNvGrpSpPr/>
        <p:nvPr/>
      </p:nvGrpSpPr>
      <p:grpSpPr>
        <a:xfrm>
          <a:off x="0" y="0"/>
          <a:ext cx="0" cy="0"/>
          <a:chOff x="0" y="0"/>
          <a:chExt cx="0" cy="0"/>
        </a:xfrm>
      </p:grpSpPr>
      <p:sp>
        <p:nvSpPr>
          <p:cNvPr id="114" name="Google Shape;114;p4:notes">
            <a:extLst>
              <a:ext uri="{FF2B5EF4-FFF2-40B4-BE49-F238E27FC236}">
                <a16:creationId xmlns:a16="http://schemas.microsoft.com/office/drawing/2014/main" id="{02062A46-4320-A48C-DAF0-270F4754DC1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5" name="Google Shape;115;p4:notes">
            <a:extLst>
              <a:ext uri="{FF2B5EF4-FFF2-40B4-BE49-F238E27FC236}">
                <a16:creationId xmlns:a16="http://schemas.microsoft.com/office/drawing/2014/main" id="{28169DD2-AA51-C334-99F2-0BE866E128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656052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a:extLst>
            <a:ext uri="{FF2B5EF4-FFF2-40B4-BE49-F238E27FC236}">
              <a16:creationId xmlns:a16="http://schemas.microsoft.com/office/drawing/2014/main" id="{92E7ACED-83B9-4B68-49FF-1E96F869C95A}"/>
            </a:ext>
          </a:extLst>
        </p:cNvPr>
        <p:cNvGrpSpPr/>
        <p:nvPr/>
      </p:nvGrpSpPr>
      <p:grpSpPr>
        <a:xfrm>
          <a:off x="0" y="0"/>
          <a:ext cx="0" cy="0"/>
          <a:chOff x="0" y="0"/>
          <a:chExt cx="0" cy="0"/>
        </a:xfrm>
      </p:grpSpPr>
      <p:sp>
        <p:nvSpPr>
          <p:cNvPr id="114" name="Google Shape;114;p4:notes">
            <a:extLst>
              <a:ext uri="{FF2B5EF4-FFF2-40B4-BE49-F238E27FC236}">
                <a16:creationId xmlns:a16="http://schemas.microsoft.com/office/drawing/2014/main" id="{36FC77FD-D022-A275-CADC-6BFB756FC97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15" name="Google Shape;115;p4:notes">
            <a:extLst>
              <a:ext uri="{FF2B5EF4-FFF2-40B4-BE49-F238E27FC236}">
                <a16:creationId xmlns:a16="http://schemas.microsoft.com/office/drawing/2014/main" id="{BF976946-B6FA-9747-8728-1F34D81A7B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631689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15" name="Google Shape;11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a:extLst>
            <a:ext uri="{FF2B5EF4-FFF2-40B4-BE49-F238E27FC236}">
              <a16:creationId xmlns:a16="http://schemas.microsoft.com/office/drawing/2014/main" id="{C7F76D63-2200-C1BA-2CED-50CCFC928718}"/>
            </a:ext>
          </a:extLst>
        </p:cNvPr>
        <p:cNvGrpSpPr/>
        <p:nvPr/>
      </p:nvGrpSpPr>
      <p:grpSpPr>
        <a:xfrm>
          <a:off x="0" y="0"/>
          <a:ext cx="0" cy="0"/>
          <a:chOff x="0" y="0"/>
          <a:chExt cx="0" cy="0"/>
        </a:xfrm>
      </p:grpSpPr>
      <p:sp>
        <p:nvSpPr>
          <p:cNvPr id="114" name="Google Shape;114;p4:notes">
            <a:extLst>
              <a:ext uri="{FF2B5EF4-FFF2-40B4-BE49-F238E27FC236}">
                <a16:creationId xmlns:a16="http://schemas.microsoft.com/office/drawing/2014/main" id="{2E8CE008-D9A4-E2F6-A545-E487B64A537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5" name="Google Shape;115;p4:notes">
            <a:extLst>
              <a:ext uri="{FF2B5EF4-FFF2-40B4-BE49-F238E27FC236}">
                <a16:creationId xmlns:a16="http://schemas.microsoft.com/office/drawing/2014/main" id="{319FFDE6-9008-F545-1F13-8C16E3F2A1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412929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a:extLst>
            <a:ext uri="{FF2B5EF4-FFF2-40B4-BE49-F238E27FC236}">
              <a16:creationId xmlns:a16="http://schemas.microsoft.com/office/drawing/2014/main" id="{252FFE49-565D-08A0-C141-13296CC05FDA}"/>
            </a:ext>
          </a:extLst>
        </p:cNvPr>
        <p:cNvGrpSpPr/>
        <p:nvPr/>
      </p:nvGrpSpPr>
      <p:grpSpPr>
        <a:xfrm>
          <a:off x="0" y="0"/>
          <a:ext cx="0" cy="0"/>
          <a:chOff x="0" y="0"/>
          <a:chExt cx="0" cy="0"/>
        </a:xfrm>
      </p:grpSpPr>
      <p:sp>
        <p:nvSpPr>
          <p:cNvPr id="114" name="Google Shape;114;p4:notes">
            <a:extLst>
              <a:ext uri="{FF2B5EF4-FFF2-40B4-BE49-F238E27FC236}">
                <a16:creationId xmlns:a16="http://schemas.microsoft.com/office/drawing/2014/main" id="{016B2525-3E90-0F61-1286-6CF08F234BB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15" name="Google Shape;115;p4:notes">
            <a:extLst>
              <a:ext uri="{FF2B5EF4-FFF2-40B4-BE49-F238E27FC236}">
                <a16:creationId xmlns:a16="http://schemas.microsoft.com/office/drawing/2014/main" id="{8E0D00B4-1694-A3E6-B670-9F5C2DF179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21128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a:extLst>
            <a:ext uri="{FF2B5EF4-FFF2-40B4-BE49-F238E27FC236}">
              <a16:creationId xmlns:a16="http://schemas.microsoft.com/office/drawing/2014/main" id="{C41CD7A7-21F0-2940-ACDA-46CBFBF49168}"/>
            </a:ext>
          </a:extLst>
        </p:cNvPr>
        <p:cNvGrpSpPr/>
        <p:nvPr/>
      </p:nvGrpSpPr>
      <p:grpSpPr>
        <a:xfrm>
          <a:off x="0" y="0"/>
          <a:ext cx="0" cy="0"/>
          <a:chOff x="0" y="0"/>
          <a:chExt cx="0" cy="0"/>
        </a:xfrm>
      </p:grpSpPr>
      <p:sp>
        <p:nvSpPr>
          <p:cNvPr id="114" name="Google Shape;114;p4:notes">
            <a:extLst>
              <a:ext uri="{FF2B5EF4-FFF2-40B4-BE49-F238E27FC236}">
                <a16:creationId xmlns:a16="http://schemas.microsoft.com/office/drawing/2014/main" id="{1C18A449-E50A-C884-9287-CE6D75EDFBD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5" name="Google Shape;115;p4:notes">
            <a:extLst>
              <a:ext uri="{FF2B5EF4-FFF2-40B4-BE49-F238E27FC236}">
                <a16:creationId xmlns:a16="http://schemas.microsoft.com/office/drawing/2014/main" id="{58989E2B-D9B6-FDA4-448B-20604FB235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882829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a:extLst>
            <a:ext uri="{FF2B5EF4-FFF2-40B4-BE49-F238E27FC236}">
              <a16:creationId xmlns:a16="http://schemas.microsoft.com/office/drawing/2014/main" id="{E4BFA359-9F4E-C284-C045-2A077430D762}"/>
            </a:ext>
          </a:extLst>
        </p:cNvPr>
        <p:cNvGrpSpPr/>
        <p:nvPr/>
      </p:nvGrpSpPr>
      <p:grpSpPr>
        <a:xfrm>
          <a:off x="0" y="0"/>
          <a:ext cx="0" cy="0"/>
          <a:chOff x="0" y="0"/>
          <a:chExt cx="0" cy="0"/>
        </a:xfrm>
      </p:grpSpPr>
      <p:sp>
        <p:nvSpPr>
          <p:cNvPr id="114" name="Google Shape;114;p4:notes">
            <a:extLst>
              <a:ext uri="{FF2B5EF4-FFF2-40B4-BE49-F238E27FC236}">
                <a16:creationId xmlns:a16="http://schemas.microsoft.com/office/drawing/2014/main" id="{B6BB4524-D993-A240-F86F-A2557D8C76E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15" name="Google Shape;115;p4:notes">
            <a:extLst>
              <a:ext uri="{FF2B5EF4-FFF2-40B4-BE49-F238E27FC236}">
                <a16:creationId xmlns:a16="http://schemas.microsoft.com/office/drawing/2014/main" id="{E5FAC2C4-3335-9AD3-12F7-ACB7533AB4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436241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a:extLst>
            <a:ext uri="{FF2B5EF4-FFF2-40B4-BE49-F238E27FC236}">
              <a16:creationId xmlns:a16="http://schemas.microsoft.com/office/drawing/2014/main" id="{A933DD5C-58D7-D649-CB62-5DA2050DA26C}"/>
            </a:ext>
          </a:extLst>
        </p:cNvPr>
        <p:cNvGrpSpPr/>
        <p:nvPr/>
      </p:nvGrpSpPr>
      <p:grpSpPr>
        <a:xfrm>
          <a:off x="0" y="0"/>
          <a:ext cx="0" cy="0"/>
          <a:chOff x="0" y="0"/>
          <a:chExt cx="0" cy="0"/>
        </a:xfrm>
      </p:grpSpPr>
      <p:sp>
        <p:nvSpPr>
          <p:cNvPr id="114" name="Google Shape;114;p4:notes">
            <a:extLst>
              <a:ext uri="{FF2B5EF4-FFF2-40B4-BE49-F238E27FC236}">
                <a16:creationId xmlns:a16="http://schemas.microsoft.com/office/drawing/2014/main" id="{E0A857F7-9979-69EA-D429-08A013C58FC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5" name="Google Shape;115;p4:notes">
            <a:extLst>
              <a:ext uri="{FF2B5EF4-FFF2-40B4-BE49-F238E27FC236}">
                <a16:creationId xmlns:a16="http://schemas.microsoft.com/office/drawing/2014/main" id="{94A2FD0A-0AA5-F2A0-4AB7-900AB14DAE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902782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a:extLst>
            <a:ext uri="{FF2B5EF4-FFF2-40B4-BE49-F238E27FC236}">
              <a16:creationId xmlns:a16="http://schemas.microsoft.com/office/drawing/2014/main" id="{C0F5D9A4-1D2C-F075-D0EE-B9FD2826194B}"/>
            </a:ext>
          </a:extLst>
        </p:cNvPr>
        <p:cNvGrpSpPr/>
        <p:nvPr/>
      </p:nvGrpSpPr>
      <p:grpSpPr>
        <a:xfrm>
          <a:off x="0" y="0"/>
          <a:ext cx="0" cy="0"/>
          <a:chOff x="0" y="0"/>
          <a:chExt cx="0" cy="0"/>
        </a:xfrm>
      </p:grpSpPr>
      <p:sp>
        <p:nvSpPr>
          <p:cNvPr id="114" name="Google Shape;114;p4:notes">
            <a:extLst>
              <a:ext uri="{FF2B5EF4-FFF2-40B4-BE49-F238E27FC236}">
                <a16:creationId xmlns:a16="http://schemas.microsoft.com/office/drawing/2014/main" id="{39029D36-9698-DC33-0BF4-DBB8C2C96F7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5" name="Google Shape;115;p4:notes">
            <a:extLst>
              <a:ext uri="{FF2B5EF4-FFF2-40B4-BE49-F238E27FC236}">
                <a16:creationId xmlns:a16="http://schemas.microsoft.com/office/drawing/2014/main" id="{563E20CC-573C-3315-7CD5-2D5F9BD6A2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122696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a:extLst>
            <a:ext uri="{FF2B5EF4-FFF2-40B4-BE49-F238E27FC236}">
              <a16:creationId xmlns:a16="http://schemas.microsoft.com/office/drawing/2014/main" id="{DCB96FEC-81F5-D32F-8BCF-0173F846C343}"/>
            </a:ext>
          </a:extLst>
        </p:cNvPr>
        <p:cNvGrpSpPr/>
        <p:nvPr/>
      </p:nvGrpSpPr>
      <p:grpSpPr>
        <a:xfrm>
          <a:off x="0" y="0"/>
          <a:ext cx="0" cy="0"/>
          <a:chOff x="0" y="0"/>
          <a:chExt cx="0" cy="0"/>
        </a:xfrm>
      </p:grpSpPr>
      <p:sp>
        <p:nvSpPr>
          <p:cNvPr id="114" name="Google Shape;114;p4:notes">
            <a:extLst>
              <a:ext uri="{FF2B5EF4-FFF2-40B4-BE49-F238E27FC236}">
                <a16:creationId xmlns:a16="http://schemas.microsoft.com/office/drawing/2014/main" id="{D9951EF3-04C5-020A-3631-E21FDAFC887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15" name="Google Shape;115;p4:notes">
            <a:extLst>
              <a:ext uri="{FF2B5EF4-FFF2-40B4-BE49-F238E27FC236}">
                <a16:creationId xmlns:a16="http://schemas.microsoft.com/office/drawing/2014/main" id="{A874B4F4-D7A3-7A1F-36DB-1C7CE52BC4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245764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a:extLst>
            <a:ext uri="{FF2B5EF4-FFF2-40B4-BE49-F238E27FC236}">
              <a16:creationId xmlns:a16="http://schemas.microsoft.com/office/drawing/2014/main" id="{DDC031EA-FE1F-43C6-1D9C-CF8F8004CE6F}"/>
            </a:ext>
          </a:extLst>
        </p:cNvPr>
        <p:cNvGrpSpPr/>
        <p:nvPr/>
      </p:nvGrpSpPr>
      <p:grpSpPr>
        <a:xfrm>
          <a:off x="0" y="0"/>
          <a:ext cx="0" cy="0"/>
          <a:chOff x="0" y="0"/>
          <a:chExt cx="0" cy="0"/>
        </a:xfrm>
      </p:grpSpPr>
      <p:sp>
        <p:nvSpPr>
          <p:cNvPr id="114" name="Google Shape;114;p4:notes">
            <a:extLst>
              <a:ext uri="{FF2B5EF4-FFF2-40B4-BE49-F238E27FC236}">
                <a16:creationId xmlns:a16="http://schemas.microsoft.com/office/drawing/2014/main" id="{24511920-6522-4D39-DDE1-A7E0BC17C72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15" name="Google Shape;115;p4:notes">
            <a:extLst>
              <a:ext uri="{FF2B5EF4-FFF2-40B4-BE49-F238E27FC236}">
                <a16:creationId xmlns:a16="http://schemas.microsoft.com/office/drawing/2014/main" id="{1F42C1EA-82FB-EB99-CEAF-15CB119AB9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741029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a:extLst>
            <a:ext uri="{FF2B5EF4-FFF2-40B4-BE49-F238E27FC236}">
              <a16:creationId xmlns:a16="http://schemas.microsoft.com/office/drawing/2014/main" id="{D77ED6A8-2AC6-A5B9-BAC4-17581594B12F}"/>
            </a:ext>
          </a:extLst>
        </p:cNvPr>
        <p:cNvGrpSpPr/>
        <p:nvPr/>
      </p:nvGrpSpPr>
      <p:grpSpPr>
        <a:xfrm>
          <a:off x="0" y="0"/>
          <a:ext cx="0" cy="0"/>
          <a:chOff x="0" y="0"/>
          <a:chExt cx="0" cy="0"/>
        </a:xfrm>
      </p:grpSpPr>
      <p:sp>
        <p:nvSpPr>
          <p:cNvPr id="114" name="Google Shape;114;p4:notes">
            <a:extLst>
              <a:ext uri="{FF2B5EF4-FFF2-40B4-BE49-F238E27FC236}">
                <a16:creationId xmlns:a16="http://schemas.microsoft.com/office/drawing/2014/main" id="{291BC361-E069-7130-A6DB-ADBD2718794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5" name="Google Shape;115;p4:notes">
            <a:extLst>
              <a:ext uri="{FF2B5EF4-FFF2-40B4-BE49-F238E27FC236}">
                <a16:creationId xmlns:a16="http://schemas.microsoft.com/office/drawing/2014/main" id="{AE28558C-F8A9-859D-6619-514F3B3FDF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689723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a:extLst>
            <a:ext uri="{FF2B5EF4-FFF2-40B4-BE49-F238E27FC236}">
              <a16:creationId xmlns:a16="http://schemas.microsoft.com/office/drawing/2014/main" id="{A4F133B8-0D08-9AF5-6A42-C166F73EC5AF}"/>
            </a:ext>
          </a:extLst>
        </p:cNvPr>
        <p:cNvGrpSpPr/>
        <p:nvPr/>
      </p:nvGrpSpPr>
      <p:grpSpPr>
        <a:xfrm>
          <a:off x="0" y="0"/>
          <a:ext cx="0" cy="0"/>
          <a:chOff x="0" y="0"/>
          <a:chExt cx="0" cy="0"/>
        </a:xfrm>
      </p:grpSpPr>
      <p:sp>
        <p:nvSpPr>
          <p:cNvPr id="114" name="Google Shape;114;p4:notes">
            <a:extLst>
              <a:ext uri="{FF2B5EF4-FFF2-40B4-BE49-F238E27FC236}">
                <a16:creationId xmlns:a16="http://schemas.microsoft.com/office/drawing/2014/main" id="{9D95F9B9-A33E-A8B4-C844-932371C8E3B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5" name="Google Shape;115;p4:notes">
            <a:extLst>
              <a:ext uri="{FF2B5EF4-FFF2-40B4-BE49-F238E27FC236}">
                <a16:creationId xmlns:a16="http://schemas.microsoft.com/office/drawing/2014/main" id="{3CEF04C6-9C05-E42D-729B-900428B8DF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452417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a:extLst>
            <a:ext uri="{FF2B5EF4-FFF2-40B4-BE49-F238E27FC236}">
              <a16:creationId xmlns:a16="http://schemas.microsoft.com/office/drawing/2014/main" id="{0D881D68-8D85-104B-30A2-180E175C67D2}"/>
            </a:ext>
          </a:extLst>
        </p:cNvPr>
        <p:cNvGrpSpPr/>
        <p:nvPr/>
      </p:nvGrpSpPr>
      <p:grpSpPr>
        <a:xfrm>
          <a:off x="0" y="0"/>
          <a:ext cx="0" cy="0"/>
          <a:chOff x="0" y="0"/>
          <a:chExt cx="0" cy="0"/>
        </a:xfrm>
      </p:grpSpPr>
      <p:sp>
        <p:nvSpPr>
          <p:cNvPr id="114" name="Google Shape;114;p4:notes">
            <a:extLst>
              <a:ext uri="{FF2B5EF4-FFF2-40B4-BE49-F238E27FC236}">
                <a16:creationId xmlns:a16="http://schemas.microsoft.com/office/drawing/2014/main" id="{CF0E3A5F-AF56-7A70-38F3-BE5C74893E8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5" name="Google Shape;115;p4:notes">
            <a:extLst>
              <a:ext uri="{FF2B5EF4-FFF2-40B4-BE49-F238E27FC236}">
                <a16:creationId xmlns:a16="http://schemas.microsoft.com/office/drawing/2014/main" id="{A7C42172-3636-2B71-8E69-4AF4D0970B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698487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8" name="Google Shape;14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7" name="Google Shape;13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A35F3D86-A91B-848B-2E8C-2AC7C50C7966}"/>
            </a:ext>
          </a:extLst>
        </p:cNvPr>
        <p:cNvGrpSpPr/>
        <p:nvPr/>
      </p:nvGrpSpPr>
      <p:grpSpPr>
        <a:xfrm>
          <a:off x="0" y="0"/>
          <a:ext cx="0" cy="0"/>
          <a:chOff x="0" y="0"/>
          <a:chExt cx="0" cy="0"/>
        </a:xfrm>
      </p:grpSpPr>
      <p:sp>
        <p:nvSpPr>
          <p:cNvPr id="136" name="Google Shape;136;p6:notes">
            <a:extLst>
              <a:ext uri="{FF2B5EF4-FFF2-40B4-BE49-F238E27FC236}">
                <a16:creationId xmlns:a16="http://schemas.microsoft.com/office/drawing/2014/main" id="{CC3AE1CD-A512-2887-CAEA-135301124FA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7" name="Google Shape;137;p6:notes">
            <a:extLst>
              <a:ext uri="{FF2B5EF4-FFF2-40B4-BE49-F238E27FC236}">
                <a16:creationId xmlns:a16="http://schemas.microsoft.com/office/drawing/2014/main" id="{609C8D27-748F-6CFE-3676-87B1934950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791068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9" name="Google Shape;159;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1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1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14"/>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1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8"/>
          <p:cNvSpPr>
            <a:spLocks noGrp="1"/>
          </p:cNvSpPr>
          <p:nvPr>
            <p:ph type="pic" idx="2"/>
          </p:nvPr>
        </p:nvSpPr>
        <p:spPr>
          <a:xfrm>
            <a:off x="5183188" y="987425"/>
            <a:ext cx="6172200" cy="4873625"/>
          </a:xfrm>
          <a:prstGeom prst="rect">
            <a:avLst/>
          </a:prstGeom>
          <a:noFill/>
          <a:ln>
            <a:noFill/>
          </a:ln>
        </p:spPr>
      </p:sp>
      <p:sp>
        <p:nvSpPr>
          <p:cNvPr id="64" name="Google Shape;64;p1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png"/><Relationship Id="rId7" Type="http://schemas.openxmlformats.org/officeDocument/2006/relationships/diagramQuickStyle" Target="../diagrams/quickStyle1.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2.png"/><Relationship Id="rId9" Type="http://schemas.microsoft.com/office/2007/relationships/diagramDrawing" Target="../diagrams/drawing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1.png"/><Relationship Id="rId7" Type="http://schemas.openxmlformats.org/officeDocument/2006/relationships/diagramQuickStyle" Target="../diagrams/quickStyle2.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2.png"/><Relationship Id="rId9" Type="http://schemas.microsoft.com/office/2007/relationships/diagramDrawing" Target="../diagrams/drawing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1.png"/><Relationship Id="rId7" Type="http://schemas.openxmlformats.org/officeDocument/2006/relationships/diagramQuickStyle" Target="../diagrams/quickStyle3.xm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2.png"/><Relationship Id="rId9" Type="http://schemas.microsoft.com/office/2007/relationships/diagramDrawing" Target="../diagrams/drawing3.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9.jpe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2.png"/><Relationship Id="rId9"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85" name="Google Shape;85;p1"/>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86" name="Google Shape;86;p1"/>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7" name="Google Shape;87;p1"/>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dk1"/>
                </a:solidFill>
                <a:latin typeface="Calibri"/>
                <a:ea typeface="Calibri"/>
                <a:cs typeface="Calibri"/>
                <a:sym typeface="Calibri"/>
              </a:rPr>
              <a:t>Disclaimer: This training material belongs to techcrush and shouldn’t be shared</a:t>
            </a:r>
            <a:endParaRPr sz="1400" b="0" i="0" u="none" strike="noStrike" cap="none">
              <a:solidFill>
                <a:srgbClr val="000000"/>
              </a:solidFill>
              <a:latin typeface="Arial"/>
              <a:ea typeface="Arial"/>
              <a:cs typeface="Arial"/>
              <a:sym typeface="Arial"/>
            </a:endParaRPr>
          </a:p>
        </p:txBody>
      </p:sp>
      <p:pic>
        <p:nvPicPr>
          <p:cNvPr id="88" name="Google Shape;88;p1"/>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89" name="Google Shape;89;p1"/>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90" name="Google Shape;90;p1"/>
          <p:cNvSpPr txBox="1"/>
          <p:nvPr/>
        </p:nvSpPr>
        <p:spPr>
          <a:xfrm>
            <a:off x="-825005" y="1056283"/>
            <a:ext cx="12192000" cy="6780534"/>
          </a:xfrm>
          <a:prstGeom prst="rect">
            <a:avLst/>
          </a:prstGeom>
          <a:noFill/>
          <a:ln>
            <a:noFill/>
          </a:ln>
        </p:spPr>
        <p:txBody>
          <a:bodyPr spcFirstLastPara="1" wrap="square" lIns="91425" tIns="45700" rIns="91425" bIns="45700" anchor="t" anchorCtr="0">
            <a:spAutoFit/>
          </a:bodyPr>
          <a:lstStyle/>
          <a:p>
            <a:pPr marL="457200" marR="0" lvl="0" indent="457200" algn="ctr" rtl="0">
              <a:lnSpc>
                <a:spcPct val="114000"/>
              </a:lnSpc>
              <a:spcBef>
                <a:spcPts val="0"/>
              </a:spcBef>
              <a:spcAft>
                <a:spcPts val="0"/>
              </a:spcAft>
              <a:buClr>
                <a:srgbClr val="000000"/>
              </a:buClr>
              <a:buSzPts val="4800"/>
              <a:buFont typeface="Arial"/>
              <a:buNone/>
            </a:pPr>
            <a:br>
              <a:rPr lang="en-US" sz="4800" b="1" i="0" u="none" strike="noStrike" cap="none" dirty="0">
                <a:solidFill>
                  <a:schemeClr val="dk1"/>
                </a:solidFill>
                <a:latin typeface="Arial"/>
                <a:ea typeface="Arial"/>
                <a:cs typeface="Arial"/>
                <a:sym typeface="Arial"/>
              </a:rPr>
            </a:br>
            <a:r>
              <a:rPr lang="en-US" sz="4800" b="1" i="0" u="none" strike="noStrike" cap="none" dirty="0" err="1">
                <a:solidFill>
                  <a:schemeClr val="dk1"/>
                </a:solidFill>
                <a:latin typeface="Arial"/>
                <a:ea typeface="Arial"/>
                <a:cs typeface="Arial"/>
                <a:sym typeface="Arial"/>
              </a:rPr>
              <a:t>TechCrush</a:t>
            </a:r>
            <a:r>
              <a:rPr lang="en-US" sz="4800" b="1" i="0" u="none" strike="noStrike" cap="none" dirty="0">
                <a:solidFill>
                  <a:schemeClr val="dk1"/>
                </a:solidFill>
                <a:latin typeface="Arial"/>
                <a:ea typeface="Arial"/>
                <a:cs typeface="Arial"/>
                <a:sym typeface="Arial"/>
              </a:rPr>
              <a:t> Capstone Project </a:t>
            </a:r>
            <a:endParaRPr sz="1400" b="0" i="0" u="none" strike="noStrike" cap="none" dirty="0">
              <a:solidFill>
                <a:srgbClr val="000000"/>
              </a:solidFill>
              <a:latin typeface="Arial"/>
              <a:ea typeface="Arial"/>
              <a:cs typeface="Arial"/>
              <a:sym typeface="Arial"/>
            </a:endParaRPr>
          </a:p>
          <a:p>
            <a:pPr marL="457200" marR="0" lvl="0" indent="457200" algn="ctr" rtl="0">
              <a:lnSpc>
                <a:spcPct val="114000"/>
              </a:lnSpc>
              <a:spcBef>
                <a:spcPts val="800"/>
              </a:spcBef>
              <a:spcAft>
                <a:spcPts val="0"/>
              </a:spcAft>
              <a:buClr>
                <a:srgbClr val="000000"/>
              </a:buClr>
              <a:buSzPts val="4800"/>
              <a:buFont typeface="Arial"/>
              <a:buNone/>
            </a:pPr>
            <a:r>
              <a:rPr lang="en-US" sz="4800" b="1" i="0" u="none" strike="noStrike" cap="none" dirty="0">
                <a:solidFill>
                  <a:schemeClr val="dk1"/>
                </a:solidFill>
                <a:latin typeface="Arial"/>
                <a:ea typeface="Arial"/>
                <a:cs typeface="Arial"/>
                <a:sym typeface="Arial"/>
              </a:rPr>
              <a:t>CAPSTONE PROJECT TOPIC 2</a:t>
            </a:r>
          </a:p>
          <a:p>
            <a:pPr marL="457200" marR="0" lvl="0" indent="457200" algn="ctr" rtl="0">
              <a:lnSpc>
                <a:spcPct val="114000"/>
              </a:lnSpc>
              <a:spcBef>
                <a:spcPts val="800"/>
              </a:spcBef>
              <a:spcAft>
                <a:spcPts val="0"/>
              </a:spcAft>
              <a:buClr>
                <a:srgbClr val="000000"/>
              </a:buClr>
              <a:buSzPts val="4800"/>
              <a:buFont typeface="Arial"/>
              <a:buNone/>
            </a:pPr>
            <a:r>
              <a:rPr lang="en-US" sz="4800" b="1" u="sng" dirty="0">
                <a:solidFill>
                  <a:schemeClr val="dk1"/>
                </a:solidFill>
              </a:rPr>
              <a:t>BUILDING A SECURE SMALL NETWORK</a:t>
            </a:r>
            <a:endParaRPr sz="1400" b="0" i="0" u="sng" strike="noStrike" cap="none" dirty="0">
              <a:solidFill>
                <a:srgbClr val="000000"/>
              </a:solidFill>
              <a:latin typeface="Arial"/>
              <a:ea typeface="Arial"/>
              <a:cs typeface="Arial"/>
              <a:sym typeface="Arial"/>
            </a:endParaRPr>
          </a:p>
          <a:p>
            <a:pPr marL="457200" marR="0" lvl="0" indent="457200" algn="ctr" rtl="0">
              <a:lnSpc>
                <a:spcPct val="114000"/>
              </a:lnSpc>
              <a:spcBef>
                <a:spcPts val="800"/>
              </a:spcBef>
              <a:spcAft>
                <a:spcPts val="0"/>
              </a:spcAft>
              <a:buClr>
                <a:srgbClr val="000000"/>
              </a:buClr>
              <a:buSzPts val="4800"/>
              <a:buFont typeface="Arial"/>
              <a:buNone/>
            </a:pPr>
            <a:endParaRPr sz="4800" b="1" i="0" u="none" strike="noStrike" cap="none" dirty="0">
              <a:solidFill>
                <a:schemeClr val="dk1"/>
              </a:solidFill>
              <a:latin typeface="Arial"/>
              <a:ea typeface="Arial"/>
              <a:cs typeface="Arial"/>
              <a:sym typeface="Arial"/>
            </a:endParaRPr>
          </a:p>
          <a:p>
            <a:pPr marL="457200" marR="0" lvl="0" indent="457200" algn="ctr" rtl="0">
              <a:lnSpc>
                <a:spcPct val="114000"/>
              </a:lnSpc>
              <a:spcBef>
                <a:spcPts val="800"/>
              </a:spcBef>
              <a:spcAft>
                <a:spcPts val="0"/>
              </a:spcAft>
              <a:buClr>
                <a:srgbClr val="000000"/>
              </a:buClr>
              <a:buSzPts val="3200"/>
              <a:buFont typeface="Arial"/>
              <a:buNone/>
            </a:pPr>
            <a:endParaRPr sz="3200" b="1" i="0" u="none" strike="noStrike" cap="none" dirty="0">
              <a:solidFill>
                <a:schemeClr val="dk1"/>
              </a:solidFill>
              <a:latin typeface="Arial"/>
              <a:ea typeface="Arial"/>
              <a:cs typeface="Arial"/>
              <a:sym typeface="Arial"/>
            </a:endParaRPr>
          </a:p>
          <a:p>
            <a:pPr marL="457200" marR="0" lvl="0" indent="457200" algn="ctr" rtl="0">
              <a:lnSpc>
                <a:spcPct val="114000"/>
              </a:lnSpc>
              <a:spcBef>
                <a:spcPts val="800"/>
              </a:spcBef>
              <a:spcAft>
                <a:spcPts val="0"/>
              </a:spcAft>
              <a:buClr>
                <a:srgbClr val="000000"/>
              </a:buClr>
              <a:buSzPts val="3200"/>
              <a:buFont typeface="Arial"/>
              <a:buNone/>
            </a:pPr>
            <a:r>
              <a:rPr lang="en-US" sz="3200" b="1" i="0" u="none" strike="noStrike" cap="none" dirty="0">
                <a:solidFill>
                  <a:schemeClr val="dk1"/>
                </a:solidFill>
                <a:latin typeface="Arial"/>
                <a:ea typeface="Arial"/>
                <a:cs typeface="Arial"/>
                <a:sym typeface="Arial"/>
              </a:rPr>
              <a:t>						         </a:t>
            </a:r>
            <a:endParaRPr sz="2000" b="1" i="0" u="none" strike="noStrike" cap="none" dirty="0">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3"/>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07" name="Google Shape;107;p3"/>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08" name="Google Shape;108;p3"/>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9" name="Google Shape;109;p3"/>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dirty="0">
                <a:solidFill>
                  <a:schemeClr val="dk1"/>
                </a:solidFill>
                <a:latin typeface="Calibri"/>
                <a:ea typeface="Calibri"/>
                <a:cs typeface="Calibri"/>
                <a:sym typeface="Calibri"/>
              </a:rPr>
              <a:t>Disclaimer: This training material belongs to </a:t>
            </a:r>
            <a:r>
              <a:rPr lang="en-US" sz="1800" b="0" i="1" u="none" strike="noStrike" cap="none" dirty="0" err="1">
                <a:solidFill>
                  <a:schemeClr val="dk1"/>
                </a:solidFill>
                <a:latin typeface="Calibri"/>
                <a:ea typeface="Calibri"/>
                <a:cs typeface="Calibri"/>
                <a:sym typeface="Calibri"/>
              </a:rPr>
              <a:t>techcrush</a:t>
            </a:r>
            <a:r>
              <a:rPr lang="en-US" sz="1800" b="0" i="1" u="none" strike="noStrike" cap="none" dirty="0">
                <a:solidFill>
                  <a:schemeClr val="dk1"/>
                </a:solidFill>
                <a:latin typeface="Calibri"/>
                <a:ea typeface="Calibri"/>
                <a:cs typeface="Calibri"/>
                <a:sym typeface="Calibri"/>
              </a:rPr>
              <a:t> and shouldn’t be shared</a:t>
            </a:r>
            <a:endParaRPr sz="1400" b="0" i="0" u="none" strike="noStrike" cap="none" dirty="0">
              <a:solidFill>
                <a:srgbClr val="000000"/>
              </a:solidFill>
              <a:latin typeface="Arial"/>
              <a:ea typeface="Arial"/>
              <a:cs typeface="Arial"/>
              <a:sym typeface="Arial"/>
            </a:endParaRPr>
          </a:p>
        </p:txBody>
      </p:sp>
      <p:pic>
        <p:nvPicPr>
          <p:cNvPr id="110" name="Google Shape;110;p3"/>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11" name="Google Shape;111;p3"/>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12" name="Google Shape;112;p3"/>
          <p:cNvSpPr txBox="1"/>
          <p:nvPr/>
        </p:nvSpPr>
        <p:spPr>
          <a:xfrm>
            <a:off x="628360" y="755373"/>
            <a:ext cx="6185396" cy="6200631"/>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3200"/>
              <a:buFont typeface="Arial"/>
              <a:buNone/>
            </a:pPr>
            <a:r>
              <a:rPr lang="en-US" sz="3200" b="1" i="0" u="none" strike="noStrike" cap="none" dirty="0">
                <a:solidFill>
                  <a:schemeClr val="dk1"/>
                </a:solidFill>
                <a:latin typeface="Arial"/>
                <a:ea typeface="Arial"/>
                <a:cs typeface="Arial"/>
                <a:sym typeface="Arial"/>
              </a:rPr>
              <a:t>Outline </a:t>
            </a:r>
            <a:endParaRPr sz="1400" b="0" i="0" u="none" strike="noStrike" cap="none" dirty="0">
              <a:solidFill>
                <a:srgbClr val="000000"/>
              </a:solidFill>
              <a:latin typeface="Arial"/>
              <a:ea typeface="Arial"/>
              <a:cs typeface="Arial"/>
              <a:sym typeface="Arial"/>
            </a:endParaRPr>
          </a:p>
          <a:p>
            <a:pPr marL="457200" marR="0" lvl="0" indent="-457200" rtl="0">
              <a:lnSpc>
                <a:spcPct val="115000"/>
              </a:lnSpc>
              <a:spcBef>
                <a:spcPts val="800"/>
              </a:spcBef>
              <a:spcAft>
                <a:spcPts val="0"/>
              </a:spcAft>
              <a:buClr>
                <a:schemeClr val="dk1"/>
              </a:buClr>
              <a:buSzPts val="3200"/>
              <a:buFont typeface="Wingdings" panose="05000000000000000000" pitchFamily="2" charset="2"/>
              <a:buChar char="§"/>
            </a:pPr>
            <a:r>
              <a:rPr lang="en-US" b="1" i="0" u="none" strike="noStrike" cap="none" dirty="0">
                <a:solidFill>
                  <a:schemeClr val="dk1"/>
                </a:solidFill>
                <a:latin typeface="Arial"/>
                <a:ea typeface="Arial"/>
                <a:cs typeface="Arial"/>
                <a:sym typeface="Arial"/>
              </a:rPr>
              <a:t>TITLE</a:t>
            </a:r>
          </a:p>
          <a:p>
            <a:pPr marL="457200" marR="0" lvl="0" indent="-457200" rtl="0">
              <a:lnSpc>
                <a:spcPct val="115000"/>
              </a:lnSpc>
              <a:spcBef>
                <a:spcPts val="800"/>
              </a:spcBef>
              <a:spcAft>
                <a:spcPts val="0"/>
              </a:spcAft>
              <a:buClr>
                <a:schemeClr val="dk1"/>
              </a:buClr>
              <a:buSzPts val="3200"/>
              <a:buFont typeface="Wingdings" panose="05000000000000000000" pitchFamily="2" charset="2"/>
              <a:buChar char="§"/>
            </a:pPr>
            <a:r>
              <a:rPr lang="en-US" b="1" i="0" u="none" strike="noStrike" cap="none" dirty="0">
                <a:solidFill>
                  <a:schemeClr val="dk1"/>
                </a:solidFill>
                <a:latin typeface="Arial"/>
                <a:ea typeface="Arial"/>
                <a:cs typeface="Arial"/>
                <a:sym typeface="Arial"/>
              </a:rPr>
              <a:t>AIM AND OBJECTIVE </a:t>
            </a:r>
            <a:endParaRPr lang="en-US" b="1" i="0" u="none" strike="noStrike" cap="none" dirty="0">
              <a:solidFill>
                <a:srgbClr val="000000"/>
              </a:solidFill>
              <a:latin typeface="Arial"/>
              <a:ea typeface="Arial"/>
              <a:cs typeface="Arial"/>
              <a:sym typeface="Arial"/>
            </a:endParaRPr>
          </a:p>
          <a:p>
            <a:pPr marL="457200" marR="0" lvl="0" indent="-457200" rtl="0">
              <a:lnSpc>
                <a:spcPct val="115000"/>
              </a:lnSpc>
              <a:spcBef>
                <a:spcPts val="800"/>
              </a:spcBef>
              <a:spcAft>
                <a:spcPts val="0"/>
              </a:spcAft>
              <a:buClr>
                <a:schemeClr val="dk1"/>
              </a:buClr>
              <a:buSzPts val="3200"/>
              <a:buFont typeface="Wingdings" panose="05000000000000000000" pitchFamily="2" charset="2"/>
              <a:buChar char="§"/>
            </a:pPr>
            <a:r>
              <a:rPr lang="en-US" b="1" i="0" u="none" strike="noStrike" cap="none" dirty="0">
                <a:solidFill>
                  <a:schemeClr val="dk1"/>
                </a:solidFill>
                <a:latin typeface="Arial"/>
                <a:ea typeface="Arial"/>
                <a:cs typeface="Arial"/>
                <a:sym typeface="Arial"/>
              </a:rPr>
              <a:t>METHODOLOGY </a:t>
            </a:r>
            <a:endParaRPr lang="en-US" b="1" dirty="0"/>
          </a:p>
          <a:p>
            <a:pPr marL="457200" marR="0" lvl="0" indent="-457200" rtl="0">
              <a:lnSpc>
                <a:spcPct val="115000"/>
              </a:lnSpc>
              <a:spcBef>
                <a:spcPts val="800"/>
              </a:spcBef>
              <a:spcAft>
                <a:spcPts val="0"/>
              </a:spcAft>
              <a:buClr>
                <a:schemeClr val="dk1"/>
              </a:buClr>
              <a:buSzPts val="3200"/>
              <a:buFont typeface="Wingdings" panose="05000000000000000000" pitchFamily="2" charset="2"/>
              <a:buChar char="§"/>
            </a:pPr>
            <a:r>
              <a:rPr lang="en-US" b="1" i="0" u="none" strike="noStrike" cap="none" dirty="0">
                <a:solidFill>
                  <a:schemeClr val="dk1"/>
                </a:solidFill>
                <a:latin typeface="Arial"/>
                <a:ea typeface="Arial"/>
                <a:cs typeface="Arial"/>
                <a:sym typeface="Arial"/>
              </a:rPr>
              <a:t>CONCEPT OF PROJECT</a:t>
            </a:r>
            <a:endParaRPr lang="en-US" b="1" dirty="0"/>
          </a:p>
          <a:p>
            <a:pPr marL="457200" marR="0" lvl="0" indent="-457200" rtl="0">
              <a:lnSpc>
                <a:spcPct val="115000"/>
              </a:lnSpc>
              <a:spcBef>
                <a:spcPts val="800"/>
              </a:spcBef>
              <a:spcAft>
                <a:spcPts val="0"/>
              </a:spcAft>
              <a:buClr>
                <a:schemeClr val="dk1"/>
              </a:buClr>
              <a:buSzPts val="3200"/>
              <a:buFont typeface="Wingdings" panose="05000000000000000000" pitchFamily="2" charset="2"/>
              <a:buChar char="§"/>
            </a:pPr>
            <a:r>
              <a:rPr lang="en-US" b="1" i="0" u="none" strike="noStrike" cap="none" dirty="0">
                <a:solidFill>
                  <a:schemeClr val="dk1"/>
                </a:solidFill>
                <a:latin typeface="Arial"/>
                <a:ea typeface="Arial"/>
                <a:cs typeface="Arial"/>
                <a:sym typeface="Arial"/>
              </a:rPr>
              <a:t>TOOLS USED</a:t>
            </a:r>
          </a:p>
          <a:p>
            <a:pPr marL="457200" marR="0" lvl="0" indent="-457200" rtl="0">
              <a:lnSpc>
                <a:spcPct val="115000"/>
              </a:lnSpc>
              <a:spcBef>
                <a:spcPts val="800"/>
              </a:spcBef>
              <a:spcAft>
                <a:spcPts val="0"/>
              </a:spcAft>
              <a:buClr>
                <a:schemeClr val="dk1"/>
              </a:buClr>
              <a:buSzPts val="3200"/>
              <a:buFont typeface="Wingdings" panose="05000000000000000000" pitchFamily="2" charset="2"/>
              <a:buChar char="§"/>
            </a:pPr>
            <a:r>
              <a:rPr lang="en-US" b="1" dirty="0"/>
              <a:t>IMAGES</a:t>
            </a:r>
          </a:p>
          <a:p>
            <a:pPr marL="457200" marR="0" lvl="0" indent="-457200" rtl="0">
              <a:lnSpc>
                <a:spcPct val="115000"/>
              </a:lnSpc>
              <a:spcBef>
                <a:spcPts val="800"/>
              </a:spcBef>
              <a:spcAft>
                <a:spcPts val="0"/>
              </a:spcAft>
              <a:buClr>
                <a:schemeClr val="dk1"/>
              </a:buClr>
              <a:buSzPts val="3200"/>
              <a:buFont typeface="Wingdings" panose="05000000000000000000" pitchFamily="2" charset="2"/>
              <a:buChar char="§"/>
            </a:pPr>
            <a:r>
              <a:rPr lang="en-US" b="1" dirty="0"/>
              <a:t>TASK 2.1 CISCO NETWORK</a:t>
            </a:r>
            <a:endParaRPr lang="en-US" b="1" i="0" u="none" strike="noStrike" cap="none" dirty="0">
              <a:solidFill>
                <a:srgbClr val="000000"/>
              </a:solidFill>
              <a:latin typeface="Arial"/>
              <a:ea typeface="Arial"/>
              <a:cs typeface="Arial"/>
              <a:sym typeface="Arial"/>
            </a:endParaRPr>
          </a:p>
          <a:p>
            <a:pPr marL="457200" marR="0" lvl="0" indent="-457200" rtl="0">
              <a:lnSpc>
                <a:spcPct val="115000"/>
              </a:lnSpc>
              <a:spcBef>
                <a:spcPts val="800"/>
              </a:spcBef>
              <a:spcAft>
                <a:spcPts val="0"/>
              </a:spcAft>
              <a:buClr>
                <a:schemeClr val="dk1"/>
              </a:buClr>
              <a:buSzPts val="3200"/>
              <a:buFont typeface="Wingdings" panose="05000000000000000000" pitchFamily="2" charset="2"/>
              <a:buChar char="§"/>
            </a:pPr>
            <a:r>
              <a:rPr lang="en-US" b="1" dirty="0"/>
              <a:t>TASK 2.2 BASIC NETWORK SECURITY</a:t>
            </a:r>
          </a:p>
          <a:p>
            <a:pPr marL="457200" marR="0" lvl="0" indent="-457200" rtl="0">
              <a:lnSpc>
                <a:spcPct val="115000"/>
              </a:lnSpc>
              <a:spcBef>
                <a:spcPts val="800"/>
              </a:spcBef>
              <a:spcAft>
                <a:spcPts val="0"/>
              </a:spcAft>
              <a:buClr>
                <a:schemeClr val="dk1"/>
              </a:buClr>
              <a:buSzPts val="3200"/>
              <a:buFont typeface="Wingdings" panose="05000000000000000000" pitchFamily="2" charset="2"/>
              <a:buChar char="§"/>
            </a:pPr>
            <a:r>
              <a:rPr lang="en-US" b="1" i="0" u="none" strike="noStrike" cap="none" dirty="0">
                <a:solidFill>
                  <a:srgbClr val="000000"/>
                </a:solidFill>
                <a:latin typeface="Arial"/>
                <a:ea typeface="Arial"/>
                <a:cs typeface="Arial"/>
                <a:sym typeface="Arial"/>
              </a:rPr>
              <a:t>TASK 2.3 SIMULATED BRUTE FORCE ATTACK</a:t>
            </a:r>
          </a:p>
          <a:p>
            <a:pPr marL="457200" marR="0" lvl="0" indent="-457200" rtl="0">
              <a:lnSpc>
                <a:spcPct val="115000"/>
              </a:lnSpc>
              <a:spcBef>
                <a:spcPts val="800"/>
              </a:spcBef>
              <a:spcAft>
                <a:spcPts val="0"/>
              </a:spcAft>
              <a:buClr>
                <a:schemeClr val="dk1"/>
              </a:buClr>
              <a:buSzPts val="3200"/>
              <a:buFont typeface="Wingdings" panose="05000000000000000000" pitchFamily="2" charset="2"/>
              <a:buChar char="§"/>
            </a:pPr>
            <a:r>
              <a:rPr lang="en-US" b="1" dirty="0"/>
              <a:t>OVERALL SUMMARY</a:t>
            </a:r>
            <a:endParaRPr lang="en-US" b="1" i="0" u="none" strike="noStrike" cap="none" dirty="0">
              <a:solidFill>
                <a:srgbClr val="000000"/>
              </a:solidFill>
              <a:latin typeface="Arial"/>
              <a:ea typeface="Arial"/>
              <a:cs typeface="Arial"/>
              <a:sym typeface="Arial"/>
            </a:endParaRPr>
          </a:p>
          <a:p>
            <a:pPr marL="457200" marR="0" lvl="0" indent="-457200" rtl="0">
              <a:lnSpc>
                <a:spcPct val="115000"/>
              </a:lnSpc>
              <a:spcBef>
                <a:spcPts val="800"/>
              </a:spcBef>
              <a:spcAft>
                <a:spcPts val="0"/>
              </a:spcAft>
              <a:buClr>
                <a:schemeClr val="dk1"/>
              </a:buClr>
              <a:buSzPts val="3200"/>
              <a:buFont typeface="Wingdings" panose="05000000000000000000" pitchFamily="2" charset="2"/>
              <a:buChar char="§"/>
            </a:pPr>
            <a:r>
              <a:rPr lang="en-US" b="1" i="0" u="none" strike="noStrike" cap="none" dirty="0">
                <a:solidFill>
                  <a:schemeClr val="dk1"/>
                </a:solidFill>
                <a:latin typeface="Arial"/>
                <a:ea typeface="Arial"/>
                <a:cs typeface="Arial"/>
                <a:sym typeface="Arial"/>
              </a:rPr>
              <a:t>CONCLUSION </a:t>
            </a:r>
          </a:p>
          <a:p>
            <a:pPr marL="457200" marR="0" lvl="0" indent="-457200" rtl="0">
              <a:lnSpc>
                <a:spcPct val="115000"/>
              </a:lnSpc>
              <a:spcBef>
                <a:spcPts val="800"/>
              </a:spcBef>
              <a:spcAft>
                <a:spcPts val="0"/>
              </a:spcAft>
              <a:buClr>
                <a:schemeClr val="dk1"/>
              </a:buClr>
              <a:buSzPts val="3200"/>
              <a:buFont typeface="Wingdings" panose="05000000000000000000" pitchFamily="2" charset="2"/>
              <a:buChar char="§"/>
            </a:pPr>
            <a:r>
              <a:rPr lang="en-US" b="1" dirty="0">
                <a:solidFill>
                  <a:schemeClr val="dk1"/>
                </a:solidFill>
              </a:rPr>
              <a:t>THANK YOU</a:t>
            </a:r>
            <a:endParaRPr lang="en-US" b="1" i="0" u="none" strike="noStrike" cap="none" dirty="0">
              <a:solidFill>
                <a:schemeClr val="dk1"/>
              </a:solidFill>
              <a:latin typeface="Arial"/>
              <a:ea typeface="Arial"/>
              <a:cs typeface="Arial"/>
              <a:sym typeface="Arial"/>
            </a:endParaRPr>
          </a:p>
          <a:p>
            <a:pPr marL="457200" marR="0" lvl="0" indent="-254000" algn="l" rtl="0">
              <a:lnSpc>
                <a:spcPct val="115000"/>
              </a:lnSpc>
              <a:spcBef>
                <a:spcPts val="800"/>
              </a:spcBef>
              <a:spcAft>
                <a:spcPts val="0"/>
              </a:spcAft>
              <a:buClr>
                <a:schemeClr val="dk1"/>
              </a:buClr>
              <a:buSzPts val="3200"/>
              <a:buFont typeface="Arial"/>
              <a:buNone/>
            </a:pPr>
            <a:endParaRPr sz="3200" b="0" i="0" u="none" strike="noStrike" cap="none" dirty="0">
              <a:solidFill>
                <a:schemeClr val="dk1"/>
              </a:solidFill>
              <a:latin typeface="Arial"/>
              <a:ea typeface="Arial"/>
              <a:cs typeface="Arial"/>
              <a:sym typeface="Arial"/>
            </a:endParaRPr>
          </a:p>
          <a:p>
            <a:pPr marL="0" marR="0" lvl="0" indent="0" algn="l" rtl="0">
              <a:lnSpc>
                <a:spcPct val="115000"/>
              </a:lnSpc>
              <a:spcBef>
                <a:spcPts val="800"/>
              </a:spcBef>
              <a:spcAft>
                <a:spcPts val="0"/>
              </a:spcAft>
              <a:buClr>
                <a:srgbClr val="000000"/>
              </a:buClr>
              <a:buSzPts val="3200"/>
              <a:buFont typeface="Arial"/>
              <a:buNone/>
            </a:pPr>
            <a:endParaRPr sz="3200" b="0" i="0" u="none" strike="noStrike" cap="none" dirty="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4"/>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18" name="Google Shape;118;p4"/>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19" name="Google Shape;119;p4"/>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0" name="Google Shape;120;p4"/>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dirty="0">
                <a:solidFill>
                  <a:schemeClr val="dk1"/>
                </a:solidFill>
                <a:latin typeface="Calibri"/>
                <a:ea typeface="Calibri"/>
                <a:cs typeface="Calibri"/>
                <a:sym typeface="Calibri"/>
              </a:rPr>
              <a:t>Disclaimer: This training material belongs to </a:t>
            </a:r>
            <a:r>
              <a:rPr lang="en-US" sz="1800" b="0" i="1" u="none" strike="noStrike" cap="none" dirty="0" err="1">
                <a:solidFill>
                  <a:schemeClr val="dk1"/>
                </a:solidFill>
                <a:latin typeface="Calibri"/>
                <a:ea typeface="Calibri"/>
                <a:cs typeface="Calibri"/>
                <a:sym typeface="Calibri"/>
              </a:rPr>
              <a:t>techcrush</a:t>
            </a:r>
            <a:r>
              <a:rPr lang="en-US" sz="1800" b="0" i="1" u="none" strike="noStrike" cap="none" dirty="0">
                <a:solidFill>
                  <a:schemeClr val="dk1"/>
                </a:solidFill>
                <a:latin typeface="Calibri"/>
                <a:ea typeface="Calibri"/>
                <a:cs typeface="Calibri"/>
                <a:sym typeface="Calibri"/>
              </a:rPr>
              <a:t> and shouldn’t be shared</a:t>
            </a:r>
            <a:endParaRPr sz="1400" b="0" i="0" u="none" strike="noStrike" cap="none" dirty="0">
              <a:solidFill>
                <a:srgbClr val="000000"/>
              </a:solidFill>
              <a:latin typeface="Arial"/>
              <a:ea typeface="Arial"/>
              <a:cs typeface="Arial"/>
              <a:sym typeface="Arial"/>
            </a:endParaRPr>
          </a:p>
        </p:txBody>
      </p:sp>
      <p:pic>
        <p:nvPicPr>
          <p:cNvPr id="121" name="Google Shape;121;p4"/>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22" name="Google Shape;122;p4"/>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3" name="TextBox 2">
            <a:extLst>
              <a:ext uri="{FF2B5EF4-FFF2-40B4-BE49-F238E27FC236}">
                <a16:creationId xmlns:a16="http://schemas.microsoft.com/office/drawing/2014/main" id="{67F5CC93-129D-B9A9-6269-772B90846A84}"/>
              </a:ext>
            </a:extLst>
          </p:cNvPr>
          <p:cNvSpPr txBox="1"/>
          <p:nvPr/>
        </p:nvSpPr>
        <p:spPr>
          <a:xfrm>
            <a:off x="480129" y="1575549"/>
            <a:ext cx="11231740" cy="4154984"/>
          </a:xfrm>
          <a:prstGeom prst="rect">
            <a:avLst/>
          </a:prstGeom>
          <a:noFill/>
        </p:spPr>
        <p:txBody>
          <a:bodyPr wrap="square">
            <a:spAutoFit/>
          </a:bodyPr>
          <a:lstStyle/>
          <a:p>
            <a:pPr algn="ctr"/>
            <a:r>
              <a:rPr lang="en-US" sz="3600" b="1" dirty="0"/>
              <a:t>Building a Secure Small Network</a:t>
            </a:r>
          </a:p>
          <a:p>
            <a:pPr algn="ctr">
              <a:buNone/>
            </a:pPr>
            <a:r>
              <a:rPr lang="en-US" sz="3600" b="1" dirty="0">
                <a:solidFill>
                  <a:schemeClr val="dk1"/>
                </a:solidFill>
              </a:rPr>
              <a:t>3 </a:t>
            </a:r>
            <a:r>
              <a:rPr lang="en-US" sz="3600" b="1" dirty="0"/>
              <a:t>Practical Approach to Network Security</a:t>
            </a:r>
            <a:r>
              <a:rPr lang="en-US" sz="3600" b="1" dirty="0">
                <a:solidFill>
                  <a:schemeClr val="dk1"/>
                </a:solidFill>
              </a:rPr>
              <a:t>:</a:t>
            </a:r>
          </a:p>
          <a:p>
            <a:pPr algn="ctr">
              <a:buNone/>
            </a:pPr>
            <a:endParaRPr lang="en-US" sz="3600" dirty="0">
              <a:solidFill>
                <a:schemeClr val="dk1"/>
              </a:solidFill>
            </a:endParaRPr>
          </a:p>
          <a:p>
            <a:pPr algn="ctr">
              <a:buNone/>
            </a:pPr>
            <a:r>
              <a:rPr lang="en-US" sz="4000" dirty="0">
                <a:solidFill>
                  <a:schemeClr val="dk1"/>
                </a:solidFill>
              </a:rPr>
              <a:t>•Network Diagram</a:t>
            </a:r>
          </a:p>
          <a:p>
            <a:pPr algn="ctr"/>
            <a:r>
              <a:rPr lang="en-US" sz="4000" dirty="0">
                <a:solidFill>
                  <a:schemeClr val="dk1"/>
                </a:solidFill>
              </a:rPr>
              <a:t>•Basic Network Security Controls</a:t>
            </a:r>
          </a:p>
          <a:p>
            <a:pPr algn="ctr"/>
            <a:r>
              <a:rPr lang="en-US" sz="4000" dirty="0">
                <a:solidFill>
                  <a:schemeClr val="dk1"/>
                </a:solidFill>
              </a:rPr>
              <a:t>•Simulated Threat &amp; Response </a:t>
            </a:r>
          </a:p>
          <a:p>
            <a:pPr algn="ctr">
              <a:buNone/>
            </a:pPr>
            <a:endParaRPr lang="en-US" sz="3600" dirty="0">
              <a:solidFill>
                <a:schemeClr val="dk1"/>
              </a:solidFill>
            </a:endParaRPr>
          </a:p>
        </p:txBody>
      </p:sp>
      <p:sp>
        <p:nvSpPr>
          <p:cNvPr id="4" name="TextBox 3">
            <a:extLst>
              <a:ext uri="{FF2B5EF4-FFF2-40B4-BE49-F238E27FC236}">
                <a16:creationId xmlns:a16="http://schemas.microsoft.com/office/drawing/2014/main" id="{F6F72B81-BAE4-1C99-D54B-F5514750A25C}"/>
              </a:ext>
            </a:extLst>
          </p:cNvPr>
          <p:cNvSpPr txBox="1"/>
          <p:nvPr/>
        </p:nvSpPr>
        <p:spPr>
          <a:xfrm>
            <a:off x="201337" y="973123"/>
            <a:ext cx="1322664" cy="707886"/>
          </a:xfrm>
          <a:prstGeom prst="rect">
            <a:avLst/>
          </a:prstGeom>
          <a:noFill/>
        </p:spPr>
        <p:txBody>
          <a:bodyPr wrap="square" rtlCol="0">
            <a:spAutoFit/>
          </a:bodyPr>
          <a:lstStyle/>
          <a:p>
            <a:r>
              <a:rPr lang="en-US" sz="4000" b="1" dirty="0"/>
              <a:t>Title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
          <a:extLst>
            <a:ext uri="{FF2B5EF4-FFF2-40B4-BE49-F238E27FC236}">
              <a16:creationId xmlns:a16="http://schemas.microsoft.com/office/drawing/2014/main" id="{0BDBC8E0-0394-AD8F-EB03-14295D5ED4B4}"/>
            </a:ext>
          </a:extLst>
        </p:cNvPr>
        <p:cNvGrpSpPr/>
        <p:nvPr/>
      </p:nvGrpSpPr>
      <p:grpSpPr>
        <a:xfrm>
          <a:off x="0" y="0"/>
          <a:ext cx="0" cy="0"/>
          <a:chOff x="0" y="0"/>
          <a:chExt cx="0" cy="0"/>
        </a:xfrm>
      </p:grpSpPr>
      <p:sp>
        <p:nvSpPr>
          <p:cNvPr id="117" name="Google Shape;117;p4">
            <a:extLst>
              <a:ext uri="{FF2B5EF4-FFF2-40B4-BE49-F238E27FC236}">
                <a16:creationId xmlns:a16="http://schemas.microsoft.com/office/drawing/2014/main" id="{14465CFE-E15B-6B37-733B-EC9EB52A5C5E}"/>
              </a:ext>
            </a:extLst>
          </p:cNvPr>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18" name="Google Shape;118;p4">
            <a:extLst>
              <a:ext uri="{FF2B5EF4-FFF2-40B4-BE49-F238E27FC236}">
                <a16:creationId xmlns:a16="http://schemas.microsoft.com/office/drawing/2014/main" id="{24C56061-1C26-02C3-E3FC-6C0FCFB14376}"/>
              </a:ext>
            </a:extLst>
          </p:cNvPr>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19" name="Google Shape;119;p4">
            <a:extLst>
              <a:ext uri="{FF2B5EF4-FFF2-40B4-BE49-F238E27FC236}">
                <a16:creationId xmlns:a16="http://schemas.microsoft.com/office/drawing/2014/main" id="{C26BDBFF-34E4-5C95-C431-65948CA0919F}"/>
              </a:ext>
            </a:extLst>
          </p:cNvPr>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0" name="Google Shape;120;p4">
            <a:extLst>
              <a:ext uri="{FF2B5EF4-FFF2-40B4-BE49-F238E27FC236}">
                <a16:creationId xmlns:a16="http://schemas.microsoft.com/office/drawing/2014/main" id="{319D8D66-DBE3-215B-58C1-DBBA67A18676}"/>
              </a:ext>
            </a:extLst>
          </p:cNvPr>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dirty="0">
                <a:solidFill>
                  <a:schemeClr val="dk1"/>
                </a:solidFill>
                <a:latin typeface="Calibri"/>
                <a:ea typeface="Calibri"/>
                <a:cs typeface="Calibri"/>
                <a:sym typeface="Calibri"/>
              </a:rPr>
              <a:t>Disclaimer: This training material belongs to </a:t>
            </a:r>
            <a:r>
              <a:rPr lang="en-US" sz="1800" b="0" i="1" u="none" strike="noStrike" cap="none" dirty="0" err="1">
                <a:solidFill>
                  <a:schemeClr val="dk1"/>
                </a:solidFill>
                <a:latin typeface="Calibri"/>
                <a:ea typeface="Calibri"/>
                <a:cs typeface="Calibri"/>
                <a:sym typeface="Calibri"/>
              </a:rPr>
              <a:t>techcrush</a:t>
            </a:r>
            <a:r>
              <a:rPr lang="en-US" sz="1800" b="0" i="1" u="none" strike="noStrike" cap="none" dirty="0">
                <a:solidFill>
                  <a:schemeClr val="dk1"/>
                </a:solidFill>
                <a:latin typeface="Calibri"/>
                <a:ea typeface="Calibri"/>
                <a:cs typeface="Calibri"/>
                <a:sym typeface="Calibri"/>
              </a:rPr>
              <a:t> and shouldn’t be shared</a:t>
            </a:r>
            <a:endParaRPr sz="1400" b="0" i="0" u="none" strike="noStrike" cap="none" dirty="0">
              <a:solidFill>
                <a:srgbClr val="000000"/>
              </a:solidFill>
              <a:latin typeface="Arial"/>
              <a:ea typeface="Arial"/>
              <a:cs typeface="Arial"/>
              <a:sym typeface="Arial"/>
            </a:endParaRPr>
          </a:p>
        </p:txBody>
      </p:sp>
      <p:pic>
        <p:nvPicPr>
          <p:cNvPr id="121" name="Google Shape;121;p4">
            <a:extLst>
              <a:ext uri="{FF2B5EF4-FFF2-40B4-BE49-F238E27FC236}">
                <a16:creationId xmlns:a16="http://schemas.microsoft.com/office/drawing/2014/main" id="{40984648-186F-F506-8C65-677927D3A98E}"/>
              </a:ext>
            </a:extLst>
          </p:cNvPr>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22" name="Google Shape;122;p4">
            <a:extLst>
              <a:ext uri="{FF2B5EF4-FFF2-40B4-BE49-F238E27FC236}">
                <a16:creationId xmlns:a16="http://schemas.microsoft.com/office/drawing/2014/main" id="{2076792C-769D-6278-2F08-C2236347298A}"/>
              </a:ext>
            </a:extLst>
          </p:cNvPr>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5" name="Google Shape;123;p4">
            <a:extLst>
              <a:ext uri="{FF2B5EF4-FFF2-40B4-BE49-F238E27FC236}">
                <a16:creationId xmlns:a16="http://schemas.microsoft.com/office/drawing/2014/main" id="{1EC5A262-1181-BEF5-1519-AEC909B5C4F1}"/>
              </a:ext>
            </a:extLst>
          </p:cNvPr>
          <p:cNvSpPr txBox="1"/>
          <p:nvPr/>
        </p:nvSpPr>
        <p:spPr>
          <a:xfrm>
            <a:off x="270098" y="3187081"/>
            <a:ext cx="3820639" cy="1469080"/>
          </a:xfrm>
          <a:prstGeom prst="rect">
            <a:avLst/>
          </a:prstGeom>
          <a:noFill/>
          <a:ln>
            <a:noFill/>
          </a:ln>
        </p:spPr>
        <p:txBody>
          <a:bodyPr spcFirstLastPara="1" wrap="square" lIns="91425" tIns="45700" rIns="91425" bIns="45700" anchor="t" anchorCtr="0">
            <a:spAutoFit/>
          </a:bodyPr>
          <a:lstStyle/>
          <a:p>
            <a:pPr lvl="0">
              <a:lnSpc>
                <a:spcPct val="115000"/>
              </a:lnSpc>
              <a:buSzPts val="2800"/>
            </a:pPr>
            <a:r>
              <a:rPr lang="en-US" sz="4400" b="1" i="0" u="none" strike="noStrike" cap="none" dirty="0">
                <a:solidFill>
                  <a:schemeClr val="dk1"/>
                </a:solidFill>
                <a:latin typeface="Arial"/>
                <a:ea typeface="Arial"/>
                <a:cs typeface="Arial"/>
                <a:sym typeface="Arial"/>
              </a:rPr>
              <a:t>Objectives</a:t>
            </a:r>
            <a:endParaRPr sz="4400" b="0" i="0" u="none" strike="noStrike" cap="none" dirty="0">
              <a:solidFill>
                <a:srgbClr val="000000"/>
              </a:solidFill>
              <a:latin typeface="Arial"/>
              <a:ea typeface="Arial"/>
              <a:cs typeface="Arial"/>
              <a:sym typeface="Arial"/>
            </a:endParaRPr>
          </a:p>
          <a:p>
            <a:pPr marL="457200" marR="0" lvl="0" indent="-279400" algn="l" rtl="0">
              <a:lnSpc>
                <a:spcPct val="115000"/>
              </a:lnSpc>
              <a:spcBef>
                <a:spcPts val="800"/>
              </a:spcBef>
              <a:spcAft>
                <a:spcPts val="0"/>
              </a:spcAft>
              <a:buClr>
                <a:schemeClr val="dk1"/>
              </a:buClr>
              <a:buSzPts val="2800"/>
              <a:buFont typeface="Arial"/>
              <a:buNone/>
            </a:pPr>
            <a:endParaRPr sz="2800" b="0" i="0" u="none" strike="noStrike" cap="none" dirty="0">
              <a:solidFill>
                <a:schemeClr val="dk1"/>
              </a:solidFill>
              <a:latin typeface="Arial"/>
              <a:ea typeface="Arial"/>
              <a:cs typeface="Arial"/>
              <a:sym typeface="Arial"/>
            </a:endParaRPr>
          </a:p>
        </p:txBody>
      </p:sp>
      <p:sp>
        <p:nvSpPr>
          <p:cNvPr id="7" name="TextBox 6">
            <a:extLst>
              <a:ext uri="{FF2B5EF4-FFF2-40B4-BE49-F238E27FC236}">
                <a16:creationId xmlns:a16="http://schemas.microsoft.com/office/drawing/2014/main" id="{0126FD23-386F-D5BB-7936-77FB15A679C3}"/>
              </a:ext>
            </a:extLst>
          </p:cNvPr>
          <p:cNvSpPr txBox="1"/>
          <p:nvPr/>
        </p:nvSpPr>
        <p:spPr>
          <a:xfrm>
            <a:off x="1138518" y="4059658"/>
            <a:ext cx="9609693" cy="1569660"/>
          </a:xfrm>
          <a:prstGeom prst="rect">
            <a:avLst/>
          </a:prstGeom>
          <a:noFill/>
        </p:spPr>
        <p:txBody>
          <a:bodyPr wrap="square">
            <a:spAutoFit/>
          </a:bodyPr>
          <a:lstStyle/>
          <a:p>
            <a:pPr lvl="0" eaLnBrk="0" fontAlgn="base" hangingPunct="0">
              <a:spcBef>
                <a:spcPct val="0"/>
              </a:spcBef>
              <a:spcAft>
                <a:spcPct val="0"/>
              </a:spcAft>
              <a:buClrTx/>
              <a:buFontTx/>
              <a:buChar char="•"/>
            </a:pPr>
            <a:r>
              <a:rPr lang="en-US" sz="2400" dirty="0"/>
              <a:t>Build the Network by designing a clear network layout</a:t>
            </a:r>
            <a:r>
              <a:rPr lang="en-US" altLang="en-US" sz="2400" dirty="0">
                <a:solidFill>
                  <a:schemeClr val="tx1"/>
                </a:solidFill>
                <a:latin typeface="Arial" panose="020B0604020202020204" pitchFamily="34" charset="0"/>
              </a:rPr>
              <a:t>.</a:t>
            </a:r>
          </a:p>
          <a:p>
            <a:pPr lvl="0" eaLnBrk="0" fontAlgn="base" hangingPunct="0">
              <a:spcBef>
                <a:spcPct val="0"/>
              </a:spcBef>
              <a:spcAft>
                <a:spcPct val="0"/>
              </a:spcAft>
              <a:buClrTx/>
              <a:buFontTx/>
              <a:buChar char="•"/>
            </a:pPr>
            <a:r>
              <a:rPr lang="en-US" sz="2400" dirty="0"/>
              <a:t>Implement Security Measures using firewalls, strong passwords etc.</a:t>
            </a:r>
          </a:p>
          <a:p>
            <a:pPr lvl="0" eaLnBrk="0" fontAlgn="base" hangingPunct="0">
              <a:spcBef>
                <a:spcPct val="0"/>
              </a:spcBef>
              <a:spcAft>
                <a:spcPct val="0"/>
              </a:spcAft>
              <a:buClrTx/>
              <a:buFontTx/>
              <a:buChar char="•"/>
            </a:pPr>
            <a:r>
              <a:rPr lang="en-US" sz="2400" dirty="0"/>
              <a:t>Test and Defend network by running simple attack simulations.</a:t>
            </a:r>
          </a:p>
          <a:p>
            <a:pPr lvl="0" eaLnBrk="0" fontAlgn="base" hangingPunct="0">
              <a:spcBef>
                <a:spcPct val="0"/>
              </a:spcBef>
              <a:spcAft>
                <a:spcPct val="0"/>
              </a:spcAft>
              <a:buClrTx/>
              <a:buFontTx/>
              <a:buChar char="•"/>
            </a:pPr>
            <a:r>
              <a:rPr lang="en-US" sz="2400" dirty="0"/>
              <a:t>Use monitoring tools to watch &amp; track network activity.</a:t>
            </a:r>
            <a:endParaRPr lang="en-US" sz="2400" dirty="0">
              <a:solidFill>
                <a:schemeClr val="dk1"/>
              </a:solidFill>
            </a:endParaRPr>
          </a:p>
        </p:txBody>
      </p:sp>
      <p:sp>
        <p:nvSpPr>
          <p:cNvPr id="2" name="Google Shape;123;p4">
            <a:extLst>
              <a:ext uri="{FF2B5EF4-FFF2-40B4-BE49-F238E27FC236}">
                <a16:creationId xmlns:a16="http://schemas.microsoft.com/office/drawing/2014/main" id="{B258CC14-0698-7E9C-232E-41D06055B310}"/>
              </a:ext>
            </a:extLst>
          </p:cNvPr>
          <p:cNvSpPr txBox="1"/>
          <p:nvPr/>
        </p:nvSpPr>
        <p:spPr>
          <a:xfrm>
            <a:off x="270098" y="874800"/>
            <a:ext cx="2109107" cy="1469080"/>
          </a:xfrm>
          <a:prstGeom prst="rect">
            <a:avLst/>
          </a:prstGeom>
          <a:noFill/>
          <a:ln>
            <a:noFill/>
          </a:ln>
        </p:spPr>
        <p:txBody>
          <a:bodyPr spcFirstLastPara="1" wrap="square" lIns="91425" tIns="45700" rIns="91425" bIns="45700" anchor="t" anchorCtr="0">
            <a:spAutoFit/>
          </a:bodyPr>
          <a:lstStyle/>
          <a:p>
            <a:pPr lvl="0">
              <a:lnSpc>
                <a:spcPct val="115000"/>
              </a:lnSpc>
              <a:buSzPts val="2800"/>
            </a:pPr>
            <a:r>
              <a:rPr lang="en-US" sz="4400" b="1" dirty="0">
                <a:solidFill>
                  <a:schemeClr val="dk1"/>
                </a:solidFill>
              </a:rPr>
              <a:t>Aim</a:t>
            </a:r>
            <a:endParaRPr sz="4400" b="0" i="0" u="none" strike="noStrike" cap="none" dirty="0">
              <a:solidFill>
                <a:srgbClr val="000000"/>
              </a:solidFill>
              <a:latin typeface="Arial"/>
              <a:ea typeface="Arial"/>
              <a:cs typeface="Arial"/>
              <a:sym typeface="Arial"/>
            </a:endParaRPr>
          </a:p>
          <a:p>
            <a:pPr marL="457200" marR="0" lvl="0" indent="-279400" algn="l" rtl="0">
              <a:lnSpc>
                <a:spcPct val="115000"/>
              </a:lnSpc>
              <a:spcBef>
                <a:spcPts val="800"/>
              </a:spcBef>
              <a:spcAft>
                <a:spcPts val="0"/>
              </a:spcAft>
              <a:buClr>
                <a:schemeClr val="dk1"/>
              </a:buClr>
              <a:buSzPts val="2800"/>
              <a:buFont typeface="Arial"/>
              <a:buNone/>
            </a:pPr>
            <a:endParaRPr sz="2800" b="0" i="0" u="none" strike="noStrike" cap="none" dirty="0">
              <a:solidFill>
                <a:schemeClr val="dk1"/>
              </a:solidFill>
              <a:latin typeface="Arial"/>
              <a:ea typeface="Arial"/>
              <a:cs typeface="Arial"/>
              <a:sym typeface="Arial"/>
            </a:endParaRPr>
          </a:p>
        </p:txBody>
      </p:sp>
      <p:sp>
        <p:nvSpPr>
          <p:cNvPr id="4" name="TextBox 3">
            <a:extLst>
              <a:ext uri="{FF2B5EF4-FFF2-40B4-BE49-F238E27FC236}">
                <a16:creationId xmlns:a16="http://schemas.microsoft.com/office/drawing/2014/main" id="{3B5981F7-A1BD-2952-B673-B395B92D5862}"/>
              </a:ext>
            </a:extLst>
          </p:cNvPr>
          <p:cNvSpPr txBox="1"/>
          <p:nvPr/>
        </p:nvSpPr>
        <p:spPr>
          <a:xfrm>
            <a:off x="1756387" y="1743715"/>
            <a:ext cx="8310975" cy="1569660"/>
          </a:xfrm>
          <a:prstGeom prst="rect">
            <a:avLst/>
          </a:prstGeom>
          <a:noFill/>
        </p:spPr>
        <p:txBody>
          <a:bodyPr wrap="square">
            <a:spAutoFit/>
          </a:bodyPr>
          <a:lstStyle/>
          <a:p>
            <a:pPr algn="ctr"/>
            <a:r>
              <a:rPr lang="en-US" sz="2400" dirty="0">
                <a:solidFill>
                  <a:schemeClr val="dk1"/>
                </a:solidFill>
              </a:rPr>
              <a:t>To design, implement and build a small enterprise network that integrates IT infrastructure with IoT devices, while demonstrating network security controls and threat response capabilities.</a:t>
            </a:r>
          </a:p>
        </p:txBody>
      </p:sp>
    </p:spTree>
    <p:extLst>
      <p:ext uri="{BB962C8B-B14F-4D97-AF65-F5344CB8AC3E}">
        <p14:creationId xmlns:p14="http://schemas.microsoft.com/office/powerpoint/2010/main" val="39144937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6">
          <a:extLst>
            <a:ext uri="{FF2B5EF4-FFF2-40B4-BE49-F238E27FC236}">
              <a16:creationId xmlns:a16="http://schemas.microsoft.com/office/drawing/2014/main" id="{868429C6-0B9B-7661-FB10-AB60EA9C9B89}"/>
            </a:ext>
          </a:extLst>
        </p:cNvPr>
        <p:cNvGrpSpPr/>
        <p:nvPr/>
      </p:nvGrpSpPr>
      <p:grpSpPr>
        <a:xfrm>
          <a:off x="0" y="0"/>
          <a:ext cx="0" cy="0"/>
          <a:chOff x="0" y="0"/>
          <a:chExt cx="0" cy="0"/>
        </a:xfrm>
      </p:grpSpPr>
      <p:sp>
        <p:nvSpPr>
          <p:cNvPr id="117" name="Google Shape;117;p4">
            <a:extLst>
              <a:ext uri="{FF2B5EF4-FFF2-40B4-BE49-F238E27FC236}">
                <a16:creationId xmlns:a16="http://schemas.microsoft.com/office/drawing/2014/main" id="{B3DC8611-FA6E-0378-4C93-4CAAEC06AE1C}"/>
              </a:ext>
            </a:extLst>
          </p:cNvPr>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18" name="Google Shape;118;p4">
            <a:extLst>
              <a:ext uri="{FF2B5EF4-FFF2-40B4-BE49-F238E27FC236}">
                <a16:creationId xmlns:a16="http://schemas.microsoft.com/office/drawing/2014/main" id="{60B180D8-512B-0655-785B-12B04518BB89}"/>
              </a:ext>
            </a:extLst>
          </p:cNvPr>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19" name="Google Shape;119;p4">
            <a:extLst>
              <a:ext uri="{FF2B5EF4-FFF2-40B4-BE49-F238E27FC236}">
                <a16:creationId xmlns:a16="http://schemas.microsoft.com/office/drawing/2014/main" id="{67684A56-DA57-67F7-5ACD-E301588FA10B}"/>
              </a:ext>
            </a:extLst>
          </p:cNvPr>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0" name="Google Shape;120;p4">
            <a:extLst>
              <a:ext uri="{FF2B5EF4-FFF2-40B4-BE49-F238E27FC236}">
                <a16:creationId xmlns:a16="http://schemas.microsoft.com/office/drawing/2014/main" id="{A4F21A69-7C32-E313-6F9D-04AC9F949957}"/>
              </a:ext>
            </a:extLst>
          </p:cNvPr>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dirty="0">
                <a:solidFill>
                  <a:schemeClr val="dk1"/>
                </a:solidFill>
                <a:latin typeface="Calibri"/>
                <a:ea typeface="Calibri"/>
                <a:cs typeface="Calibri"/>
                <a:sym typeface="Calibri"/>
              </a:rPr>
              <a:t>Disclaimer: This training material belongs to </a:t>
            </a:r>
            <a:r>
              <a:rPr lang="en-US" sz="1800" b="0" i="1" u="none" strike="noStrike" cap="none" dirty="0" err="1">
                <a:solidFill>
                  <a:schemeClr val="dk1"/>
                </a:solidFill>
                <a:latin typeface="Calibri"/>
                <a:ea typeface="Calibri"/>
                <a:cs typeface="Calibri"/>
                <a:sym typeface="Calibri"/>
              </a:rPr>
              <a:t>techcrush</a:t>
            </a:r>
            <a:r>
              <a:rPr lang="en-US" sz="1800" b="0" i="1" u="none" strike="noStrike" cap="none" dirty="0">
                <a:solidFill>
                  <a:schemeClr val="dk1"/>
                </a:solidFill>
                <a:latin typeface="Calibri"/>
                <a:ea typeface="Calibri"/>
                <a:cs typeface="Calibri"/>
                <a:sym typeface="Calibri"/>
              </a:rPr>
              <a:t> and shouldn’t be shared</a:t>
            </a:r>
            <a:endParaRPr sz="1400" b="0" i="0" u="none" strike="noStrike" cap="none" dirty="0">
              <a:solidFill>
                <a:srgbClr val="000000"/>
              </a:solidFill>
              <a:latin typeface="Arial"/>
              <a:ea typeface="Arial"/>
              <a:cs typeface="Arial"/>
              <a:sym typeface="Arial"/>
            </a:endParaRPr>
          </a:p>
        </p:txBody>
      </p:sp>
      <p:pic>
        <p:nvPicPr>
          <p:cNvPr id="121" name="Google Shape;121;p4">
            <a:extLst>
              <a:ext uri="{FF2B5EF4-FFF2-40B4-BE49-F238E27FC236}">
                <a16:creationId xmlns:a16="http://schemas.microsoft.com/office/drawing/2014/main" id="{1B006288-4991-74E8-1514-CAEEF0885EF3}"/>
              </a:ext>
            </a:extLst>
          </p:cNvPr>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22" name="Google Shape;122;p4">
            <a:extLst>
              <a:ext uri="{FF2B5EF4-FFF2-40B4-BE49-F238E27FC236}">
                <a16:creationId xmlns:a16="http://schemas.microsoft.com/office/drawing/2014/main" id="{3596DCB7-5017-21BA-3BC9-4E724F654B7A}"/>
              </a:ext>
            </a:extLst>
          </p:cNvPr>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23" name="Google Shape;123;p4">
            <a:extLst>
              <a:ext uri="{FF2B5EF4-FFF2-40B4-BE49-F238E27FC236}">
                <a16:creationId xmlns:a16="http://schemas.microsoft.com/office/drawing/2014/main" id="{C6E66B7A-8381-41A5-7EFB-5915CB1F3541}"/>
              </a:ext>
            </a:extLst>
          </p:cNvPr>
          <p:cNvSpPr txBox="1"/>
          <p:nvPr/>
        </p:nvSpPr>
        <p:spPr>
          <a:xfrm>
            <a:off x="109330" y="1232643"/>
            <a:ext cx="11748053" cy="1469080"/>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2800"/>
              <a:buFont typeface="Arial"/>
              <a:buNone/>
            </a:pPr>
            <a:r>
              <a:rPr lang="en-US" sz="4400" b="1" i="0" u="none" strike="noStrike" cap="none" dirty="0">
                <a:solidFill>
                  <a:schemeClr val="dk1"/>
                </a:solidFill>
                <a:latin typeface="Arial"/>
                <a:ea typeface="Arial"/>
                <a:cs typeface="Arial"/>
                <a:sym typeface="Arial"/>
              </a:rPr>
              <a:t>Methodology</a:t>
            </a:r>
            <a:endParaRPr sz="4400" b="0" i="0" u="none" strike="noStrike" cap="none" dirty="0">
              <a:solidFill>
                <a:srgbClr val="000000"/>
              </a:solidFill>
              <a:latin typeface="Arial"/>
              <a:ea typeface="Arial"/>
              <a:cs typeface="Arial"/>
              <a:sym typeface="Arial"/>
            </a:endParaRPr>
          </a:p>
          <a:p>
            <a:pPr marL="457200" marR="0" lvl="0" indent="-279400" algn="l" rtl="0">
              <a:lnSpc>
                <a:spcPct val="115000"/>
              </a:lnSpc>
              <a:spcBef>
                <a:spcPts val="800"/>
              </a:spcBef>
              <a:spcAft>
                <a:spcPts val="0"/>
              </a:spcAft>
              <a:buClr>
                <a:schemeClr val="dk1"/>
              </a:buClr>
              <a:buSzPts val="2800"/>
              <a:buFont typeface="Arial"/>
              <a:buNone/>
            </a:pPr>
            <a:endParaRPr sz="2800" b="0" i="0" u="none" strike="noStrike" cap="none" dirty="0">
              <a:solidFill>
                <a:schemeClr val="dk1"/>
              </a:solidFill>
              <a:latin typeface="Arial"/>
              <a:ea typeface="Arial"/>
              <a:cs typeface="Arial"/>
              <a:sym typeface="Arial"/>
            </a:endParaRPr>
          </a:p>
        </p:txBody>
      </p:sp>
      <p:sp>
        <p:nvSpPr>
          <p:cNvPr id="3" name="TextBox 2">
            <a:extLst>
              <a:ext uri="{FF2B5EF4-FFF2-40B4-BE49-F238E27FC236}">
                <a16:creationId xmlns:a16="http://schemas.microsoft.com/office/drawing/2014/main" id="{BB68EBF8-B93B-E06E-7566-309B8B4B9A24}"/>
              </a:ext>
            </a:extLst>
          </p:cNvPr>
          <p:cNvSpPr txBox="1"/>
          <p:nvPr/>
        </p:nvSpPr>
        <p:spPr>
          <a:xfrm>
            <a:off x="1342277" y="2798435"/>
            <a:ext cx="10269912" cy="2677656"/>
          </a:xfrm>
          <a:prstGeom prst="rect">
            <a:avLst/>
          </a:prstGeom>
          <a:noFill/>
        </p:spPr>
        <p:txBody>
          <a:bodyPr wrap="square">
            <a:spAutoFit/>
          </a:bodyPr>
          <a:lstStyle/>
          <a:p>
            <a:r>
              <a:rPr lang="en-US" sz="2400" b="1" dirty="0"/>
              <a:t>Lab Setup:</a:t>
            </a:r>
            <a:r>
              <a:rPr lang="en-US" sz="2400" dirty="0"/>
              <a:t> Create a network layout in Cisco Packet Tracer &amp; Virtual environment using Kali Linux.</a:t>
            </a:r>
          </a:p>
          <a:p>
            <a:r>
              <a:rPr lang="en-US" sz="2400" b="1" dirty="0"/>
              <a:t>Configuration:</a:t>
            </a:r>
            <a:r>
              <a:rPr lang="en-US" sz="2400" dirty="0"/>
              <a:t> Set up firewalls, apply rules and monitoring tools.</a:t>
            </a:r>
          </a:p>
          <a:p>
            <a:r>
              <a:rPr lang="en-US" sz="2400" b="1" dirty="0"/>
              <a:t>Testing:</a:t>
            </a:r>
            <a:r>
              <a:rPr lang="en-US" sz="2400" dirty="0"/>
              <a:t> Simulate attacks and monitor responses.</a:t>
            </a:r>
          </a:p>
          <a:p>
            <a:r>
              <a:rPr lang="en-US" sz="2400" b="1" dirty="0"/>
              <a:t>Evaluation:</a:t>
            </a:r>
            <a:r>
              <a:rPr lang="en-US" sz="2400" dirty="0"/>
              <a:t> Assess the effectiveness of security measures.</a:t>
            </a:r>
          </a:p>
          <a:p>
            <a:endParaRPr lang="en-US" sz="2400" dirty="0"/>
          </a:p>
          <a:p>
            <a:endParaRPr lang="en-US" sz="2400" dirty="0"/>
          </a:p>
        </p:txBody>
      </p:sp>
    </p:spTree>
    <p:extLst>
      <p:ext uri="{BB962C8B-B14F-4D97-AF65-F5344CB8AC3E}">
        <p14:creationId xmlns:p14="http://schemas.microsoft.com/office/powerpoint/2010/main" val="852843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a:extLst>
            <a:ext uri="{FF2B5EF4-FFF2-40B4-BE49-F238E27FC236}">
              <a16:creationId xmlns:a16="http://schemas.microsoft.com/office/drawing/2014/main" id="{C087A861-0EDA-4C42-CD8A-A346937149BA}"/>
            </a:ext>
          </a:extLst>
        </p:cNvPr>
        <p:cNvGrpSpPr/>
        <p:nvPr/>
      </p:nvGrpSpPr>
      <p:grpSpPr>
        <a:xfrm>
          <a:off x="0" y="0"/>
          <a:ext cx="0" cy="0"/>
          <a:chOff x="0" y="0"/>
          <a:chExt cx="0" cy="0"/>
        </a:xfrm>
      </p:grpSpPr>
      <p:sp>
        <p:nvSpPr>
          <p:cNvPr id="117" name="Google Shape;117;p4">
            <a:extLst>
              <a:ext uri="{FF2B5EF4-FFF2-40B4-BE49-F238E27FC236}">
                <a16:creationId xmlns:a16="http://schemas.microsoft.com/office/drawing/2014/main" id="{4F6DDD56-D45F-D098-9D8F-B6AFFF639F6A}"/>
              </a:ext>
            </a:extLst>
          </p:cNvPr>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18" name="Google Shape;118;p4">
            <a:extLst>
              <a:ext uri="{FF2B5EF4-FFF2-40B4-BE49-F238E27FC236}">
                <a16:creationId xmlns:a16="http://schemas.microsoft.com/office/drawing/2014/main" id="{648DEC85-56A8-8BEA-C2B3-F232AD4494BE}"/>
              </a:ext>
            </a:extLst>
          </p:cNvPr>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19" name="Google Shape;119;p4">
            <a:extLst>
              <a:ext uri="{FF2B5EF4-FFF2-40B4-BE49-F238E27FC236}">
                <a16:creationId xmlns:a16="http://schemas.microsoft.com/office/drawing/2014/main" id="{06C1308B-B1D9-FE86-57B5-37F9DB1A82B7}"/>
              </a:ext>
            </a:extLst>
          </p:cNvPr>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0" name="Google Shape;120;p4">
            <a:extLst>
              <a:ext uri="{FF2B5EF4-FFF2-40B4-BE49-F238E27FC236}">
                <a16:creationId xmlns:a16="http://schemas.microsoft.com/office/drawing/2014/main" id="{35E5926B-6CC4-93DC-723E-0E1A02802C42}"/>
              </a:ext>
            </a:extLst>
          </p:cNvPr>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dirty="0">
                <a:solidFill>
                  <a:schemeClr val="dk1"/>
                </a:solidFill>
                <a:latin typeface="Calibri"/>
                <a:ea typeface="Calibri"/>
                <a:cs typeface="Calibri"/>
                <a:sym typeface="Calibri"/>
              </a:rPr>
              <a:t>Disclaimer: This training material belongs to </a:t>
            </a:r>
            <a:r>
              <a:rPr lang="en-US" sz="1800" b="0" i="1" u="none" strike="noStrike" cap="none" dirty="0" err="1">
                <a:solidFill>
                  <a:schemeClr val="dk1"/>
                </a:solidFill>
                <a:latin typeface="Calibri"/>
                <a:ea typeface="Calibri"/>
                <a:cs typeface="Calibri"/>
                <a:sym typeface="Calibri"/>
              </a:rPr>
              <a:t>techcrush</a:t>
            </a:r>
            <a:r>
              <a:rPr lang="en-US" sz="1800" b="0" i="1" u="none" strike="noStrike" cap="none" dirty="0">
                <a:solidFill>
                  <a:schemeClr val="dk1"/>
                </a:solidFill>
                <a:latin typeface="Calibri"/>
                <a:ea typeface="Calibri"/>
                <a:cs typeface="Calibri"/>
                <a:sym typeface="Calibri"/>
              </a:rPr>
              <a:t> and shouldn’t be shared</a:t>
            </a:r>
            <a:endParaRPr sz="1400" b="0" i="0" u="none" strike="noStrike" cap="none" dirty="0">
              <a:solidFill>
                <a:srgbClr val="000000"/>
              </a:solidFill>
              <a:latin typeface="Arial"/>
              <a:ea typeface="Arial"/>
              <a:cs typeface="Arial"/>
              <a:sym typeface="Arial"/>
            </a:endParaRPr>
          </a:p>
        </p:txBody>
      </p:sp>
      <p:pic>
        <p:nvPicPr>
          <p:cNvPr id="121" name="Google Shape;121;p4">
            <a:extLst>
              <a:ext uri="{FF2B5EF4-FFF2-40B4-BE49-F238E27FC236}">
                <a16:creationId xmlns:a16="http://schemas.microsoft.com/office/drawing/2014/main" id="{04867101-8CBE-9AAD-64FB-6C66A0FACB5E}"/>
              </a:ext>
            </a:extLst>
          </p:cNvPr>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22" name="Google Shape;122;p4">
            <a:extLst>
              <a:ext uri="{FF2B5EF4-FFF2-40B4-BE49-F238E27FC236}">
                <a16:creationId xmlns:a16="http://schemas.microsoft.com/office/drawing/2014/main" id="{48F0093F-68B2-3344-1D89-7D6810A65FEC}"/>
              </a:ext>
            </a:extLst>
          </p:cNvPr>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23" name="Google Shape;123;p4">
            <a:extLst>
              <a:ext uri="{FF2B5EF4-FFF2-40B4-BE49-F238E27FC236}">
                <a16:creationId xmlns:a16="http://schemas.microsoft.com/office/drawing/2014/main" id="{59384EE2-CF16-EA25-268E-10AD8CC4843E}"/>
              </a:ext>
            </a:extLst>
          </p:cNvPr>
          <p:cNvSpPr txBox="1"/>
          <p:nvPr/>
        </p:nvSpPr>
        <p:spPr>
          <a:xfrm>
            <a:off x="-422363" y="540417"/>
            <a:ext cx="6183083" cy="1571672"/>
          </a:xfrm>
          <a:prstGeom prst="rect">
            <a:avLst/>
          </a:prstGeom>
          <a:noFill/>
          <a:ln>
            <a:noFill/>
          </a:ln>
        </p:spPr>
        <p:txBody>
          <a:bodyPr spcFirstLastPara="1" wrap="square" lIns="91425" tIns="45700" rIns="91425" bIns="45700" anchor="t" anchorCtr="0">
            <a:spAutoFit/>
          </a:bodyPr>
          <a:lstStyle/>
          <a:p>
            <a:pPr marL="457200" lvl="1">
              <a:lnSpc>
                <a:spcPct val="115000"/>
              </a:lnSpc>
              <a:spcBef>
                <a:spcPts val="800"/>
              </a:spcBef>
              <a:buClr>
                <a:schemeClr val="dk1"/>
              </a:buClr>
              <a:buSzPts val="3200"/>
            </a:pPr>
            <a:r>
              <a:rPr lang="en-US" sz="4400" b="1" dirty="0">
                <a:solidFill>
                  <a:schemeClr val="dk1"/>
                </a:solidFill>
              </a:rPr>
              <a:t>Concept of project</a:t>
            </a:r>
            <a:endParaRPr lang="en-US" sz="4400" dirty="0"/>
          </a:p>
          <a:p>
            <a:pPr marL="457200" marR="0" lvl="0" indent="-279400" algn="l" rtl="0">
              <a:lnSpc>
                <a:spcPct val="115000"/>
              </a:lnSpc>
              <a:spcBef>
                <a:spcPts val="800"/>
              </a:spcBef>
              <a:spcAft>
                <a:spcPts val="0"/>
              </a:spcAft>
              <a:buClr>
                <a:schemeClr val="dk1"/>
              </a:buClr>
              <a:buSzPts val="2800"/>
              <a:buFont typeface="Arial"/>
              <a:buNone/>
            </a:pPr>
            <a:endParaRPr sz="2800" b="0" i="0" u="none" strike="noStrike" cap="none" dirty="0">
              <a:solidFill>
                <a:schemeClr val="dk1"/>
              </a:solidFill>
              <a:latin typeface="Arial"/>
              <a:ea typeface="Arial"/>
              <a:cs typeface="Arial"/>
              <a:sym typeface="Arial"/>
            </a:endParaRPr>
          </a:p>
        </p:txBody>
      </p:sp>
      <p:sp>
        <p:nvSpPr>
          <p:cNvPr id="3" name="TextBox 2">
            <a:extLst>
              <a:ext uri="{FF2B5EF4-FFF2-40B4-BE49-F238E27FC236}">
                <a16:creationId xmlns:a16="http://schemas.microsoft.com/office/drawing/2014/main" id="{E5A86E72-095B-1C94-4FDF-9B5B0EAAAD14}"/>
              </a:ext>
            </a:extLst>
          </p:cNvPr>
          <p:cNvSpPr txBox="1"/>
          <p:nvPr/>
        </p:nvSpPr>
        <p:spPr>
          <a:xfrm>
            <a:off x="579122" y="1516579"/>
            <a:ext cx="11704320" cy="830997"/>
          </a:xfrm>
          <a:prstGeom prst="rect">
            <a:avLst/>
          </a:prstGeom>
          <a:noFill/>
        </p:spPr>
        <p:txBody>
          <a:bodyPr wrap="square">
            <a:spAutoFit/>
          </a:bodyPr>
          <a:lstStyle/>
          <a:p>
            <a:r>
              <a:rPr lang="en-US" sz="2400" dirty="0"/>
              <a:t>It involves Implementing multiple cybersecurity tools across network infrastructure to form a cohesive defense strategy. </a:t>
            </a:r>
          </a:p>
        </p:txBody>
      </p:sp>
      <p:pic>
        <p:nvPicPr>
          <p:cNvPr id="4" name="Picture 3" descr="A close-up of a computer screen">
            <a:extLst>
              <a:ext uri="{FF2B5EF4-FFF2-40B4-BE49-F238E27FC236}">
                <a16:creationId xmlns:a16="http://schemas.microsoft.com/office/drawing/2014/main" id="{F36D675F-87D3-3F1D-C6AE-3D175FB96067}"/>
              </a:ext>
            </a:extLst>
          </p:cNvPr>
          <p:cNvPicPr>
            <a:picLocks noChangeAspect="1"/>
          </p:cNvPicPr>
          <p:nvPr/>
        </p:nvPicPr>
        <p:blipFill>
          <a:blip r:embed="rId5"/>
          <a:stretch>
            <a:fillRect/>
          </a:stretch>
        </p:blipFill>
        <p:spPr>
          <a:xfrm>
            <a:off x="243839" y="2329412"/>
            <a:ext cx="11704320" cy="3999122"/>
          </a:xfrm>
          <a:prstGeom prst="rect">
            <a:avLst/>
          </a:prstGeom>
        </p:spPr>
      </p:pic>
    </p:spTree>
    <p:extLst>
      <p:ext uri="{BB962C8B-B14F-4D97-AF65-F5344CB8AC3E}">
        <p14:creationId xmlns:p14="http://schemas.microsoft.com/office/powerpoint/2010/main" val="2627190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a:extLst>
            <a:ext uri="{FF2B5EF4-FFF2-40B4-BE49-F238E27FC236}">
              <a16:creationId xmlns:a16="http://schemas.microsoft.com/office/drawing/2014/main" id="{22FBFB54-9D55-5051-3920-EF2DD9C449EA}"/>
            </a:ext>
          </a:extLst>
        </p:cNvPr>
        <p:cNvGrpSpPr/>
        <p:nvPr/>
      </p:nvGrpSpPr>
      <p:grpSpPr>
        <a:xfrm>
          <a:off x="0" y="0"/>
          <a:ext cx="0" cy="0"/>
          <a:chOff x="0" y="0"/>
          <a:chExt cx="0" cy="0"/>
        </a:xfrm>
      </p:grpSpPr>
      <p:sp>
        <p:nvSpPr>
          <p:cNvPr id="117" name="Google Shape;117;p4">
            <a:extLst>
              <a:ext uri="{FF2B5EF4-FFF2-40B4-BE49-F238E27FC236}">
                <a16:creationId xmlns:a16="http://schemas.microsoft.com/office/drawing/2014/main" id="{2016938D-4C39-A7BB-F939-5175B6050D62}"/>
              </a:ext>
            </a:extLst>
          </p:cNvPr>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18" name="Google Shape;118;p4">
            <a:extLst>
              <a:ext uri="{FF2B5EF4-FFF2-40B4-BE49-F238E27FC236}">
                <a16:creationId xmlns:a16="http://schemas.microsoft.com/office/drawing/2014/main" id="{24F716A3-C187-746C-FEE4-1157D17B85EE}"/>
              </a:ext>
            </a:extLst>
          </p:cNvPr>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19" name="Google Shape;119;p4">
            <a:extLst>
              <a:ext uri="{FF2B5EF4-FFF2-40B4-BE49-F238E27FC236}">
                <a16:creationId xmlns:a16="http://schemas.microsoft.com/office/drawing/2014/main" id="{0A9B7C94-5CF5-DCB2-53F3-61594ADB0100}"/>
              </a:ext>
            </a:extLst>
          </p:cNvPr>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0" name="Google Shape;120;p4">
            <a:extLst>
              <a:ext uri="{FF2B5EF4-FFF2-40B4-BE49-F238E27FC236}">
                <a16:creationId xmlns:a16="http://schemas.microsoft.com/office/drawing/2014/main" id="{3158D09E-2E61-14F0-7F43-9BED5940A307}"/>
              </a:ext>
            </a:extLst>
          </p:cNvPr>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dirty="0">
                <a:solidFill>
                  <a:schemeClr val="dk1"/>
                </a:solidFill>
                <a:latin typeface="Calibri"/>
                <a:ea typeface="Calibri"/>
                <a:cs typeface="Calibri"/>
                <a:sym typeface="Calibri"/>
              </a:rPr>
              <a:t>Disclaimer: This training material belongs to </a:t>
            </a:r>
            <a:r>
              <a:rPr lang="en-US" sz="1800" b="0" i="1" u="none" strike="noStrike" cap="none" dirty="0" err="1">
                <a:solidFill>
                  <a:schemeClr val="dk1"/>
                </a:solidFill>
                <a:latin typeface="Calibri"/>
                <a:ea typeface="Calibri"/>
                <a:cs typeface="Calibri"/>
                <a:sym typeface="Calibri"/>
              </a:rPr>
              <a:t>techcrush</a:t>
            </a:r>
            <a:r>
              <a:rPr lang="en-US" sz="1800" b="0" i="1" u="none" strike="noStrike" cap="none" dirty="0">
                <a:solidFill>
                  <a:schemeClr val="dk1"/>
                </a:solidFill>
                <a:latin typeface="Calibri"/>
                <a:ea typeface="Calibri"/>
                <a:cs typeface="Calibri"/>
                <a:sym typeface="Calibri"/>
              </a:rPr>
              <a:t> and shouldn’t be shared</a:t>
            </a:r>
            <a:endParaRPr sz="1400" b="0" i="0" u="none" strike="noStrike" cap="none" dirty="0">
              <a:solidFill>
                <a:srgbClr val="000000"/>
              </a:solidFill>
              <a:latin typeface="Arial"/>
              <a:ea typeface="Arial"/>
              <a:cs typeface="Arial"/>
              <a:sym typeface="Arial"/>
            </a:endParaRPr>
          </a:p>
        </p:txBody>
      </p:sp>
      <p:pic>
        <p:nvPicPr>
          <p:cNvPr id="121" name="Google Shape;121;p4">
            <a:extLst>
              <a:ext uri="{FF2B5EF4-FFF2-40B4-BE49-F238E27FC236}">
                <a16:creationId xmlns:a16="http://schemas.microsoft.com/office/drawing/2014/main" id="{79B37BC1-ABC9-3978-BF81-EA4684D63545}"/>
              </a:ext>
            </a:extLst>
          </p:cNvPr>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22" name="Google Shape;122;p4">
            <a:extLst>
              <a:ext uri="{FF2B5EF4-FFF2-40B4-BE49-F238E27FC236}">
                <a16:creationId xmlns:a16="http://schemas.microsoft.com/office/drawing/2014/main" id="{633CE2AF-F091-B0E6-6DDE-523352CC52C0}"/>
              </a:ext>
            </a:extLst>
          </p:cNvPr>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23" name="Google Shape;123;p4">
            <a:extLst>
              <a:ext uri="{FF2B5EF4-FFF2-40B4-BE49-F238E27FC236}">
                <a16:creationId xmlns:a16="http://schemas.microsoft.com/office/drawing/2014/main" id="{7D542E82-795A-C21E-3BE9-C79D2D074C5A}"/>
              </a:ext>
            </a:extLst>
          </p:cNvPr>
          <p:cNvSpPr txBox="1"/>
          <p:nvPr/>
        </p:nvSpPr>
        <p:spPr>
          <a:xfrm>
            <a:off x="14648" y="671500"/>
            <a:ext cx="11748053" cy="1571672"/>
          </a:xfrm>
          <a:prstGeom prst="rect">
            <a:avLst/>
          </a:prstGeom>
          <a:noFill/>
          <a:ln>
            <a:noFill/>
          </a:ln>
        </p:spPr>
        <p:txBody>
          <a:bodyPr spcFirstLastPara="1" wrap="square" lIns="91425" tIns="45700" rIns="91425" bIns="45700" anchor="t" anchorCtr="0">
            <a:spAutoFit/>
          </a:bodyPr>
          <a:lstStyle/>
          <a:p>
            <a:pPr lvl="0">
              <a:lnSpc>
                <a:spcPct val="115000"/>
              </a:lnSpc>
              <a:spcBef>
                <a:spcPts val="800"/>
              </a:spcBef>
              <a:buClr>
                <a:schemeClr val="dk1"/>
              </a:buClr>
              <a:buSzPts val="3200"/>
            </a:pPr>
            <a:r>
              <a:rPr lang="en-US" sz="4400" b="1" dirty="0">
                <a:solidFill>
                  <a:schemeClr val="dk1"/>
                </a:solidFill>
              </a:rPr>
              <a:t>Tools Used</a:t>
            </a:r>
            <a:endParaRPr lang="en-US" sz="4400" dirty="0"/>
          </a:p>
          <a:p>
            <a:pPr marL="457200" marR="0" lvl="0" indent="-279400" algn="l" rtl="0">
              <a:lnSpc>
                <a:spcPct val="115000"/>
              </a:lnSpc>
              <a:spcBef>
                <a:spcPts val="800"/>
              </a:spcBef>
              <a:spcAft>
                <a:spcPts val="0"/>
              </a:spcAft>
              <a:buClr>
                <a:schemeClr val="dk1"/>
              </a:buClr>
              <a:buSzPts val="2800"/>
              <a:buFont typeface="Arial"/>
              <a:buNone/>
            </a:pPr>
            <a:endParaRPr sz="2800" b="0" i="0" u="none" strike="noStrike" cap="none" dirty="0">
              <a:solidFill>
                <a:schemeClr val="dk1"/>
              </a:solidFill>
              <a:latin typeface="Arial"/>
              <a:ea typeface="Arial"/>
              <a:cs typeface="Arial"/>
              <a:sym typeface="Arial"/>
            </a:endParaRPr>
          </a:p>
        </p:txBody>
      </p:sp>
      <p:pic>
        <p:nvPicPr>
          <p:cNvPr id="8" name="Picture 7">
            <a:extLst>
              <a:ext uri="{FF2B5EF4-FFF2-40B4-BE49-F238E27FC236}">
                <a16:creationId xmlns:a16="http://schemas.microsoft.com/office/drawing/2014/main" id="{5110E2D0-9B28-E3F0-FA2A-A002F0C3E174}"/>
              </a:ext>
            </a:extLst>
          </p:cNvPr>
          <p:cNvPicPr>
            <a:picLocks noChangeAspect="1"/>
          </p:cNvPicPr>
          <p:nvPr/>
        </p:nvPicPr>
        <p:blipFill>
          <a:blip r:embed="rId5"/>
          <a:stretch>
            <a:fillRect/>
          </a:stretch>
        </p:blipFill>
        <p:spPr>
          <a:xfrm>
            <a:off x="1138518" y="1509148"/>
            <a:ext cx="10080007" cy="4899604"/>
          </a:xfrm>
          <a:prstGeom prst="rect">
            <a:avLst/>
          </a:prstGeom>
        </p:spPr>
      </p:pic>
    </p:spTree>
    <p:extLst>
      <p:ext uri="{BB962C8B-B14F-4D97-AF65-F5344CB8AC3E}">
        <p14:creationId xmlns:p14="http://schemas.microsoft.com/office/powerpoint/2010/main" val="2919742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6">
          <a:extLst>
            <a:ext uri="{FF2B5EF4-FFF2-40B4-BE49-F238E27FC236}">
              <a16:creationId xmlns:a16="http://schemas.microsoft.com/office/drawing/2014/main" id="{B02CC622-0742-8F7D-8BBD-EAFC6043552C}"/>
            </a:ext>
          </a:extLst>
        </p:cNvPr>
        <p:cNvGrpSpPr/>
        <p:nvPr/>
      </p:nvGrpSpPr>
      <p:grpSpPr>
        <a:xfrm>
          <a:off x="0" y="0"/>
          <a:ext cx="0" cy="0"/>
          <a:chOff x="0" y="0"/>
          <a:chExt cx="0" cy="0"/>
        </a:xfrm>
      </p:grpSpPr>
      <p:sp>
        <p:nvSpPr>
          <p:cNvPr id="117" name="Google Shape;117;p4">
            <a:extLst>
              <a:ext uri="{FF2B5EF4-FFF2-40B4-BE49-F238E27FC236}">
                <a16:creationId xmlns:a16="http://schemas.microsoft.com/office/drawing/2014/main" id="{6C4233D9-FFB4-BAFA-F3B0-B469C0E94996}"/>
              </a:ext>
            </a:extLst>
          </p:cNvPr>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dirty="0">
                <a:solidFill>
                  <a:schemeClr val="lt1"/>
                </a:solidFill>
                <a:latin typeface="Calibri"/>
                <a:ea typeface="Calibri"/>
                <a:cs typeface="Calibri"/>
                <a:sym typeface="Calibri"/>
              </a:rPr>
              <a:t>CAPSTONE PROJECT</a:t>
            </a:r>
            <a:endParaRPr sz="1400" b="0" i="0" u="none" strike="noStrike" cap="none" dirty="0">
              <a:solidFill>
                <a:srgbClr val="000000"/>
              </a:solidFill>
              <a:latin typeface="Arial"/>
              <a:ea typeface="Arial"/>
              <a:cs typeface="Arial"/>
              <a:sym typeface="Arial"/>
            </a:endParaRPr>
          </a:p>
        </p:txBody>
      </p:sp>
      <p:pic>
        <p:nvPicPr>
          <p:cNvPr id="118" name="Google Shape;118;p4">
            <a:extLst>
              <a:ext uri="{FF2B5EF4-FFF2-40B4-BE49-F238E27FC236}">
                <a16:creationId xmlns:a16="http://schemas.microsoft.com/office/drawing/2014/main" id="{BE3E6E94-B821-160B-8293-CCBA9BA0D893}"/>
              </a:ext>
            </a:extLst>
          </p:cNvPr>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19" name="Google Shape;119;p4">
            <a:extLst>
              <a:ext uri="{FF2B5EF4-FFF2-40B4-BE49-F238E27FC236}">
                <a16:creationId xmlns:a16="http://schemas.microsoft.com/office/drawing/2014/main" id="{3D62A958-5504-8D52-3E23-B310E239BB57}"/>
              </a:ext>
            </a:extLst>
          </p:cNvPr>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0" name="Google Shape;120;p4">
            <a:extLst>
              <a:ext uri="{FF2B5EF4-FFF2-40B4-BE49-F238E27FC236}">
                <a16:creationId xmlns:a16="http://schemas.microsoft.com/office/drawing/2014/main" id="{E3B9C25D-2074-2AE7-C132-E62EFFD7E892}"/>
              </a:ext>
            </a:extLst>
          </p:cNvPr>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dirty="0">
                <a:solidFill>
                  <a:schemeClr val="dk1"/>
                </a:solidFill>
                <a:latin typeface="Calibri"/>
                <a:ea typeface="Calibri"/>
                <a:cs typeface="Calibri"/>
                <a:sym typeface="Calibri"/>
              </a:rPr>
              <a:t>Disclaimer: This training material belongs to </a:t>
            </a:r>
            <a:r>
              <a:rPr lang="en-US" sz="1800" b="0" i="1" u="none" strike="noStrike" cap="none" dirty="0" err="1">
                <a:solidFill>
                  <a:schemeClr val="dk1"/>
                </a:solidFill>
                <a:latin typeface="Calibri"/>
                <a:ea typeface="Calibri"/>
                <a:cs typeface="Calibri"/>
                <a:sym typeface="Calibri"/>
              </a:rPr>
              <a:t>techcrush</a:t>
            </a:r>
            <a:r>
              <a:rPr lang="en-US" sz="1800" b="0" i="1" u="none" strike="noStrike" cap="none" dirty="0">
                <a:solidFill>
                  <a:schemeClr val="dk1"/>
                </a:solidFill>
                <a:latin typeface="Calibri"/>
                <a:ea typeface="Calibri"/>
                <a:cs typeface="Calibri"/>
                <a:sym typeface="Calibri"/>
              </a:rPr>
              <a:t> and shouldn’t be shared</a:t>
            </a:r>
            <a:endParaRPr sz="1400" b="0" i="0" u="none" strike="noStrike" cap="none" dirty="0">
              <a:solidFill>
                <a:srgbClr val="000000"/>
              </a:solidFill>
              <a:latin typeface="Arial"/>
              <a:ea typeface="Arial"/>
              <a:cs typeface="Arial"/>
              <a:sym typeface="Arial"/>
            </a:endParaRPr>
          </a:p>
        </p:txBody>
      </p:sp>
      <p:pic>
        <p:nvPicPr>
          <p:cNvPr id="121" name="Google Shape;121;p4">
            <a:extLst>
              <a:ext uri="{FF2B5EF4-FFF2-40B4-BE49-F238E27FC236}">
                <a16:creationId xmlns:a16="http://schemas.microsoft.com/office/drawing/2014/main" id="{830A2188-DCAA-F69B-0A98-498DA512981C}"/>
              </a:ext>
            </a:extLst>
          </p:cNvPr>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22" name="Google Shape;122;p4">
            <a:extLst>
              <a:ext uri="{FF2B5EF4-FFF2-40B4-BE49-F238E27FC236}">
                <a16:creationId xmlns:a16="http://schemas.microsoft.com/office/drawing/2014/main" id="{52D2F2CD-7FD7-C8BE-84D4-D0FD75CDFAE5}"/>
              </a:ext>
            </a:extLst>
          </p:cNvPr>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23" name="Google Shape;123;p4">
            <a:extLst>
              <a:ext uri="{FF2B5EF4-FFF2-40B4-BE49-F238E27FC236}">
                <a16:creationId xmlns:a16="http://schemas.microsoft.com/office/drawing/2014/main" id="{B6C991C6-BF6B-79AC-F03B-159FC5BB47D6}"/>
              </a:ext>
            </a:extLst>
          </p:cNvPr>
          <p:cNvSpPr txBox="1"/>
          <p:nvPr/>
        </p:nvSpPr>
        <p:spPr>
          <a:xfrm>
            <a:off x="-3" y="934623"/>
            <a:ext cx="9148481" cy="1367513"/>
          </a:xfrm>
          <a:prstGeom prst="rect">
            <a:avLst/>
          </a:prstGeom>
          <a:noFill/>
          <a:ln>
            <a:noFill/>
          </a:ln>
        </p:spPr>
        <p:txBody>
          <a:bodyPr spcFirstLastPara="1" wrap="square" lIns="91425" tIns="45700" rIns="91425" bIns="45700" anchor="t" anchorCtr="0">
            <a:spAutoFit/>
          </a:bodyPr>
          <a:lstStyle/>
          <a:p>
            <a:r>
              <a:rPr lang="en-US" sz="4400" b="1" dirty="0">
                <a:latin typeface="+mj-lt"/>
                <a:cs typeface="Times New Roman" panose="02020603050405020304" pitchFamily="18" charset="0"/>
              </a:rPr>
              <a:t>TASK 1: Cisco Network </a:t>
            </a:r>
          </a:p>
          <a:p>
            <a:pPr marL="457200" marR="0" lvl="0" indent="-279400" algn="l" rtl="0">
              <a:lnSpc>
                <a:spcPct val="115000"/>
              </a:lnSpc>
              <a:spcBef>
                <a:spcPts val="800"/>
              </a:spcBef>
              <a:spcAft>
                <a:spcPts val="0"/>
              </a:spcAft>
              <a:buClr>
                <a:schemeClr val="dk1"/>
              </a:buClr>
              <a:buSzPts val="2800"/>
              <a:buFont typeface="Arial"/>
              <a:buNone/>
            </a:pPr>
            <a:endParaRPr sz="2800" b="0" i="0" u="none" strike="noStrike" cap="none" dirty="0">
              <a:solidFill>
                <a:schemeClr val="dk1"/>
              </a:solidFill>
              <a:latin typeface="Arial"/>
              <a:ea typeface="Arial"/>
              <a:cs typeface="Arial"/>
              <a:sym typeface="Arial"/>
            </a:endParaRPr>
          </a:p>
        </p:txBody>
      </p:sp>
      <p:sp>
        <p:nvSpPr>
          <p:cNvPr id="3" name="Rectangle 2">
            <a:extLst>
              <a:ext uri="{FF2B5EF4-FFF2-40B4-BE49-F238E27FC236}">
                <a16:creationId xmlns:a16="http://schemas.microsoft.com/office/drawing/2014/main" id="{FBA473B8-E3CA-8B22-CA81-270BB18CC8F5}"/>
              </a:ext>
            </a:extLst>
          </p:cNvPr>
          <p:cNvSpPr>
            <a:spLocks noChangeArrowheads="1"/>
          </p:cNvSpPr>
          <p:nvPr/>
        </p:nvSpPr>
        <p:spPr bwMode="auto">
          <a:xfrm>
            <a:off x="414528" y="1786515"/>
            <a:ext cx="1177747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Developed a secure small enterprise network layout that separates and integrates IT and IoT devices within distinct network zones.</a:t>
            </a:r>
          </a:p>
        </p:txBody>
      </p:sp>
      <p:graphicFrame>
        <p:nvGraphicFramePr>
          <p:cNvPr id="4" name="Diagram 3">
            <a:extLst>
              <a:ext uri="{FF2B5EF4-FFF2-40B4-BE49-F238E27FC236}">
                <a16:creationId xmlns:a16="http://schemas.microsoft.com/office/drawing/2014/main" id="{FE9D3F29-0717-4178-6F51-547047B0BDF4}"/>
              </a:ext>
            </a:extLst>
          </p:cNvPr>
          <p:cNvGraphicFramePr/>
          <p:nvPr>
            <p:extLst>
              <p:ext uri="{D42A27DB-BD31-4B8C-83A1-F6EECF244321}">
                <p14:modId xmlns:p14="http://schemas.microsoft.com/office/powerpoint/2010/main" val="1008185338"/>
              </p:ext>
            </p:extLst>
          </p:nvPr>
        </p:nvGraphicFramePr>
        <p:xfrm>
          <a:off x="412503" y="2373438"/>
          <a:ext cx="10954492" cy="409908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4177095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6">
          <a:extLst>
            <a:ext uri="{FF2B5EF4-FFF2-40B4-BE49-F238E27FC236}">
              <a16:creationId xmlns:a16="http://schemas.microsoft.com/office/drawing/2014/main" id="{68D322A9-90B5-B391-ED28-9145AC1BA8D8}"/>
            </a:ext>
          </a:extLst>
        </p:cNvPr>
        <p:cNvGrpSpPr/>
        <p:nvPr/>
      </p:nvGrpSpPr>
      <p:grpSpPr>
        <a:xfrm>
          <a:off x="0" y="0"/>
          <a:ext cx="0" cy="0"/>
          <a:chOff x="0" y="0"/>
          <a:chExt cx="0" cy="0"/>
        </a:xfrm>
      </p:grpSpPr>
      <p:sp>
        <p:nvSpPr>
          <p:cNvPr id="117" name="Google Shape;117;p4">
            <a:extLst>
              <a:ext uri="{FF2B5EF4-FFF2-40B4-BE49-F238E27FC236}">
                <a16:creationId xmlns:a16="http://schemas.microsoft.com/office/drawing/2014/main" id="{C50F6E38-0356-A1BA-A3A7-5DA1B7908BA9}"/>
              </a:ext>
            </a:extLst>
          </p:cNvPr>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dirty="0">
                <a:solidFill>
                  <a:schemeClr val="lt1"/>
                </a:solidFill>
                <a:latin typeface="Calibri"/>
                <a:ea typeface="Calibri"/>
                <a:cs typeface="Calibri"/>
                <a:sym typeface="Calibri"/>
              </a:rPr>
              <a:t>CAPSTONE PROJECT</a:t>
            </a:r>
            <a:endParaRPr sz="1400" b="0" i="0" u="none" strike="noStrike" cap="none" dirty="0">
              <a:solidFill>
                <a:srgbClr val="000000"/>
              </a:solidFill>
              <a:latin typeface="Arial"/>
              <a:ea typeface="Arial"/>
              <a:cs typeface="Arial"/>
              <a:sym typeface="Arial"/>
            </a:endParaRPr>
          </a:p>
        </p:txBody>
      </p:sp>
      <p:pic>
        <p:nvPicPr>
          <p:cNvPr id="118" name="Google Shape;118;p4">
            <a:extLst>
              <a:ext uri="{FF2B5EF4-FFF2-40B4-BE49-F238E27FC236}">
                <a16:creationId xmlns:a16="http://schemas.microsoft.com/office/drawing/2014/main" id="{0CE0DDC6-55B3-0A38-3E26-009EFB45DE42}"/>
              </a:ext>
            </a:extLst>
          </p:cNvPr>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19" name="Google Shape;119;p4">
            <a:extLst>
              <a:ext uri="{FF2B5EF4-FFF2-40B4-BE49-F238E27FC236}">
                <a16:creationId xmlns:a16="http://schemas.microsoft.com/office/drawing/2014/main" id="{E3153C8E-7771-9AEB-0610-B2B60B4C1F83}"/>
              </a:ext>
            </a:extLst>
          </p:cNvPr>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0" name="Google Shape;120;p4">
            <a:extLst>
              <a:ext uri="{FF2B5EF4-FFF2-40B4-BE49-F238E27FC236}">
                <a16:creationId xmlns:a16="http://schemas.microsoft.com/office/drawing/2014/main" id="{F5AEC11A-6D8E-2191-545D-A38841DF2DC0}"/>
              </a:ext>
            </a:extLst>
          </p:cNvPr>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dk1"/>
                </a:solidFill>
                <a:latin typeface="Calibri"/>
                <a:ea typeface="Calibri"/>
                <a:cs typeface="Calibri"/>
                <a:sym typeface="Calibri"/>
              </a:rPr>
              <a:t>Disclaimer: This training material belongs to techcrush and shouldn’t be shared</a:t>
            </a:r>
            <a:endParaRPr sz="1400" b="0" i="0" u="none" strike="noStrike" cap="none">
              <a:solidFill>
                <a:srgbClr val="000000"/>
              </a:solidFill>
              <a:latin typeface="Arial"/>
              <a:ea typeface="Arial"/>
              <a:cs typeface="Arial"/>
              <a:sym typeface="Arial"/>
            </a:endParaRPr>
          </a:p>
        </p:txBody>
      </p:sp>
      <p:pic>
        <p:nvPicPr>
          <p:cNvPr id="121" name="Google Shape;121;p4">
            <a:extLst>
              <a:ext uri="{FF2B5EF4-FFF2-40B4-BE49-F238E27FC236}">
                <a16:creationId xmlns:a16="http://schemas.microsoft.com/office/drawing/2014/main" id="{41E79878-8C5E-3556-5003-C7067EF7ECA5}"/>
              </a:ext>
            </a:extLst>
          </p:cNvPr>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22" name="Google Shape;122;p4">
            <a:extLst>
              <a:ext uri="{FF2B5EF4-FFF2-40B4-BE49-F238E27FC236}">
                <a16:creationId xmlns:a16="http://schemas.microsoft.com/office/drawing/2014/main" id="{2220E346-78CA-B1B1-5D9C-1906D17CC26B}"/>
              </a:ext>
            </a:extLst>
          </p:cNvPr>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23" name="Google Shape;123;p4">
            <a:extLst>
              <a:ext uri="{FF2B5EF4-FFF2-40B4-BE49-F238E27FC236}">
                <a16:creationId xmlns:a16="http://schemas.microsoft.com/office/drawing/2014/main" id="{056CF44E-1250-6CA3-EDC2-76D5E6A6FB2B}"/>
              </a:ext>
            </a:extLst>
          </p:cNvPr>
          <p:cNvSpPr txBox="1"/>
          <p:nvPr/>
        </p:nvSpPr>
        <p:spPr>
          <a:xfrm>
            <a:off x="134636" y="799899"/>
            <a:ext cx="10541991" cy="1244403"/>
          </a:xfrm>
          <a:prstGeom prst="rect">
            <a:avLst/>
          </a:prstGeom>
          <a:noFill/>
          <a:ln>
            <a:noFill/>
          </a:ln>
        </p:spPr>
        <p:txBody>
          <a:bodyPr spcFirstLastPara="1" wrap="square" lIns="91425" tIns="45700" rIns="91425" bIns="45700" anchor="t" anchorCtr="0">
            <a:spAutoFit/>
          </a:bodyPr>
          <a:lstStyle/>
          <a:p>
            <a:r>
              <a:rPr lang="en-US" sz="3600" b="1" dirty="0">
                <a:latin typeface="+mj-lt"/>
                <a:cs typeface="Times New Roman" panose="02020603050405020304" pitchFamily="18" charset="0"/>
              </a:rPr>
              <a:t>TASK 1: Cisco Network Diagram</a:t>
            </a:r>
          </a:p>
          <a:p>
            <a:pPr marL="457200" marR="0" lvl="0" indent="-279400" algn="l" rtl="0">
              <a:lnSpc>
                <a:spcPct val="115000"/>
              </a:lnSpc>
              <a:spcBef>
                <a:spcPts val="800"/>
              </a:spcBef>
              <a:spcAft>
                <a:spcPts val="0"/>
              </a:spcAft>
              <a:buClr>
                <a:schemeClr val="dk1"/>
              </a:buClr>
              <a:buSzPts val="2800"/>
              <a:buFont typeface="Arial"/>
              <a:buNone/>
            </a:pPr>
            <a:endParaRPr sz="2800" b="0" i="0" u="none" strike="noStrike" cap="none" dirty="0">
              <a:solidFill>
                <a:schemeClr val="dk1"/>
              </a:solidFill>
              <a:latin typeface="Arial"/>
              <a:ea typeface="Arial"/>
              <a:cs typeface="Arial"/>
              <a:sym typeface="Arial"/>
            </a:endParaRPr>
          </a:p>
        </p:txBody>
      </p:sp>
      <p:pic>
        <p:nvPicPr>
          <p:cNvPr id="2" name="Picture 1" descr="Network diagram setup">
            <a:extLst>
              <a:ext uri="{FF2B5EF4-FFF2-40B4-BE49-F238E27FC236}">
                <a16:creationId xmlns:a16="http://schemas.microsoft.com/office/drawing/2014/main" id="{BB58D126-F07E-48DD-231B-BC160E3C06AB}"/>
              </a:ext>
            </a:extLst>
          </p:cNvPr>
          <p:cNvPicPr>
            <a:picLocks noChangeAspect="1"/>
          </p:cNvPicPr>
          <p:nvPr/>
        </p:nvPicPr>
        <p:blipFill>
          <a:blip r:embed="rId5"/>
          <a:stretch>
            <a:fillRect/>
          </a:stretch>
        </p:blipFill>
        <p:spPr>
          <a:xfrm>
            <a:off x="607924" y="1473197"/>
            <a:ext cx="10541991" cy="4819985"/>
          </a:xfrm>
          <a:prstGeom prst="rect">
            <a:avLst/>
          </a:prstGeom>
        </p:spPr>
      </p:pic>
    </p:spTree>
    <p:extLst>
      <p:ext uri="{BB962C8B-B14F-4D97-AF65-F5344CB8AC3E}">
        <p14:creationId xmlns:p14="http://schemas.microsoft.com/office/powerpoint/2010/main" val="7024062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4"/>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18" name="Google Shape;118;p4"/>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19" name="Google Shape;119;p4"/>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0" name="Google Shape;120;p4"/>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dk1"/>
                </a:solidFill>
                <a:latin typeface="Calibri"/>
                <a:ea typeface="Calibri"/>
                <a:cs typeface="Calibri"/>
                <a:sym typeface="Calibri"/>
              </a:rPr>
              <a:t>Disclaimer: This training material belongs to techcrush and shouldn’t be shared</a:t>
            </a:r>
            <a:endParaRPr sz="1400" b="0" i="0" u="none" strike="noStrike" cap="none">
              <a:solidFill>
                <a:srgbClr val="000000"/>
              </a:solidFill>
              <a:latin typeface="Arial"/>
              <a:ea typeface="Arial"/>
              <a:cs typeface="Arial"/>
              <a:sym typeface="Arial"/>
            </a:endParaRPr>
          </a:p>
        </p:txBody>
      </p:sp>
      <p:pic>
        <p:nvPicPr>
          <p:cNvPr id="121" name="Google Shape;121;p4"/>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22" name="Google Shape;122;p4"/>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23" name="Google Shape;123;p4"/>
          <p:cNvSpPr txBox="1"/>
          <p:nvPr/>
        </p:nvSpPr>
        <p:spPr>
          <a:xfrm>
            <a:off x="141514" y="1102758"/>
            <a:ext cx="9263875" cy="1244403"/>
          </a:xfrm>
          <a:prstGeom prst="rect">
            <a:avLst/>
          </a:prstGeom>
          <a:noFill/>
          <a:ln>
            <a:noFill/>
          </a:ln>
        </p:spPr>
        <p:txBody>
          <a:bodyPr spcFirstLastPara="1" wrap="square" lIns="91425" tIns="45700" rIns="91425" bIns="45700" anchor="t" anchorCtr="0">
            <a:spAutoFit/>
          </a:bodyPr>
          <a:lstStyle/>
          <a:p>
            <a:r>
              <a:rPr lang="en-US" sz="3600" b="1" dirty="0">
                <a:latin typeface="+mj-lt"/>
                <a:cs typeface="Times New Roman" panose="02020603050405020304" pitchFamily="18" charset="0"/>
              </a:rPr>
              <a:t>TASK 1: Cisco Network Cont’d</a:t>
            </a:r>
          </a:p>
          <a:p>
            <a:pPr marL="457200" marR="0" lvl="0" indent="-279400" algn="l" rtl="0">
              <a:lnSpc>
                <a:spcPct val="115000"/>
              </a:lnSpc>
              <a:spcBef>
                <a:spcPts val="800"/>
              </a:spcBef>
              <a:spcAft>
                <a:spcPts val="0"/>
              </a:spcAft>
              <a:buClr>
                <a:schemeClr val="dk1"/>
              </a:buClr>
              <a:buSzPts val="2800"/>
              <a:buFont typeface="Arial"/>
              <a:buNone/>
            </a:pPr>
            <a:endParaRPr sz="2800" b="0" i="0" u="none" strike="noStrike" cap="none" dirty="0">
              <a:solidFill>
                <a:schemeClr val="dk1"/>
              </a:solidFill>
              <a:latin typeface="Arial"/>
              <a:ea typeface="Arial"/>
              <a:cs typeface="Arial"/>
              <a:sym typeface="Arial"/>
            </a:endParaRPr>
          </a:p>
        </p:txBody>
      </p:sp>
      <p:sp>
        <p:nvSpPr>
          <p:cNvPr id="5" name="TextBox 4">
            <a:extLst>
              <a:ext uri="{FF2B5EF4-FFF2-40B4-BE49-F238E27FC236}">
                <a16:creationId xmlns:a16="http://schemas.microsoft.com/office/drawing/2014/main" id="{CEC3F2A8-CB76-2436-C605-A466FF92DC4D}"/>
              </a:ext>
            </a:extLst>
          </p:cNvPr>
          <p:cNvSpPr txBox="1"/>
          <p:nvPr/>
        </p:nvSpPr>
        <p:spPr>
          <a:xfrm>
            <a:off x="1464061" y="1969590"/>
            <a:ext cx="9263875" cy="3785652"/>
          </a:xfrm>
          <a:prstGeom prst="rect">
            <a:avLst/>
          </a:prstGeom>
          <a:noFill/>
        </p:spPr>
        <p:txBody>
          <a:bodyPr wrap="square">
            <a:spAutoFit/>
          </a:bodyPr>
          <a:lstStyle/>
          <a:p>
            <a:pPr>
              <a:buNone/>
            </a:pPr>
            <a:r>
              <a:rPr lang="en-US" sz="2400" b="1" dirty="0">
                <a:latin typeface="+mn-lt"/>
                <a:cs typeface="Times New Roman" panose="02020603050405020304" pitchFamily="18" charset="0"/>
              </a:rPr>
              <a:t>Recommendations</a:t>
            </a:r>
          </a:p>
          <a:p>
            <a:pPr>
              <a:buNone/>
            </a:pPr>
            <a:r>
              <a:rPr lang="en-US" sz="2400" dirty="0">
                <a:latin typeface="+mn-lt"/>
                <a:cs typeface="Times New Roman" panose="02020603050405020304" pitchFamily="18" charset="0"/>
              </a:rPr>
              <a:t>✓ Implement VLANs for stricter isolation</a:t>
            </a:r>
          </a:p>
          <a:p>
            <a:pPr>
              <a:buNone/>
            </a:pPr>
            <a:r>
              <a:rPr lang="en-US" sz="2400" dirty="0">
                <a:latin typeface="+mn-lt"/>
                <a:cs typeface="Times New Roman" panose="02020603050405020304" pitchFamily="18" charset="0"/>
              </a:rPr>
              <a:t>✓ Configure DHCP for dynamic addressing</a:t>
            </a:r>
          </a:p>
          <a:p>
            <a:pPr>
              <a:buNone/>
            </a:pPr>
            <a:r>
              <a:rPr lang="en-US" sz="2400" dirty="0">
                <a:latin typeface="+mn-lt"/>
                <a:cs typeface="Times New Roman" panose="02020603050405020304" pitchFamily="18" charset="0"/>
              </a:rPr>
              <a:t>✓ Deploy ACLs between zones</a:t>
            </a:r>
          </a:p>
          <a:p>
            <a:pPr>
              <a:buNone/>
            </a:pPr>
            <a:r>
              <a:rPr lang="en-US" sz="2400" dirty="0">
                <a:latin typeface="+mn-lt"/>
                <a:cs typeface="Times New Roman" panose="02020603050405020304" pitchFamily="18" charset="0"/>
              </a:rPr>
              <a:t>✓ Add external firewall protection</a:t>
            </a:r>
          </a:p>
          <a:p>
            <a:pPr>
              <a:buNone/>
            </a:pPr>
            <a:endParaRPr lang="en-US" sz="2400" dirty="0">
              <a:latin typeface="+mn-lt"/>
              <a:cs typeface="Times New Roman" panose="02020603050405020304" pitchFamily="18" charset="0"/>
            </a:endParaRPr>
          </a:p>
          <a:p>
            <a:r>
              <a:rPr lang="en-US" sz="2400" b="1" dirty="0">
                <a:latin typeface="+mn-lt"/>
                <a:cs typeface="Times New Roman" panose="02020603050405020304" pitchFamily="18" charset="0"/>
              </a:rPr>
              <a:t>Impact:</a:t>
            </a:r>
          </a:p>
          <a:p>
            <a:r>
              <a:rPr lang="en-US" sz="2400" dirty="0">
                <a:latin typeface="+mn-lt"/>
                <a:cs typeface="Times New Roman" panose="02020603050405020304" pitchFamily="18" charset="0"/>
              </a:rPr>
              <a:t>Functional segmentation reduces attack surface and contains potential breaches to isolated zones</a:t>
            </a:r>
          </a:p>
          <a:p>
            <a:pPr>
              <a:buNone/>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6">
          <a:extLst>
            <a:ext uri="{FF2B5EF4-FFF2-40B4-BE49-F238E27FC236}">
              <a16:creationId xmlns:a16="http://schemas.microsoft.com/office/drawing/2014/main" id="{CD3AABC6-3504-F021-B59D-AC99C1082B07}"/>
            </a:ext>
          </a:extLst>
        </p:cNvPr>
        <p:cNvGrpSpPr/>
        <p:nvPr/>
      </p:nvGrpSpPr>
      <p:grpSpPr>
        <a:xfrm>
          <a:off x="0" y="0"/>
          <a:ext cx="0" cy="0"/>
          <a:chOff x="0" y="0"/>
          <a:chExt cx="0" cy="0"/>
        </a:xfrm>
      </p:grpSpPr>
      <p:sp>
        <p:nvSpPr>
          <p:cNvPr id="117" name="Google Shape;117;p4">
            <a:extLst>
              <a:ext uri="{FF2B5EF4-FFF2-40B4-BE49-F238E27FC236}">
                <a16:creationId xmlns:a16="http://schemas.microsoft.com/office/drawing/2014/main" id="{1D19355A-7356-665F-A475-E9FC2AFDE2E4}"/>
              </a:ext>
            </a:extLst>
          </p:cNvPr>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dirty="0">
                <a:solidFill>
                  <a:schemeClr val="lt1"/>
                </a:solidFill>
                <a:latin typeface="Calibri"/>
                <a:ea typeface="Calibri"/>
                <a:cs typeface="Calibri"/>
                <a:sym typeface="Calibri"/>
              </a:rPr>
              <a:t>CAPSTONE PROJECT</a:t>
            </a:r>
            <a:endParaRPr sz="1400" b="0" i="0" u="none" strike="noStrike" cap="none" dirty="0">
              <a:solidFill>
                <a:srgbClr val="000000"/>
              </a:solidFill>
              <a:latin typeface="Arial"/>
              <a:ea typeface="Arial"/>
              <a:cs typeface="Arial"/>
              <a:sym typeface="Arial"/>
            </a:endParaRPr>
          </a:p>
        </p:txBody>
      </p:sp>
      <p:pic>
        <p:nvPicPr>
          <p:cNvPr id="118" name="Google Shape;118;p4">
            <a:extLst>
              <a:ext uri="{FF2B5EF4-FFF2-40B4-BE49-F238E27FC236}">
                <a16:creationId xmlns:a16="http://schemas.microsoft.com/office/drawing/2014/main" id="{543DCB54-C0AA-A58E-25CB-84DC253D8436}"/>
              </a:ext>
            </a:extLst>
          </p:cNvPr>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19" name="Google Shape;119;p4">
            <a:extLst>
              <a:ext uri="{FF2B5EF4-FFF2-40B4-BE49-F238E27FC236}">
                <a16:creationId xmlns:a16="http://schemas.microsoft.com/office/drawing/2014/main" id="{192E1D1D-7501-4DA3-1BA9-62A795FB3639}"/>
              </a:ext>
            </a:extLst>
          </p:cNvPr>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0" name="Google Shape;120;p4">
            <a:extLst>
              <a:ext uri="{FF2B5EF4-FFF2-40B4-BE49-F238E27FC236}">
                <a16:creationId xmlns:a16="http://schemas.microsoft.com/office/drawing/2014/main" id="{605258D5-7A5C-C458-024A-47744F50AA1B}"/>
              </a:ext>
            </a:extLst>
          </p:cNvPr>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dk1"/>
                </a:solidFill>
                <a:latin typeface="Calibri"/>
                <a:ea typeface="Calibri"/>
                <a:cs typeface="Calibri"/>
                <a:sym typeface="Calibri"/>
              </a:rPr>
              <a:t>Disclaimer: This training material belongs to techcrush and shouldn’t be shared</a:t>
            </a:r>
            <a:endParaRPr sz="1400" b="0" i="0" u="none" strike="noStrike" cap="none">
              <a:solidFill>
                <a:srgbClr val="000000"/>
              </a:solidFill>
              <a:latin typeface="Arial"/>
              <a:ea typeface="Arial"/>
              <a:cs typeface="Arial"/>
              <a:sym typeface="Arial"/>
            </a:endParaRPr>
          </a:p>
        </p:txBody>
      </p:sp>
      <p:pic>
        <p:nvPicPr>
          <p:cNvPr id="121" name="Google Shape;121;p4">
            <a:extLst>
              <a:ext uri="{FF2B5EF4-FFF2-40B4-BE49-F238E27FC236}">
                <a16:creationId xmlns:a16="http://schemas.microsoft.com/office/drawing/2014/main" id="{533AD5EB-0BC3-342F-BC8B-F1135D573051}"/>
              </a:ext>
            </a:extLst>
          </p:cNvPr>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22" name="Google Shape;122;p4">
            <a:extLst>
              <a:ext uri="{FF2B5EF4-FFF2-40B4-BE49-F238E27FC236}">
                <a16:creationId xmlns:a16="http://schemas.microsoft.com/office/drawing/2014/main" id="{273DC72F-F1A7-FA9D-1564-BE6B035863D0}"/>
              </a:ext>
            </a:extLst>
          </p:cNvPr>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23" name="Google Shape;123;p4">
            <a:extLst>
              <a:ext uri="{FF2B5EF4-FFF2-40B4-BE49-F238E27FC236}">
                <a16:creationId xmlns:a16="http://schemas.microsoft.com/office/drawing/2014/main" id="{F80930ED-0196-F8BC-0314-10EEBA41085B}"/>
              </a:ext>
            </a:extLst>
          </p:cNvPr>
          <p:cNvSpPr txBox="1"/>
          <p:nvPr/>
        </p:nvSpPr>
        <p:spPr>
          <a:xfrm>
            <a:off x="-3" y="934623"/>
            <a:ext cx="9148481" cy="1798401"/>
          </a:xfrm>
          <a:prstGeom prst="rect">
            <a:avLst/>
          </a:prstGeom>
          <a:noFill/>
          <a:ln>
            <a:noFill/>
          </a:ln>
        </p:spPr>
        <p:txBody>
          <a:bodyPr spcFirstLastPara="1" wrap="square" lIns="91425" tIns="45700" rIns="91425" bIns="45700" anchor="t" anchorCtr="0">
            <a:spAutoFit/>
          </a:bodyPr>
          <a:lstStyle/>
          <a:p>
            <a:r>
              <a:rPr lang="en-US" sz="3600" b="1" dirty="0">
                <a:latin typeface="+mj-lt"/>
                <a:cs typeface="Times New Roman" panose="02020603050405020304" pitchFamily="18" charset="0"/>
              </a:rPr>
              <a:t>TASK 2: </a:t>
            </a:r>
            <a:r>
              <a:rPr lang="en-US" sz="3600" b="1" dirty="0">
                <a:latin typeface="+mj-lt"/>
              </a:rPr>
              <a:t>Basic Network Security</a:t>
            </a:r>
          </a:p>
          <a:p>
            <a:endParaRPr lang="en-US" sz="3600" b="1" dirty="0">
              <a:latin typeface="+mj-lt"/>
              <a:cs typeface="Times New Roman" panose="02020603050405020304" pitchFamily="18" charset="0"/>
            </a:endParaRPr>
          </a:p>
          <a:p>
            <a:pPr marL="457200" marR="0" lvl="0" indent="-279400" algn="l" rtl="0">
              <a:lnSpc>
                <a:spcPct val="115000"/>
              </a:lnSpc>
              <a:spcBef>
                <a:spcPts val="800"/>
              </a:spcBef>
              <a:spcAft>
                <a:spcPts val="0"/>
              </a:spcAft>
              <a:buClr>
                <a:schemeClr val="dk1"/>
              </a:buClr>
              <a:buSzPts val="2800"/>
              <a:buFont typeface="Arial"/>
              <a:buNone/>
            </a:pPr>
            <a:endParaRPr sz="2800" b="0" i="0" u="none" strike="noStrike" cap="none" dirty="0">
              <a:solidFill>
                <a:schemeClr val="dk1"/>
              </a:solidFill>
              <a:latin typeface="Arial"/>
              <a:ea typeface="Arial"/>
              <a:cs typeface="Arial"/>
              <a:sym typeface="Arial"/>
            </a:endParaRPr>
          </a:p>
        </p:txBody>
      </p:sp>
      <p:sp>
        <p:nvSpPr>
          <p:cNvPr id="3" name="Rectangle 2">
            <a:extLst>
              <a:ext uri="{FF2B5EF4-FFF2-40B4-BE49-F238E27FC236}">
                <a16:creationId xmlns:a16="http://schemas.microsoft.com/office/drawing/2014/main" id="{F7B693EB-FDF0-0FCD-7F5F-267CD4DB0072}"/>
              </a:ext>
            </a:extLst>
          </p:cNvPr>
          <p:cNvSpPr>
            <a:spLocks noChangeArrowheads="1"/>
          </p:cNvSpPr>
          <p:nvPr/>
        </p:nvSpPr>
        <p:spPr bwMode="auto">
          <a:xfrm>
            <a:off x="414528" y="1755737"/>
            <a:ext cx="11777472"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ClrTx/>
            </a:pPr>
            <a:r>
              <a:rPr lang="en-US" sz="2400" dirty="0"/>
              <a:t>Implemented firewall rules and port hardening to control network traffic and minimize attack surface</a:t>
            </a:r>
            <a:r>
              <a:rPr lang="en-US" sz="2800" dirty="0"/>
              <a:t>.</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graphicFrame>
        <p:nvGraphicFramePr>
          <p:cNvPr id="4" name="Diagram 3">
            <a:extLst>
              <a:ext uri="{FF2B5EF4-FFF2-40B4-BE49-F238E27FC236}">
                <a16:creationId xmlns:a16="http://schemas.microsoft.com/office/drawing/2014/main" id="{59556E14-697B-8FBA-2CEF-F454E30260D0}"/>
              </a:ext>
            </a:extLst>
          </p:cNvPr>
          <p:cNvGraphicFramePr/>
          <p:nvPr>
            <p:extLst>
              <p:ext uri="{D42A27DB-BD31-4B8C-83A1-F6EECF244321}">
                <p14:modId xmlns:p14="http://schemas.microsoft.com/office/powerpoint/2010/main" val="4196669099"/>
              </p:ext>
            </p:extLst>
          </p:nvPr>
        </p:nvGraphicFramePr>
        <p:xfrm>
          <a:off x="412503" y="2679068"/>
          <a:ext cx="10954492" cy="346570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7513782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6">
          <a:extLst>
            <a:ext uri="{FF2B5EF4-FFF2-40B4-BE49-F238E27FC236}">
              <a16:creationId xmlns:a16="http://schemas.microsoft.com/office/drawing/2014/main" id="{9C1BE6F4-8561-7099-0DD7-DFFE9FE01A17}"/>
            </a:ext>
          </a:extLst>
        </p:cNvPr>
        <p:cNvGrpSpPr/>
        <p:nvPr/>
      </p:nvGrpSpPr>
      <p:grpSpPr>
        <a:xfrm>
          <a:off x="0" y="0"/>
          <a:ext cx="0" cy="0"/>
          <a:chOff x="0" y="0"/>
          <a:chExt cx="0" cy="0"/>
        </a:xfrm>
      </p:grpSpPr>
      <p:sp>
        <p:nvSpPr>
          <p:cNvPr id="117" name="Google Shape;117;p4">
            <a:extLst>
              <a:ext uri="{FF2B5EF4-FFF2-40B4-BE49-F238E27FC236}">
                <a16:creationId xmlns:a16="http://schemas.microsoft.com/office/drawing/2014/main" id="{5F281EDC-354C-E4A1-2A71-256357191DCE}"/>
              </a:ext>
            </a:extLst>
          </p:cNvPr>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18" name="Google Shape;118;p4">
            <a:extLst>
              <a:ext uri="{FF2B5EF4-FFF2-40B4-BE49-F238E27FC236}">
                <a16:creationId xmlns:a16="http://schemas.microsoft.com/office/drawing/2014/main" id="{187A9756-1592-E68D-A018-2F9FED63638F}"/>
              </a:ext>
            </a:extLst>
          </p:cNvPr>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19" name="Google Shape;119;p4">
            <a:extLst>
              <a:ext uri="{FF2B5EF4-FFF2-40B4-BE49-F238E27FC236}">
                <a16:creationId xmlns:a16="http://schemas.microsoft.com/office/drawing/2014/main" id="{0E4BBE86-C864-027A-E51C-064FB0461CD7}"/>
              </a:ext>
            </a:extLst>
          </p:cNvPr>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0" name="Google Shape;120;p4">
            <a:extLst>
              <a:ext uri="{FF2B5EF4-FFF2-40B4-BE49-F238E27FC236}">
                <a16:creationId xmlns:a16="http://schemas.microsoft.com/office/drawing/2014/main" id="{0F41F8E9-4626-1CF0-8EEA-D4B77C0CD9E5}"/>
              </a:ext>
            </a:extLst>
          </p:cNvPr>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dirty="0">
                <a:solidFill>
                  <a:schemeClr val="dk1"/>
                </a:solidFill>
                <a:latin typeface="Calibri"/>
                <a:ea typeface="Calibri"/>
                <a:cs typeface="Calibri"/>
                <a:sym typeface="Calibri"/>
              </a:rPr>
              <a:t>Disclaimer: This training material belongs to </a:t>
            </a:r>
            <a:r>
              <a:rPr lang="en-US" sz="1800" b="0" i="1" u="none" strike="noStrike" cap="none" dirty="0" err="1">
                <a:solidFill>
                  <a:schemeClr val="dk1"/>
                </a:solidFill>
                <a:latin typeface="Calibri"/>
                <a:ea typeface="Calibri"/>
                <a:cs typeface="Calibri"/>
                <a:sym typeface="Calibri"/>
              </a:rPr>
              <a:t>techcrush</a:t>
            </a:r>
            <a:r>
              <a:rPr lang="en-US" sz="1800" b="0" i="1" u="none" strike="noStrike" cap="none" dirty="0">
                <a:solidFill>
                  <a:schemeClr val="dk1"/>
                </a:solidFill>
                <a:latin typeface="Calibri"/>
                <a:ea typeface="Calibri"/>
                <a:cs typeface="Calibri"/>
                <a:sym typeface="Calibri"/>
              </a:rPr>
              <a:t> and shouldn’t be shared</a:t>
            </a:r>
            <a:endParaRPr sz="1400" b="0" i="0" u="none" strike="noStrike" cap="none" dirty="0">
              <a:solidFill>
                <a:srgbClr val="000000"/>
              </a:solidFill>
              <a:latin typeface="Arial"/>
              <a:ea typeface="Arial"/>
              <a:cs typeface="Arial"/>
              <a:sym typeface="Arial"/>
            </a:endParaRPr>
          </a:p>
        </p:txBody>
      </p:sp>
      <p:pic>
        <p:nvPicPr>
          <p:cNvPr id="121" name="Google Shape;121;p4">
            <a:extLst>
              <a:ext uri="{FF2B5EF4-FFF2-40B4-BE49-F238E27FC236}">
                <a16:creationId xmlns:a16="http://schemas.microsoft.com/office/drawing/2014/main" id="{E8333ECD-6297-4F84-65D3-A4D3A4643237}"/>
              </a:ext>
            </a:extLst>
          </p:cNvPr>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22" name="Google Shape;122;p4">
            <a:extLst>
              <a:ext uri="{FF2B5EF4-FFF2-40B4-BE49-F238E27FC236}">
                <a16:creationId xmlns:a16="http://schemas.microsoft.com/office/drawing/2014/main" id="{3DCFE6DB-5C6C-A668-F6BE-1F4C1DECE079}"/>
              </a:ext>
            </a:extLst>
          </p:cNvPr>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23" name="Google Shape;123;p4">
            <a:extLst>
              <a:ext uri="{FF2B5EF4-FFF2-40B4-BE49-F238E27FC236}">
                <a16:creationId xmlns:a16="http://schemas.microsoft.com/office/drawing/2014/main" id="{87359FA7-FD31-0D50-02ED-2088085F421C}"/>
              </a:ext>
            </a:extLst>
          </p:cNvPr>
          <p:cNvSpPr txBox="1"/>
          <p:nvPr/>
        </p:nvSpPr>
        <p:spPr>
          <a:xfrm>
            <a:off x="-39756" y="755373"/>
            <a:ext cx="9263875" cy="1613735"/>
          </a:xfrm>
          <a:prstGeom prst="rect">
            <a:avLst/>
          </a:prstGeom>
          <a:noFill/>
          <a:ln>
            <a:noFill/>
          </a:ln>
        </p:spPr>
        <p:txBody>
          <a:bodyPr spcFirstLastPara="1" wrap="square" lIns="91425" tIns="45700" rIns="91425" bIns="45700" anchor="t" anchorCtr="0">
            <a:spAutoFit/>
          </a:bodyPr>
          <a:lstStyle/>
          <a:p>
            <a:r>
              <a:rPr lang="en-US" sz="3600" b="1" dirty="0">
                <a:latin typeface="+mj-lt"/>
                <a:cs typeface="Times New Roman" panose="02020603050405020304" pitchFamily="18" charset="0"/>
              </a:rPr>
              <a:t>TASK 2: </a:t>
            </a:r>
            <a:r>
              <a:rPr lang="en-US" sz="3600" b="1" dirty="0">
                <a:latin typeface="+mj-lt"/>
              </a:rPr>
              <a:t>Basic Network Security</a:t>
            </a:r>
          </a:p>
          <a:p>
            <a:r>
              <a:rPr lang="en-GB" sz="2400" b="1" dirty="0">
                <a:latin typeface="+mn-lt"/>
              </a:rPr>
              <a:t>		</a:t>
            </a:r>
            <a:r>
              <a:rPr lang="en-GB" sz="2400" dirty="0">
                <a:latin typeface="+mn-lt"/>
              </a:rPr>
              <a:t>The firewall status with ports and their states</a:t>
            </a:r>
            <a:endParaRPr lang="en-US" sz="2400" dirty="0">
              <a:latin typeface="+mn-lt"/>
              <a:cs typeface="Times New Roman" panose="02020603050405020304" pitchFamily="18" charset="0"/>
            </a:endParaRPr>
          </a:p>
          <a:p>
            <a:pPr marL="457200" marR="0" lvl="0" indent="-279400" algn="l" rtl="0">
              <a:lnSpc>
                <a:spcPct val="115000"/>
              </a:lnSpc>
              <a:spcBef>
                <a:spcPts val="800"/>
              </a:spcBef>
              <a:spcAft>
                <a:spcPts val="0"/>
              </a:spcAft>
              <a:buClr>
                <a:schemeClr val="dk1"/>
              </a:buClr>
              <a:buSzPts val="2800"/>
              <a:buFont typeface="Arial"/>
              <a:buNone/>
            </a:pPr>
            <a:endParaRPr sz="2800" b="0" i="0" u="none" strike="noStrike" cap="none" dirty="0">
              <a:solidFill>
                <a:schemeClr val="dk1"/>
              </a:solidFill>
              <a:latin typeface="Arial"/>
              <a:ea typeface="Arial"/>
              <a:cs typeface="Arial"/>
              <a:sym typeface="Arial"/>
            </a:endParaRPr>
          </a:p>
        </p:txBody>
      </p:sp>
      <p:pic>
        <p:nvPicPr>
          <p:cNvPr id="7" name="Picture 6" descr="A screenshot of a computer program">
            <a:extLst>
              <a:ext uri="{FF2B5EF4-FFF2-40B4-BE49-F238E27FC236}">
                <a16:creationId xmlns:a16="http://schemas.microsoft.com/office/drawing/2014/main" id="{EFF914B4-D809-BE09-4802-0726492239DB}"/>
              </a:ext>
            </a:extLst>
          </p:cNvPr>
          <p:cNvPicPr>
            <a:picLocks noChangeAspect="1"/>
          </p:cNvPicPr>
          <p:nvPr/>
        </p:nvPicPr>
        <p:blipFill>
          <a:blip r:embed="rId5"/>
          <a:stretch>
            <a:fillRect/>
          </a:stretch>
        </p:blipFill>
        <p:spPr>
          <a:xfrm>
            <a:off x="1586850" y="1951993"/>
            <a:ext cx="9780145" cy="4520526"/>
          </a:xfrm>
          <a:prstGeom prst="rect">
            <a:avLst/>
          </a:prstGeom>
        </p:spPr>
      </p:pic>
    </p:spTree>
    <p:extLst>
      <p:ext uri="{BB962C8B-B14F-4D97-AF65-F5344CB8AC3E}">
        <p14:creationId xmlns:p14="http://schemas.microsoft.com/office/powerpoint/2010/main" val="401729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6">
          <a:extLst>
            <a:ext uri="{FF2B5EF4-FFF2-40B4-BE49-F238E27FC236}">
              <a16:creationId xmlns:a16="http://schemas.microsoft.com/office/drawing/2014/main" id="{67AA5D94-F853-B47D-DB0C-0DDBDC4BDA49}"/>
            </a:ext>
          </a:extLst>
        </p:cNvPr>
        <p:cNvGrpSpPr/>
        <p:nvPr/>
      </p:nvGrpSpPr>
      <p:grpSpPr>
        <a:xfrm>
          <a:off x="0" y="0"/>
          <a:ext cx="0" cy="0"/>
          <a:chOff x="0" y="0"/>
          <a:chExt cx="0" cy="0"/>
        </a:xfrm>
      </p:grpSpPr>
      <p:sp>
        <p:nvSpPr>
          <p:cNvPr id="117" name="Google Shape;117;p4">
            <a:extLst>
              <a:ext uri="{FF2B5EF4-FFF2-40B4-BE49-F238E27FC236}">
                <a16:creationId xmlns:a16="http://schemas.microsoft.com/office/drawing/2014/main" id="{A4CC4403-DB63-2414-3A90-A96940F566BC}"/>
              </a:ext>
            </a:extLst>
          </p:cNvPr>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dirty="0">
                <a:solidFill>
                  <a:schemeClr val="lt1"/>
                </a:solidFill>
                <a:latin typeface="Calibri"/>
                <a:ea typeface="Calibri"/>
                <a:cs typeface="Calibri"/>
                <a:sym typeface="Calibri"/>
              </a:rPr>
              <a:t>CAPSTONE PROJECT</a:t>
            </a:r>
            <a:endParaRPr sz="1400" b="0" i="0" u="none" strike="noStrike" cap="none" dirty="0">
              <a:solidFill>
                <a:srgbClr val="000000"/>
              </a:solidFill>
              <a:latin typeface="Arial"/>
              <a:ea typeface="Arial"/>
              <a:cs typeface="Arial"/>
              <a:sym typeface="Arial"/>
            </a:endParaRPr>
          </a:p>
        </p:txBody>
      </p:sp>
      <p:pic>
        <p:nvPicPr>
          <p:cNvPr id="118" name="Google Shape;118;p4">
            <a:extLst>
              <a:ext uri="{FF2B5EF4-FFF2-40B4-BE49-F238E27FC236}">
                <a16:creationId xmlns:a16="http://schemas.microsoft.com/office/drawing/2014/main" id="{527C627E-7712-77C7-095F-10C1A4F8DB26}"/>
              </a:ext>
            </a:extLst>
          </p:cNvPr>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19" name="Google Shape;119;p4">
            <a:extLst>
              <a:ext uri="{FF2B5EF4-FFF2-40B4-BE49-F238E27FC236}">
                <a16:creationId xmlns:a16="http://schemas.microsoft.com/office/drawing/2014/main" id="{5F153407-67B9-CF76-416A-BCDB875FA062}"/>
              </a:ext>
            </a:extLst>
          </p:cNvPr>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0" name="Google Shape;120;p4">
            <a:extLst>
              <a:ext uri="{FF2B5EF4-FFF2-40B4-BE49-F238E27FC236}">
                <a16:creationId xmlns:a16="http://schemas.microsoft.com/office/drawing/2014/main" id="{C139067D-7991-8F84-AEB7-2A4C1F2B39A8}"/>
              </a:ext>
            </a:extLst>
          </p:cNvPr>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dk1"/>
                </a:solidFill>
                <a:latin typeface="Calibri"/>
                <a:ea typeface="Calibri"/>
                <a:cs typeface="Calibri"/>
                <a:sym typeface="Calibri"/>
              </a:rPr>
              <a:t>Disclaimer: This training material belongs to techcrush and shouldn’t be shared</a:t>
            </a:r>
            <a:endParaRPr sz="1400" b="0" i="0" u="none" strike="noStrike" cap="none">
              <a:solidFill>
                <a:srgbClr val="000000"/>
              </a:solidFill>
              <a:latin typeface="Arial"/>
              <a:ea typeface="Arial"/>
              <a:cs typeface="Arial"/>
              <a:sym typeface="Arial"/>
            </a:endParaRPr>
          </a:p>
        </p:txBody>
      </p:sp>
      <p:pic>
        <p:nvPicPr>
          <p:cNvPr id="121" name="Google Shape;121;p4">
            <a:extLst>
              <a:ext uri="{FF2B5EF4-FFF2-40B4-BE49-F238E27FC236}">
                <a16:creationId xmlns:a16="http://schemas.microsoft.com/office/drawing/2014/main" id="{2D250751-76ED-AFFA-97EB-08C21BC15E9D}"/>
              </a:ext>
            </a:extLst>
          </p:cNvPr>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22" name="Google Shape;122;p4">
            <a:extLst>
              <a:ext uri="{FF2B5EF4-FFF2-40B4-BE49-F238E27FC236}">
                <a16:creationId xmlns:a16="http://schemas.microsoft.com/office/drawing/2014/main" id="{9109C4D0-1C20-A9AA-BEE0-6DF7E152330E}"/>
              </a:ext>
            </a:extLst>
          </p:cNvPr>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23" name="Google Shape;123;p4">
            <a:extLst>
              <a:ext uri="{FF2B5EF4-FFF2-40B4-BE49-F238E27FC236}">
                <a16:creationId xmlns:a16="http://schemas.microsoft.com/office/drawing/2014/main" id="{4135F4F4-9BA1-7D54-0A35-1E7922A42831}"/>
              </a:ext>
            </a:extLst>
          </p:cNvPr>
          <p:cNvSpPr txBox="1"/>
          <p:nvPr/>
        </p:nvSpPr>
        <p:spPr>
          <a:xfrm>
            <a:off x="-3" y="934623"/>
            <a:ext cx="9148481" cy="1244403"/>
          </a:xfrm>
          <a:prstGeom prst="rect">
            <a:avLst/>
          </a:prstGeom>
          <a:noFill/>
          <a:ln>
            <a:noFill/>
          </a:ln>
        </p:spPr>
        <p:txBody>
          <a:bodyPr spcFirstLastPara="1" wrap="square" lIns="91425" tIns="45700" rIns="91425" bIns="45700" anchor="t" anchorCtr="0">
            <a:spAutoFit/>
          </a:bodyPr>
          <a:lstStyle/>
          <a:p>
            <a:r>
              <a:rPr lang="en-US" sz="3600" b="1" dirty="0">
                <a:latin typeface="+mj-lt"/>
                <a:cs typeface="Times New Roman" panose="02020603050405020304" pitchFamily="18" charset="0"/>
              </a:rPr>
              <a:t>TASK 2: </a:t>
            </a:r>
            <a:r>
              <a:rPr lang="en-US" sz="3600" b="1" dirty="0">
                <a:latin typeface="+mj-lt"/>
              </a:rPr>
              <a:t>Basic Network Security Cont’d</a:t>
            </a:r>
          </a:p>
          <a:p>
            <a:pPr marL="457200" marR="0" lvl="0" indent="-279400" algn="l" rtl="0">
              <a:lnSpc>
                <a:spcPct val="115000"/>
              </a:lnSpc>
              <a:spcBef>
                <a:spcPts val="800"/>
              </a:spcBef>
              <a:spcAft>
                <a:spcPts val="0"/>
              </a:spcAft>
              <a:buClr>
                <a:schemeClr val="dk1"/>
              </a:buClr>
              <a:buSzPts val="2800"/>
              <a:buFont typeface="Arial"/>
              <a:buNone/>
            </a:pPr>
            <a:endParaRPr sz="2800" b="0" i="0" u="none" strike="noStrike" cap="none" dirty="0">
              <a:solidFill>
                <a:schemeClr val="dk1"/>
              </a:solidFill>
              <a:latin typeface="Arial"/>
              <a:ea typeface="Arial"/>
              <a:cs typeface="Arial"/>
              <a:sym typeface="Arial"/>
            </a:endParaRPr>
          </a:p>
        </p:txBody>
      </p:sp>
      <p:sp>
        <p:nvSpPr>
          <p:cNvPr id="3" name="Rectangle 2">
            <a:extLst>
              <a:ext uri="{FF2B5EF4-FFF2-40B4-BE49-F238E27FC236}">
                <a16:creationId xmlns:a16="http://schemas.microsoft.com/office/drawing/2014/main" id="{116FC77D-1F1F-8D20-E559-048A7BB5AFE5}"/>
              </a:ext>
            </a:extLst>
          </p:cNvPr>
          <p:cNvSpPr>
            <a:spLocks noChangeArrowheads="1"/>
          </p:cNvSpPr>
          <p:nvPr/>
        </p:nvSpPr>
        <p:spPr bwMode="auto">
          <a:xfrm>
            <a:off x="1138518" y="1887031"/>
            <a:ext cx="117774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b="1" dirty="0">
                <a:latin typeface="+mn-lt"/>
              </a:rPr>
              <a:t>Nmap Port Scanning &amp; Hardening</a:t>
            </a:r>
          </a:p>
        </p:txBody>
      </p:sp>
      <p:graphicFrame>
        <p:nvGraphicFramePr>
          <p:cNvPr id="4" name="Diagram 3">
            <a:extLst>
              <a:ext uri="{FF2B5EF4-FFF2-40B4-BE49-F238E27FC236}">
                <a16:creationId xmlns:a16="http://schemas.microsoft.com/office/drawing/2014/main" id="{CB65E63E-43C7-1CD6-807B-C04B298E1CBB}"/>
              </a:ext>
            </a:extLst>
          </p:cNvPr>
          <p:cNvGraphicFramePr/>
          <p:nvPr>
            <p:extLst>
              <p:ext uri="{D42A27DB-BD31-4B8C-83A1-F6EECF244321}">
                <p14:modId xmlns:p14="http://schemas.microsoft.com/office/powerpoint/2010/main" val="4004560002"/>
              </p:ext>
            </p:extLst>
          </p:nvPr>
        </p:nvGraphicFramePr>
        <p:xfrm>
          <a:off x="412503" y="2373438"/>
          <a:ext cx="10954492" cy="409908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8175937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6">
          <a:extLst>
            <a:ext uri="{FF2B5EF4-FFF2-40B4-BE49-F238E27FC236}">
              <a16:creationId xmlns:a16="http://schemas.microsoft.com/office/drawing/2014/main" id="{C57E8130-9EE7-1695-6B2C-1A6A8F38062C}"/>
            </a:ext>
          </a:extLst>
        </p:cNvPr>
        <p:cNvGrpSpPr/>
        <p:nvPr/>
      </p:nvGrpSpPr>
      <p:grpSpPr>
        <a:xfrm>
          <a:off x="0" y="0"/>
          <a:ext cx="0" cy="0"/>
          <a:chOff x="0" y="0"/>
          <a:chExt cx="0" cy="0"/>
        </a:xfrm>
      </p:grpSpPr>
      <p:sp>
        <p:nvSpPr>
          <p:cNvPr id="117" name="Google Shape;117;p4">
            <a:extLst>
              <a:ext uri="{FF2B5EF4-FFF2-40B4-BE49-F238E27FC236}">
                <a16:creationId xmlns:a16="http://schemas.microsoft.com/office/drawing/2014/main" id="{3A0DB3B7-12D0-7ACE-469C-0637839ABEFB}"/>
              </a:ext>
            </a:extLst>
          </p:cNvPr>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18" name="Google Shape;118;p4">
            <a:extLst>
              <a:ext uri="{FF2B5EF4-FFF2-40B4-BE49-F238E27FC236}">
                <a16:creationId xmlns:a16="http://schemas.microsoft.com/office/drawing/2014/main" id="{6F216280-110A-A916-DA61-0A8DC387008E}"/>
              </a:ext>
            </a:extLst>
          </p:cNvPr>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19" name="Google Shape;119;p4">
            <a:extLst>
              <a:ext uri="{FF2B5EF4-FFF2-40B4-BE49-F238E27FC236}">
                <a16:creationId xmlns:a16="http://schemas.microsoft.com/office/drawing/2014/main" id="{A378B46B-EB1F-5244-0200-9211CDDA9D5A}"/>
              </a:ext>
            </a:extLst>
          </p:cNvPr>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0" name="Google Shape;120;p4">
            <a:extLst>
              <a:ext uri="{FF2B5EF4-FFF2-40B4-BE49-F238E27FC236}">
                <a16:creationId xmlns:a16="http://schemas.microsoft.com/office/drawing/2014/main" id="{B05BACA0-EA51-50A7-5F54-B419ABC53144}"/>
              </a:ext>
            </a:extLst>
          </p:cNvPr>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dirty="0">
                <a:solidFill>
                  <a:schemeClr val="dk1"/>
                </a:solidFill>
                <a:latin typeface="Calibri"/>
                <a:ea typeface="Calibri"/>
                <a:cs typeface="Calibri"/>
                <a:sym typeface="Calibri"/>
              </a:rPr>
              <a:t>Disclaimer: This training material belongs to </a:t>
            </a:r>
            <a:r>
              <a:rPr lang="en-US" sz="1800" b="0" i="1" u="none" strike="noStrike" cap="none" dirty="0" err="1">
                <a:solidFill>
                  <a:schemeClr val="dk1"/>
                </a:solidFill>
                <a:latin typeface="Calibri"/>
                <a:ea typeface="Calibri"/>
                <a:cs typeface="Calibri"/>
                <a:sym typeface="Calibri"/>
              </a:rPr>
              <a:t>techcrush</a:t>
            </a:r>
            <a:r>
              <a:rPr lang="en-US" sz="1800" b="0" i="1" u="none" strike="noStrike" cap="none" dirty="0">
                <a:solidFill>
                  <a:schemeClr val="dk1"/>
                </a:solidFill>
                <a:latin typeface="Calibri"/>
                <a:ea typeface="Calibri"/>
                <a:cs typeface="Calibri"/>
                <a:sym typeface="Calibri"/>
              </a:rPr>
              <a:t> and shouldn’t be shared</a:t>
            </a:r>
            <a:endParaRPr sz="1400" b="0" i="0" u="none" strike="noStrike" cap="none" dirty="0">
              <a:solidFill>
                <a:srgbClr val="000000"/>
              </a:solidFill>
              <a:latin typeface="Arial"/>
              <a:ea typeface="Arial"/>
              <a:cs typeface="Arial"/>
              <a:sym typeface="Arial"/>
            </a:endParaRPr>
          </a:p>
        </p:txBody>
      </p:sp>
      <p:pic>
        <p:nvPicPr>
          <p:cNvPr id="121" name="Google Shape;121;p4">
            <a:extLst>
              <a:ext uri="{FF2B5EF4-FFF2-40B4-BE49-F238E27FC236}">
                <a16:creationId xmlns:a16="http://schemas.microsoft.com/office/drawing/2014/main" id="{40651A09-E567-8F11-ED5E-512C723C19D0}"/>
              </a:ext>
            </a:extLst>
          </p:cNvPr>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22" name="Google Shape;122;p4">
            <a:extLst>
              <a:ext uri="{FF2B5EF4-FFF2-40B4-BE49-F238E27FC236}">
                <a16:creationId xmlns:a16="http://schemas.microsoft.com/office/drawing/2014/main" id="{88298601-B947-D5A0-10CD-758E505A21CD}"/>
              </a:ext>
            </a:extLst>
          </p:cNvPr>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23" name="Google Shape;123;p4">
            <a:extLst>
              <a:ext uri="{FF2B5EF4-FFF2-40B4-BE49-F238E27FC236}">
                <a16:creationId xmlns:a16="http://schemas.microsoft.com/office/drawing/2014/main" id="{534434CC-A387-DDEA-008C-87570069827A}"/>
              </a:ext>
            </a:extLst>
          </p:cNvPr>
          <p:cNvSpPr txBox="1"/>
          <p:nvPr/>
        </p:nvSpPr>
        <p:spPr>
          <a:xfrm>
            <a:off x="0" y="863851"/>
            <a:ext cx="9263875" cy="1244403"/>
          </a:xfrm>
          <a:prstGeom prst="rect">
            <a:avLst/>
          </a:prstGeom>
          <a:noFill/>
          <a:ln>
            <a:noFill/>
          </a:ln>
        </p:spPr>
        <p:txBody>
          <a:bodyPr spcFirstLastPara="1" wrap="square" lIns="91425" tIns="45700" rIns="91425" bIns="45700" anchor="t" anchorCtr="0">
            <a:spAutoFit/>
          </a:bodyPr>
          <a:lstStyle/>
          <a:p>
            <a:r>
              <a:rPr lang="en-US" sz="3600" b="1" dirty="0">
                <a:latin typeface="+mj-lt"/>
                <a:cs typeface="Times New Roman" panose="02020603050405020304" pitchFamily="18" charset="0"/>
              </a:rPr>
              <a:t>TASK 2: </a:t>
            </a:r>
            <a:r>
              <a:rPr lang="en-US" sz="3600" b="1" dirty="0">
                <a:latin typeface="+mj-lt"/>
              </a:rPr>
              <a:t>Basic Network Security Cont’d</a:t>
            </a:r>
            <a:endParaRPr lang="en-US" sz="3600" b="1" dirty="0">
              <a:latin typeface="+mj-lt"/>
              <a:cs typeface="Times New Roman" panose="02020603050405020304" pitchFamily="18" charset="0"/>
            </a:endParaRPr>
          </a:p>
          <a:p>
            <a:pPr marL="457200" marR="0" lvl="0" indent="-279400" algn="l" rtl="0">
              <a:lnSpc>
                <a:spcPct val="115000"/>
              </a:lnSpc>
              <a:spcBef>
                <a:spcPts val="800"/>
              </a:spcBef>
              <a:spcAft>
                <a:spcPts val="0"/>
              </a:spcAft>
              <a:buClr>
                <a:schemeClr val="dk1"/>
              </a:buClr>
              <a:buSzPts val="2800"/>
              <a:buFont typeface="Arial"/>
              <a:buNone/>
            </a:pPr>
            <a:endParaRPr sz="2800" b="0" i="0" u="none" strike="noStrike" cap="none" dirty="0">
              <a:solidFill>
                <a:schemeClr val="dk1"/>
              </a:solidFill>
              <a:latin typeface="Arial"/>
              <a:ea typeface="Arial"/>
              <a:cs typeface="Arial"/>
              <a:sym typeface="Arial"/>
            </a:endParaRPr>
          </a:p>
        </p:txBody>
      </p:sp>
      <p:sp>
        <p:nvSpPr>
          <p:cNvPr id="5" name="TextBox 4">
            <a:extLst>
              <a:ext uri="{FF2B5EF4-FFF2-40B4-BE49-F238E27FC236}">
                <a16:creationId xmlns:a16="http://schemas.microsoft.com/office/drawing/2014/main" id="{D70F8738-B17A-2BFE-7590-F93690CBD0F1}"/>
              </a:ext>
            </a:extLst>
          </p:cNvPr>
          <p:cNvSpPr txBox="1"/>
          <p:nvPr/>
        </p:nvSpPr>
        <p:spPr>
          <a:xfrm>
            <a:off x="825004" y="1429265"/>
            <a:ext cx="11081345" cy="461665"/>
          </a:xfrm>
          <a:prstGeom prst="rect">
            <a:avLst/>
          </a:prstGeom>
          <a:noFill/>
        </p:spPr>
        <p:txBody>
          <a:bodyPr wrap="square">
            <a:spAutoFit/>
          </a:bodyPr>
          <a:lstStyle/>
          <a:p>
            <a:pPr>
              <a:buNone/>
            </a:pPr>
            <a:r>
              <a:rPr lang="en-GB" sz="2400" dirty="0"/>
              <a:t>This shows different commands for </a:t>
            </a:r>
            <a:r>
              <a:rPr lang="en-GB" sz="2400" dirty="0" err="1"/>
              <a:t>nmap</a:t>
            </a:r>
            <a:r>
              <a:rPr lang="en-GB" sz="2400" dirty="0"/>
              <a:t> port scanning operations</a:t>
            </a:r>
            <a:endParaRPr lang="en-US" sz="24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5AF2959E-AE9A-8F26-B0E5-9FAF58389856}"/>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65851" y="2074118"/>
            <a:ext cx="10860296" cy="4398401"/>
          </a:xfrm>
          <a:prstGeom prst="rect">
            <a:avLst/>
          </a:prstGeom>
          <a:noFill/>
          <a:ln>
            <a:noFill/>
          </a:ln>
        </p:spPr>
      </p:pic>
    </p:spTree>
    <p:extLst>
      <p:ext uri="{BB962C8B-B14F-4D97-AF65-F5344CB8AC3E}">
        <p14:creationId xmlns:p14="http://schemas.microsoft.com/office/powerpoint/2010/main" val="14579899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6">
          <a:extLst>
            <a:ext uri="{FF2B5EF4-FFF2-40B4-BE49-F238E27FC236}">
              <a16:creationId xmlns:a16="http://schemas.microsoft.com/office/drawing/2014/main" id="{AB7B8B23-52DC-3196-A64D-CADBEB33DA3E}"/>
            </a:ext>
          </a:extLst>
        </p:cNvPr>
        <p:cNvGrpSpPr/>
        <p:nvPr/>
      </p:nvGrpSpPr>
      <p:grpSpPr>
        <a:xfrm>
          <a:off x="0" y="0"/>
          <a:ext cx="0" cy="0"/>
          <a:chOff x="0" y="0"/>
          <a:chExt cx="0" cy="0"/>
        </a:xfrm>
      </p:grpSpPr>
      <p:sp>
        <p:nvSpPr>
          <p:cNvPr id="117" name="Google Shape;117;p4">
            <a:extLst>
              <a:ext uri="{FF2B5EF4-FFF2-40B4-BE49-F238E27FC236}">
                <a16:creationId xmlns:a16="http://schemas.microsoft.com/office/drawing/2014/main" id="{356DD3C4-24C3-E3A1-6A12-CC4461E64C33}"/>
              </a:ext>
            </a:extLst>
          </p:cNvPr>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dirty="0">
                <a:solidFill>
                  <a:schemeClr val="lt1"/>
                </a:solidFill>
                <a:latin typeface="Calibri"/>
                <a:ea typeface="Calibri"/>
                <a:cs typeface="Calibri"/>
                <a:sym typeface="Calibri"/>
              </a:rPr>
              <a:t>CAPSTONE PROJECT</a:t>
            </a:r>
            <a:endParaRPr sz="1400" b="0" i="0" u="none" strike="noStrike" cap="none" dirty="0">
              <a:solidFill>
                <a:srgbClr val="000000"/>
              </a:solidFill>
              <a:latin typeface="Arial"/>
              <a:ea typeface="Arial"/>
              <a:cs typeface="Arial"/>
              <a:sym typeface="Arial"/>
            </a:endParaRPr>
          </a:p>
        </p:txBody>
      </p:sp>
      <p:pic>
        <p:nvPicPr>
          <p:cNvPr id="118" name="Google Shape;118;p4">
            <a:extLst>
              <a:ext uri="{FF2B5EF4-FFF2-40B4-BE49-F238E27FC236}">
                <a16:creationId xmlns:a16="http://schemas.microsoft.com/office/drawing/2014/main" id="{7761F6A8-A0FE-DF21-AB7F-EC7EF02CED58}"/>
              </a:ext>
            </a:extLst>
          </p:cNvPr>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19" name="Google Shape;119;p4">
            <a:extLst>
              <a:ext uri="{FF2B5EF4-FFF2-40B4-BE49-F238E27FC236}">
                <a16:creationId xmlns:a16="http://schemas.microsoft.com/office/drawing/2014/main" id="{16AB7BAA-1FFE-D261-7AB4-7D97CD8F84D7}"/>
              </a:ext>
            </a:extLst>
          </p:cNvPr>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0" name="Google Shape;120;p4">
            <a:extLst>
              <a:ext uri="{FF2B5EF4-FFF2-40B4-BE49-F238E27FC236}">
                <a16:creationId xmlns:a16="http://schemas.microsoft.com/office/drawing/2014/main" id="{2DEEFBC9-CCD2-54DD-670A-CC49C61256DD}"/>
              </a:ext>
            </a:extLst>
          </p:cNvPr>
          <p:cNvSpPr txBox="1"/>
          <p:nvPr/>
        </p:nvSpPr>
        <p:spPr>
          <a:xfrm>
            <a:off x="1138518" y="6483405"/>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dirty="0">
                <a:solidFill>
                  <a:schemeClr val="dk1"/>
                </a:solidFill>
                <a:latin typeface="Calibri"/>
                <a:ea typeface="Calibri"/>
                <a:cs typeface="Calibri"/>
                <a:sym typeface="Calibri"/>
              </a:rPr>
              <a:t>Disclaimer: This training material belongs to </a:t>
            </a:r>
            <a:r>
              <a:rPr lang="en-US" sz="1800" b="0" i="1" u="none" strike="noStrike" cap="none" dirty="0" err="1">
                <a:solidFill>
                  <a:schemeClr val="dk1"/>
                </a:solidFill>
                <a:latin typeface="Calibri"/>
                <a:ea typeface="Calibri"/>
                <a:cs typeface="Calibri"/>
                <a:sym typeface="Calibri"/>
              </a:rPr>
              <a:t>techcrush</a:t>
            </a:r>
            <a:r>
              <a:rPr lang="en-US" sz="1800" b="0" i="1" u="none" strike="noStrike" cap="none" dirty="0">
                <a:solidFill>
                  <a:schemeClr val="dk1"/>
                </a:solidFill>
                <a:latin typeface="Calibri"/>
                <a:ea typeface="Calibri"/>
                <a:cs typeface="Calibri"/>
                <a:sym typeface="Calibri"/>
              </a:rPr>
              <a:t> and shouldn’t be shared</a:t>
            </a:r>
            <a:endParaRPr sz="1400" b="0" i="0" u="none" strike="noStrike" cap="none" dirty="0">
              <a:solidFill>
                <a:srgbClr val="000000"/>
              </a:solidFill>
              <a:latin typeface="Arial"/>
              <a:ea typeface="Arial"/>
              <a:cs typeface="Arial"/>
              <a:sym typeface="Arial"/>
            </a:endParaRPr>
          </a:p>
        </p:txBody>
      </p:sp>
      <p:pic>
        <p:nvPicPr>
          <p:cNvPr id="121" name="Google Shape;121;p4">
            <a:extLst>
              <a:ext uri="{FF2B5EF4-FFF2-40B4-BE49-F238E27FC236}">
                <a16:creationId xmlns:a16="http://schemas.microsoft.com/office/drawing/2014/main" id="{001DF346-FBB2-FF5D-C61F-1AE0A1D8D828}"/>
              </a:ext>
            </a:extLst>
          </p:cNvPr>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22" name="Google Shape;122;p4">
            <a:extLst>
              <a:ext uri="{FF2B5EF4-FFF2-40B4-BE49-F238E27FC236}">
                <a16:creationId xmlns:a16="http://schemas.microsoft.com/office/drawing/2014/main" id="{91B592A3-DD0A-594E-C9AC-A0A014BB0228}"/>
              </a:ext>
            </a:extLst>
          </p:cNvPr>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23" name="Google Shape;123;p4">
            <a:extLst>
              <a:ext uri="{FF2B5EF4-FFF2-40B4-BE49-F238E27FC236}">
                <a16:creationId xmlns:a16="http://schemas.microsoft.com/office/drawing/2014/main" id="{47BAE8B9-0E5C-BF67-7995-358073DF82B9}"/>
              </a:ext>
            </a:extLst>
          </p:cNvPr>
          <p:cNvSpPr txBox="1"/>
          <p:nvPr/>
        </p:nvSpPr>
        <p:spPr>
          <a:xfrm>
            <a:off x="-3" y="934623"/>
            <a:ext cx="9148481" cy="1798401"/>
          </a:xfrm>
          <a:prstGeom prst="rect">
            <a:avLst/>
          </a:prstGeom>
          <a:noFill/>
          <a:ln>
            <a:noFill/>
          </a:ln>
        </p:spPr>
        <p:txBody>
          <a:bodyPr spcFirstLastPara="1" wrap="square" lIns="91425" tIns="45700" rIns="91425" bIns="45700" anchor="t" anchorCtr="0">
            <a:spAutoFit/>
          </a:bodyPr>
          <a:lstStyle/>
          <a:p>
            <a:r>
              <a:rPr lang="en-US" sz="3600" b="1" dirty="0">
                <a:latin typeface="+mj-lt"/>
                <a:cs typeface="Times New Roman" panose="02020603050405020304" pitchFamily="18" charset="0"/>
              </a:rPr>
              <a:t>TASK 2: </a:t>
            </a:r>
            <a:r>
              <a:rPr lang="en-US" sz="3600" b="1" dirty="0">
                <a:latin typeface="+mj-lt"/>
              </a:rPr>
              <a:t>Basic Network Security Cont’d</a:t>
            </a:r>
          </a:p>
          <a:p>
            <a:endParaRPr lang="en-US" sz="3600" b="1" dirty="0">
              <a:latin typeface="+mj-lt"/>
              <a:cs typeface="Times New Roman" panose="02020603050405020304" pitchFamily="18" charset="0"/>
            </a:endParaRPr>
          </a:p>
          <a:p>
            <a:pPr marL="457200" marR="0" lvl="0" indent="-279400" algn="l" rtl="0">
              <a:lnSpc>
                <a:spcPct val="115000"/>
              </a:lnSpc>
              <a:spcBef>
                <a:spcPts val="800"/>
              </a:spcBef>
              <a:spcAft>
                <a:spcPts val="0"/>
              </a:spcAft>
              <a:buClr>
                <a:schemeClr val="dk1"/>
              </a:buClr>
              <a:buSzPts val="2800"/>
              <a:buFont typeface="Arial"/>
              <a:buNone/>
            </a:pPr>
            <a:endParaRPr sz="2800" b="0" i="0" u="none" strike="noStrike" cap="none" dirty="0">
              <a:solidFill>
                <a:schemeClr val="dk1"/>
              </a:solidFill>
              <a:latin typeface="Arial"/>
              <a:ea typeface="Arial"/>
              <a:cs typeface="Arial"/>
              <a:sym typeface="Arial"/>
            </a:endParaRPr>
          </a:p>
        </p:txBody>
      </p:sp>
      <p:sp>
        <p:nvSpPr>
          <p:cNvPr id="3" name="Rectangle 2">
            <a:extLst>
              <a:ext uri="{FF2B5EF4-FFF2-40B4-BE49-F238E27FC236}">
                <a16:creationId xmlns:a16="http://schemas.microsoft.com/office/drawing/2014/main" id="{16EC34B2-1C77-8611-B6D8-1D23C6CF7B9B}"/>
              </a:ext>
            </a:extLst>
          </p:cNvPr>
          <p:cNvSpPr>
            <a:spLocks noChangeArrowheads="1"/>
          </p:cNvSpPr>
          <p:nvPr/>
        </p:nvSpPr>
        <p:spPr bwMode="auto">
          <a:xfrm>
            <a:off x="414528" y="1786516"/>
            <a:ext cx="1177747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b="1" dirty="0"/>
              <a:t>Wireshark Traffic Analysis</a:t>
            </a:r>
          </a:p>
          <a:p>
            <a:r>
              <a:rPr lang="en-US" sz="2400" dirty="0"/>
              <a:t>Real-time packet capture with color-coded protocol identification:</a:t>
            </a:r>
            <a:endParaRPr lang="en-US" sz="2400" b="1" dirty="0"/>
          </a:p>
        </p:txBody>
      </p:sp>
      <p:pic>
        <p:nvPicPr>
          <p:cNvPr id="5" name="Picture 4">
            <a:extLst>
              <a:ext uri="{FF2B5EF4-FFF2-40B4-BE49-F238E27FC236}">
                <a16:creationId xmlns:a16="http://schemas.microsoft.com/office/drawing/2014/main" id="{BE3EE2A1-40C9-AA8D-90BD-59225CE39F32}"/>
              </a:ext>
            </a:extLst>
          </p:cNvPr>
          <p:cNvPicPr>
            <a:picLocks noChangeAspect="1"/>
          </p:cNvPicPr>
          <p:nvPr/>
        </p:nvPicPr>
        <p:blipFill>
          <a:blip r:embed="rId5"/>
          <a:stretch>
            <a:fillRect/>
          </a:stretch>
        </p:blipFill>
        <p:spPr>
          <a:xfrm>
            <a:off x="297932" y="2842092"/>
            <a:ext cx="11596134" cy="2131972"/>
          </a:xfrm>
          <a:prstGeom prst="rect">
            <a:avLst/>
          </a:prstGeom>
        </p:spPr>
      </p:pic>
      <p:sp>
        <p:nvSpPr>
          <p:cNvPr id="7" name="TextBox 6">
            <a:extLst>
              <a:ext uri="{FF2B5EF4-FFF2-40B4-BE49-F238E27FC236}">
                <a16:creationId xmlns:a16="http://schemas.microsoft.com/office/drawing/2014/main" id="{42FE5DDD-8082-9C6A-8937-CE85CACA65E6}"/>
              </a:ext>
            </a:extLst>
          </p:cNvPr>
          <p:cNvSpPr txBox="1"/>
          <p:nvPr/>
        </p:nvSpPr>
        <p:spPr>
          <a:xfrm>
            <a:off x="297932" y="4974064"/>
            <a:ext cx="11275448" cy="1200329"/>
          </a:xfrm>
          <a:prstGeom prst="rect">
            <a:avLst/>
          </a:prstGeom>
          <a:noFill/>
        </p:spPr>
        <p:txBody>
          <a:bodyPr wrap="square">
            <a:spAutoFit/>
          </a:bodyPr>
          <a:lstStyle/>
          <a:p>
            <a:r>
              <a:rPr lang="en-US" sz="2400" b="1" dirty="0"/>
              <a:t>Result:</a:t>
            </a:r>
          </a:p>
          <a:p>
            <a:r>
              <a:rPr lang="en-US" sz="2400" dirty="0"/>
              <a:t> Reduced attack surface by 60% through port hardening and established baseline for normal traffic patterns.</a:t>
            </a:r>
          </a:p>
        </p:txBody>
      </p:sp>
    </p:spTree>
    <p:extLst>
      <p:ext uri="{BB962C8B-B14F-4D97-AF65-F5344CB8AC3E}">
        <p14:creationId xmlns:p14="http://schemas.microsoft.com/office/powerpoint/2010/main" val="2740556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6">
          <a:extLst>
            <a:ext uri="{FF2B5EF4-FFF2-40B4-BE49-F238E27FC236}">
              <a16:creationId xmlns:a16="http://schemas.microsoft.com/office/drawing/2014/main" id="{94B7545D-C471-5DB0-6510-5590EC15F26C}"/>
            </a:ext>
          </a:extLst>
        </p:cNvPr>
        <p:cNvGrpSpPr/>
        <p:nvPr/>
      </p:nvGrpSpPr>
      <p:grpSpPr>
        <a:xfrm>
          <a:off x="0" y="0"/>
          <a:ext cx="0" cy="0"/>
          <a:chOff x="0" y="0"/>
          <a:chExt cx="0" cy="0"/>
        </a:xfrm>
      </p:grpSpPr>
      <p:sp>
        <p:nvSpPr>
          <p:cNvPr id="117" name="Google Shape;117;p4">
            <a:extLst>
              <a:ext uri="{FF2B5EF4-FFF2-40B4-BE49-F238E27FC236}">
                <a16:creationId xmlns:a16="http://schemas.microsoft.com/office/drawing/2014/main" id="{50E9448B-EA63-7F96-D79D-3B5EA44DD9CB}"/>
              </a:ext>
            </a:extLst>
          </p:cNvPr>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dirty="0">
                <a:solidFill>
                  <a:schemeClr val="lt1"/>
                </a:solidFill>
                <a:latin typeface="Calibri"/>
                <a:ea typeface="Calibri"/>
                <a:cs typeface="Calibri"/>
                <a:sym typeface="Calibri"/>
              </a:rPr>
              <a:t>CAPSTONE PROJECT</a:t>
            </a:r>
            <a:endParaRPr sz="1400" b="0" i="0" u="none" strike="noStrike" cap="none" dirty="0">
              <a:solidFill>
                <a:srgbClr val="000000"/>
              </a:solidFill>
              <a:latin typeface="Arial"/>
              <a:ea typeface="Arial"/>
              <a:cs typeface="Arial"/>
              <a:sym typeface="Arial"/>
            </a:endParaRPr>
          </a:p>
        </p:txBody>
      </p:sp>
      <p:pic>
        <p:nvPicPr>
          <p:cNvPr id="118" name="Google Shape;118;p4">
            <a:extLst>
              <a:ext uri="{FF2B5EF4-FFF2-40B4-BE49-F238E27FC236}">
                <a16:creationId xmlns:a16="http://schemas.microsoft.com/office/drawing/2014/main" id="{A5A66247-1633-5F17-2BBC-4CD3C94E7442}"/>
              </a:ext>
            </a:extLst>
          </p:cNvPr>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19" name="Google Shape;119;p4">
            <a:extLst>
              <a:ext uri="{FF2B5EF4-FFF2-40B4-BE49-F238E27FC236}">
                <a16:creationId xmlns:a16="http://schemas.microsoft.com/office/drawing/2014/main" id="{6D05BF30-DFED-44F3-D0E0-5866271D425F}"/>
              </a:ext>
            </a:extLst>
          </p:cNvPr>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0" name="Google Shape;120;p4">
            <a:extLst>
              <a:ext uri="{FF2B5EF4-FFF2-40B4-BE49-F238E27FC236}">
                <a16:creationId xmlns:a16="http://schemas.microsoft.com/office/drawing/2014/main" id="{625C2A94-FAEC-1801-217E-FB7471054B57}"/>
              </a:ext>
            </a:extLst>
          </p:cNvPr>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dirty="0">
                <a:solidFill>
                  <a:schemeClr val="dk1"/>
                </a:solidFill>
                <a:latin typeface="Calibri"/>
                <a:ea typeface="Calibri"/>
                <a:cs typeface="Calibri"/>
                <a:sym typeface="Calibri"/>
              </a:rPr>
              <a:t>Disclaimer: This training material belongs to </a:t>
            </a:r>
            <a:r>
              <a:rPr lang="en-US" sz="1800" b="0" i="1" u="none" strike="noStrike" cap="none" dirty="0" err="1">
                <a:solidFill>
                  <a:schemeClr val="dk1"/>
                </a:solidFill>
                <a:latin typeface="Calibri"/>
                <a:ea typeface="Calibri"/>
                <a:cs typeface="Calibri"/>
                <a:sym typeface="Calibri"/>
              </a:rPr>
              <a:t>techcrush</a:t>
            </a:r>
            <a:r>
              <a:rPr lang="en-US" sz="1800" b="0" i="1" u="none" strike="noStrike" cap="none" dirty="0">
                <a:solidFill>
                  <a:schemeClr val="dk1"/>
                </a:solidFill>
                <a:latin typeface="Calibri"/>
                <a:ea typeface="Calibri"/>
                <a:cs typeface="Calibri"/>
                <a:sym typeface="Calibri"/>
              </a:rPr>
              <a:t> and shouldn’t be shared</a:t>
            </a:r>
            <a:endParaRPr sz="1400" b="0" i="0" u="none" strike="noStrike" cap="none" dirty="0">
              <a:solidFill>
                <a:srgbClr val="000000"/>
              </a:solidFill>
              <a:latin typeface="Arial"/>
              <a:ea typeface="Arial"/>
              <a:cs typeface="Arial"/>
              <a:sym typeface="Arial"/>
            </a:endParaRPr>
          </a:p>
        </p:txBody>
      </p:sp>
      <p:pic>
        <p:nvPicPr>
          <p:cNvPr id="121" name="Google Shape;121;p4">
            <a:extLst>
              <a:ext uri="{FF2B5EF4-FFF2-40B4-BE49-F238E27FC236}">
                <a16:creationId xmlns:a16="http://schemas.microsoft.com/office/drawing/2014/main" id="{95873028-81AB-F765-13FA-7F6572452CCD}"/>
              </a:ext>
            </a:extLst>
          </p:cNvPr>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22" name="Google Shape;122;p4">
            <a:extLst>
              <a:ext uri="{FF2B5EF4-FFF2-40B4-BE49-F238E27FC236}">
                <a16:creationId xmlns:a16="http://schemas.microsoft.com/office/drawing/2014/main" id="{716570A8-7F83-7245-CD02-9540128FB07F}"/>
              </a:ext>
            </a:extLst>
          </p:cNvPr>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23" name="Google Shape;123;p4">
            <a:extLst>
              <a:ext uri="{FF2B5EF4-FFF2-40B4-BE49-F238E27FC236}">
                <a16:creationId xmlns:a16="http://schemas.microsoft.com/office/drawing/2014/main" id="{2F671B94-F4EB-CF58-2B2F-47FFDC48496B}"/>
              </a:ext>
            </a:extLst>
          </p:cNvPr>
          <p:cNvSpPr txBox="1"/>
          <p:nvPr/>
        </p:nvSpPr>
        <p:spPr>
          <a:xfrm>
            <a:off x="0" y="763641"/>
            <a:ext cx="9148481" cy="1798401"/>
          </a:xfrm>
          <a:prstGeom prst="rect">
            <a:avLst/>
          </a:prstGeom>
          <a:noFill/>
          <a:ln>
            <a:noFill/>
          </a:ln>
        </p:spPr>
        <p:txBody>
          <a:bodyPr spcFirstLastPara="1" wrap="square" lIns="91425" tIns="45700" rIns="91425" bIns="45700" anchor="t" anchorCtr="0">
            <a:spAutoFit/>
          </a:bodyPr>
          <a:lstStyle/>
          <a:p>
            <a:r>
              <a:rPr lang="en-US" sz="3600" b="1" dirty="0">
                <a:latin typeface="+mj-lt"/>
                <a:cs typeface="Times New Roman" panose="02020603050405020304" pitchFamily="18" charset="0"/>
              </a:rPr>
              <a:t>TASK 2: </a:t>
            </a:r>
            <a:r>
              <a:rPr lang="en-US" sz="3600" b="1" dirty="0">
                <a:latin typeface="+mj-lt"/>
              </a:rPr>
              <a:t>Basic Network Security Cont’d</a:t>
            </a:r>
          </a:p>
          <a:p>
            <a:endParaRPr lang="en-US" sz="3600" b="1" dirty="0">
              <a:latin typeface="Times New Roman" panose="02020603050405020304" pitchFamily="18" charset="0"/>
              <a:cs typeface="Times New Roman" panose="02020603050405020304" pitchFamily="18" charset="0"/>
            </a:endParaRPr>
          </a:p>
          <a:p>
            <a:pPr marL="457200" marR="0" lvl="0" indent="-279400" algn="l" rtl="0">
              <a:lnSpc>
                <a:spcPct val="115000"/>
              </a:lnSpc>
              <a:spcBef>
                <a:spcPts val="800"/>
              </a:spcBef>
              <a:spcAft>
                <a:spcPts val="0"/>
              </a:spcAft>
              <a:buClr>
                <a:schemeClr val="dk1"/>
              </a:buClr>
              <a:buSzPts val="2800"/>
              <a:buFont typeface="Arial"/>
              <a:buNone/>
            </a:pPr>
            <a:endParaRPr sz="2800" b="0" i="0" u="none" strike="noStrike" cap="none" dirty="0">
              <a:solidFill>
                <a:schemeClr val="dk1"/>
              </a:solidFill>
              <a:latin typeface="Arial"/>
              <a:ea typeface="Arial"/>
              <a:cs typeface="Arial"/>
              <a:sym typeface="Arial"/>
            </a:endParaRPr>
          </a:p>
        </p:txBody>
      </p:sp>
      <p:sp>
        <p:nvSpPr>
          <p:cNvPr id="3" name="Rectangle 2">
            <a:extLst>
              <a:ext uri="{FF2B5EF4-FFF2-40B4-BE49-F238E27FC236}">
                <a16:creationId xmlns:a16="http://schemas.microsoft.com/office/drawing/2014/main" id="{C7001A4E-8F6B-5E08-7262-523AF9F633E1}"/>
              </a:ext>
            </a:extLst>
          </p:cNvPr>
          <p:cNvSpPr>
            <a:spLocks noChangeArrowheads="1"/>
          </p:cNvSpPr>
          <p:nvPr/>
        </p:nvSpPr>
        <p:spPr bwMode="auto">
          <a:xfrm>
            <a:off x="414528" y="1432008"/>
            <a:ext cx="117774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b="1" dirty="0"/>
              <a:t>Wireshark Traffic Analysis</a:t>
            </a:r>
          </a:p>
        </p:txBody>
      </p:sp>
      <p:pic>
        <p:nvPicPr>
          <p:cNvPr id="2" name="Picture 1">
            <a:extLst>
              <a:ext uri="{FF2B5EF4-FFF2-40B4-BE49-F238E27FC236}">
                <a16:creationId xmlns:a16="http://schemas.microsoft.com/office/drawing/2014/main" id="{AD543397-41C5-6B28-AEF4-FC37486A0DA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07263" y="1951993"/>
            <a:ext cx="11777472" cy="4597605"/>
          </a:xfrm>
          <a:prstGeom prst="rect">
            <a:avLst/>
          </a:prstGeom>
          <a:noFill/>
          <a:ln>
            <a:noFill/>
          </a:ln>
        </p:spPr>
      </p:pic>
    </p:spTree>
    <p:extLst>
      <p:ext uri="{BB962C8B-B14F-4D97-AF65-F5344CB8AC3E}">
        <p14:creationId xmlns:p14="http://schemas.microsoft.com/office/powerpoint/2010/main" val="9125646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6">
          <a:extLst>
            <a:ext uri="{FF2B5EF4-FFF2-40B4-BE49-F238E27FC236}">
              <a16:creationId xmlns:a16="http://schemas.microsoft.com/office/drawing/2014/main" id="{0AD7055F-92A5-174A-669F-1B7749B2C17A}"/>
            </a:ext>
          </a:extLst>
        </p:cNvPr>
        <p:cNvGrpSpPr/>
        <p:nvPr/>
      </p:nvGrpSpPr>
      <p:grpSpPr>
        <a:xfrm>
          <a:off x="0" y="0"/>
          <a:ext cx="0" cy="0"/>
          <a:chOff x="0" y="0"/>
          <a:chExt cx="0" cy="0"/>
        </a:xfrm>
      </p:grpSpPr>
      <p:sp>
        <p:nvSpPr>
          <p:cNvPr id="117" name="Google Shape;117;p4">
            <a:extLst>
              <a:ext uri="{FF2B5EF4-FFF2-40B4-BE49-F238E27FC236}">
                <a16:creationId xmlns:a16="http://schemas.microsoft.com/office/drawing/2014/main" id="{76AB898C-1688-AF47-DA0C-62445A0FE983}"/>
              </a:ext>
            </a:extLst>
          </p:cNvPr>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18" name="Google Shape;118;p4">
            <a:extLst>
              <a:ext uri="{FF2B5EF4-FFF2-40B4-BE49-F238E27FC236}">
                <a16:creationId xmlns:a16="http://schemas.microsoft.com/office/drawing/2014/main" id="{5795635B-3765-154C-1626-2F1ED5FBA1FF}"/>
              </a:ext>
            </a:extLst>
          </p:cNvPr>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19" name="Google Shape;119;p4">
            <a:extLst>
              <a:ext uri="{FF2B5EF4-FFF2-40B4-BE49-F238E27FC236}">
                <a16:creationId xmlns:a16="http://schemas.microsoft.com/office/drawing/2014/main" id="{A41299F7-F057-44C6-7A89-6AD4A2B059A8}"/>
              </a:ext>
            </a:extLst>
          </p:cNvPr>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0" name="Google Shape;120;p4">
            <a:extLst>
              <a:ext uri="{FF2B5EF4-FFF2-40B4-BE49-F238E27FC236}">
                <a16:creationId xmlns:a16="http://schemas.microsoft.com/office/drawing/2014/main" id="{CF1EE5F4-E54B-5C85-A1AC-19B260B479CE}"/>
              </a:ext>
            </a:extLst>
          </p:cNvPr>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dirty="0">
                <a:solidFill>
                  <a:schemeClr val="dk1"/>
                </a:solidFill>
                <a:latin typeface="Calibri"/>
                <a:ea typeface="Calibri"/>
                <a:cs typeface="Calibri"/>
                <a:sym typeface="Calibri"/>
              </a:rPr>
              <a:t>Disclaimer: This training material belongs to </a:t>
            </a:r>
            <a:r>
              <a:rPr lang="en-US" sz="1800" b="0" i="1" u="none" strike="noStrike" cap="none" dirty="0" err="1">
                <a:solidFill>
                  <a:schemeClr val="dk1"/>
                </a:solidFill>
                <a:latin typeface="Calibri"/>
                <a:ea typeface="Calibri"/>
                <a:cs typeface="Calibri"/>
                <a:sym typeface="Calibri"/>
              </a:rPr>
              <a:t>techcrush</a:t>
            </a:r>
            <a:r>
              <a:rPr lang="en-US" sz="1800" b="0" i="1" u="none" strike="noStrike" cap="none" dirty="0">
                <a:solidFill>
                  <a:schemeClr val="dk1"/>
                </a:solidFill>
                <a:latin typeface="Calibri"/>
                <a:ea typeface="Calibri"/>
                <a:cs typeface="Calibri"/>
                <a:sym typeface="Calibri"/>
              </a:rPr>
              <a:t> and shouldn’t be shared</a:t>
            </a:r>
            <a:endParaRPr sz="1400" b="0" i="0" u="none" strike="noStrike" cap="none" dirty="0">
              <a:solidFill>
                <a:srgbClr val="000000"/>
              </a:solidFill>
              <a:latin typeface="Arial"/>
              <a:ea typeface="Arial"/>
              <a:cs typeface="Arial"/>
              <a:sym typeface="Arial"/>
            </a:endParaRPr>
          </a:p>
        </p:txBody>
      </p:sp>
      <p:pic>
        <p:nvPicPr>
          <p:cNvPr id="121" name="Google Shape;121;p4">
            <a:extLst>
              <a:ext uri="{FF2B5EF4-FFF2-40B4-BE49-F238E27FC236}">
                <a16:creationId xmlns:a16="http://schemas.microsoft.com/office/drawing/2014/main" id="{E69896CE-AA93-24A8-E748-82C41EBF6507}"/>
              </a:ext>
            </a:extLst>
          </p:cNvPr>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22" name="Google Shape;122;p4">
            <a:extLst>
              <a:ext uri="{FF2B5EF4-FFF2-40B4-BE49-F238E27FC236}">
                <a16:creationId xmlns:a16="http://schemas.microsoft.com/office/drawing/2014/main" id="{FB9552E5-D419-D14A-25FE-9D08FDF9E12F}"/>
              </a:ext>
            </a:extLst>
          </p:cNvPr>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23" name="Google Shape;123;p4">
            <a:extLst>
              <a:ext uri="{FF2B5EF4-FFF2-40B4-BE49-F238E27FC236}">
                <a16:creationId xmlns:a16="http://schemas.microsoft.com/office/drawing/2014/main" id="{4795E29D-8B98-FF9E-6C86-5AE9EED60B69}"/>
              </a:ext>
            </a:extLst>
          </p:cNvPr>
          <p:cNvSpPr txBox="1"/>
          <p:nvPr/>
        </p:nvSpPr>
        <p:spPr>
          <a:xfrm>
            <a:off x="-39756" y="755373"/>
            <a:ext cx="9263875" cy="1244403"/>
          </a:xfrm>
          <a:prstGeom prst="rect">
            <a:avLst/>
          </a:prstGeom>
          <a:noFill/>
          <a:ln>
            <a:noFill/>
          </a:ln>
        </p:spPr>
        <p:txBody>
          <a:bodyPr spcFirstLastPara="1" wrap="square" lIns="91425" tIns="45700" rIns="91425" bIns="45700" anchor="t" anchorCtr="0">
            <a:spAutoFit/>
          </a:bodyPr>
          <a:lstStyle/>
          <a:p>
            <a:r>
              <a:rPr lang="en-US" sz="3600" b="1" dirty="0">
                <a:latin typeface="+mj-lt"/>
                <a:cs typeface="Times New Roman" panose="02020603050405020304" pitchFamily="18" charset="0"/>
              </a:rPr>
              <a:t>TASK </a:t>
            </a:r>
            <a:r>
              <a:rPr lang="en-US" sz="3600" b="1" dirty="0">
                <a:latin typeface="+mj-lt"/>
              </a:rPr>
              <a:t>3: Simulated Brute-Force Attack</a:t>
            </a:r>
          </a:p>
          <a:p>
            <a:pPr marL="457200" marR="0" lvl="0" indent="-279400" algn="l" rtl="0">
              <a:lnSpc>
                <a:spcPct val="115000"/>
              </a:lnSpc>
              <a:spcBef>
                <a:spcPts val="800"/>
              </a:spcBef>
              <a:spcAft>
                <a:spcPts val="0"/>
              </a:spcAft>
              <a:buClr>
                <a:schemeClr val="dk1"/>
              </a:buClr>
              <a:buSzPts val="2800"/>
              <a:buFont typeface="Arial"/>
              <a:buNone/>
            </a:pPr>
            <a:endParaRPr sz="2800" b="0" i="0" u="none" strike="noStrike" cap="none" dirty="0">
              <a:solidFill>
                <a:schemeClr val="dk1"/>
              </a:solidFill>
              <a:latin typeface="Arial"/>
              <a:ea typeface="Arial"/>
              <a:cs typeface="Arial"/>
              <a:sym typeface="Arial"/>
            </a:endParaRPr>
          </a:p>
        </p:txBody>
      </p:sp>
      <p:sp>
        <p:nvSpPr>
          <p:cNvPr id="5" name="TextBox 4">
            <a:extLst>
              <a:ext uri="{FF2B5EF4-FFF2-40B4-BE49-F238E27FC236}">
                <a16:creationId xmlns:a16="http://schemas.microsoft.com/office/drawing/2014/main" id="{3FFB4B4C-E23D-07B9-998D-1E1F5B1CFA1E}"/>
              </a:ext>
            </a:extLst>
          </p:cNvPr>
          <p:cNvSpPr txBox="1"/>
          <p:nvPr/>
        </p:nvSpPr>
        <p:spPr>
          <a:xfrm>
            <a:off x="484094" y="1427007"/>
            <a:ext cx="11609294" cy="1200329"/>
          </a:xfrm>
          <a:prstGeom prst="rect">
            <a:avLst/>
          </a:prstGeom>
          <a:noFill/>
        </p:spPr>
        <p:txBody>
          <a:bodyPr wrap="square">
            <a:spAutoFit/>
          </a:bodyPr>
          <a:lstStyle/>
          <a:p>
            <a:r>
              <a:rPr lang="en-US" sz="2400" b="1" dirty="0">
                <a:latin typeface="+mn-lt"/>
              </a:rPr>
              <a:t>Threat Scenario:</a:t>
            </a:r>
          </a:p>
          <a:p>
            <a:r>
              <a:rPr lang="en-US" sz="2400" dirty="0">
                <a:latin typeface="+mn-lt"/>
              </a:rPr>
              <a:t>SSH brute-force attack simulation in controlled VM environment to test detection and response capabilities.</a:t>
            </a:r>
          </a:p>
        </p:txBody>
      </p:sp>
      <p:grpSp>
        <p:nvGrpSpPr>
          <p:cNvPr id="6" name="Group 5">
            <a:extLst>
              <a:ext uri="{FF2B5EF4-FFF2-40B4-BE49-F238E27FC236}">
                <a16:creationId xmlns:a16="http://schemas.microsoft.com/office/drawing/2014/main" id="{1242E217-E952-F4D6-0C5C-7A14702EAE31}"/>
              </a:ext>
            </a:extLst>
          </p:cNvPr>
          <p:cNvGrpSpPr/>
          <p:nvPr/>
        </p:nvGrpSpPr>
        <p:grpSpPr>
          <a:xfrm>
            <a:off x="391340" y="2924752"/>
            <a:ext cx="5791221" cy="3043518"/>
            <a:chOff x="1337" y="484995"/>
            <a:chExt cx="5215151" cy="3129090"/>
          </a:xfrm>
        </p:grpSpPr>
        <p:sp>
          <p:nvSpPr>
            <p:cNvPr id="10" name="Rectangle 9">
              <a:extLst>
                <a:ext uri="{FF2B5EF4-FFF2-40B4-BE49-F238E27FC236}">
                  <a16:creationId xmlns:a16="http://schemas.microsoft.com/office/drawing/2014/main" id="{BDF7A629-825B-8317-9D2A-E91B0EC3DC57}"/>
                </a:ext>
              </a:extLst>
            </p:cNvPr>
            <p:cNvSpPr/>
            <p:nvPr/>
          </p:nvSpPr>
          <p:spPr>
            <a:xfrm>
              <a:off x="1337" y="484995"/>
              <a:ext cx="5215151" cy="3129090"/>
            </a:xfrm>
            <a:prstGeom prst="rect">
              <a:avLst/>
            </a:prstGeom>
            <a:ln>
              <a:solidFill>
                <a:srgbClr val="E04F28"/>
              </a:solidFill>
            </a:ln>
          </p:spPr>
          <p:style>
            <a:lnRef idx="2">
              <a:schemeClr val="accent2"/>
            </a:lnRef>
            <a:fillRef idx="1">
              <a:schemeClr val="lt1"/>
            </a:fillRef>
            <a:effectRef idx="0">
              <a:schemeClr val="accent2"/>
            </a:effectRef>
            <a:fontRef idx="minor">
              <a:schemeClr val="dk1"/>
            </a:fontRef>
          </p:style>
          <p:txBody>
            <a:bodyPr/>
            <a:lstStyle/>
            <a:p>
              <a:endParaRPr lang="en-US"/>
            </a:p>
          </p:txBody>
        </p:sp>
        <p:sp>
          <p:nvSpPr>
            <p:cNvPr id="11" name="TextBox 10">
              <a:extLst>
                <a:ext uri="{FF2B5EF4-FFF2-40B4-BE49-F238E27FC236}">
                  <a16:creationId xmlns:a16="http://schemas.microsoft.com/office/drawing/2014/main" id="{B7D3D05E-5B24-38F3-A263-34D9EEC9B5D7}"/>
                </a:ext>
              </a:extLst>
            </p:cNvPr>
            <p:cNvSpPr txBox="1"/>
            <p:nvPr/>
          </p:nvSpPr>
          <p:spPr>
            <a:xfrm>
              <a:off x="1337" y="484995"/>
              <a:ext cx="5215151" cy="3129090"/>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91440" tIns="91440" rIns="91440" bIns="91440" numCol="1" spcCol="1270" anchor="ctr" anchorCtr="0">
              <a:noAutofit/>
            </a:bodyPr>
            <a:lstStyle/>
            <a:p>
              <a:r>
                <a:rPr lang="en-US" sz="2400" b="1" dirty="0"/>
                <a:t>Lab Setup</a:t>
              </a:r>
            </a:p>
            <a:p>
              <a:r>
                <a:rPr lang="en-US" sz="2400" dirty="0"/>
                <a:t>• </a:t>
              </a:r>
              <a:r>
                <a:rPr lang="en-US" sz="2400" b="1" dirty="0"/>
                <a:t>VM1 (Target):</a:t>
              </a:r>
              <a:r>
                <a:rPr lang="en-US" sz="2400" dirty="0"/>
                <a:t> Kali Linux with SSH</a:t>
              </a:r>
            </a:p>
            <a:p>
              <a:r>
                <a:rPr lang="en-US" sz="2400" dirty="0"/>
                <a:t>• </a:t>
              </a:r>
              <a:r>
                <a:rPr lang="en-US" sz="2400" b="1" dirty="0"/>
                <a:t>VM2 (Attacker):</a:t>
              </a:r>
              <a:r>
                <a:rPr lang="en-US" sz="2400" dirty="0"/>
                <a:t> Kali with Hydra</a:t>
              </a:r>
            </a:p>
            <a:p>
              <a:r>
                <a:rPr lang="en-US" sz="2400" dirty="0"/>
                <a:t>• </a:t>
              </a:r>
              <a:r>
                <a:rPr lang="en-US" sz="2400" b="1" dirty="0"/>
                <a:t>Host Laptop:</a:t>
              </a:r>
              <a:r>
                <a:rPr lang="en-US" sz="2400" dirty="0"/>
                <a:t> Wireshark monitoring</a:t>
              </a:r>
            </a:p>
            <a:p>
              <a:r>
                <a:rPr lang="en-US" sz="2400" dirty="0"/>
                <a:t>• </a:t>
              </a:r>
              <a:r>
                <a:rPr lang="en-US" sz="2400" b="1" dirty="0"/>
                <a:t>Network:</a:t>
              </a:r>
              <a:r>
                <a:rPr lang="en-US" sz="2400" dirty="0"/>
                <a:t> Isolated host-only adapter</a:t>
              </a:r>
            </a:p>
            <a:p>
              <a:r>
                <a:rPr lang="en-US" sz="2400" dirty="0"/>
                <a:t>• </a:t>
              </a:r>
              <a:r>
                <a:rPr lang="en-US" sz="2400" b="1" dirty="0"/>
                <a:t>Test User:</a:t>
              </a:r>
              <a:r>
                <a:rPr lang="en-US" sz="2400" dirty="0"/>
                <a:t> Created </a:t>
              </a:r>
              <a:r>
                <a:rPr lang="en-US" sz="2400" dirty="0" err="1"/>
                <a:t>labuser</a:t>
              </a:r>
              <a:r>
                <a:rPr lang="en-US" sz="2400" dirty="0"/>
                <a:t> account</a:t>
              </a:r>
            </a:p>
          </p:txBody>
        </p:sp>
      </p:grpSp>
      <p:grpSp>
        <p:nvGrpSpPr>
          <p:cNvPr id="7" name="Group 6">
            <a:extLst>
              <a:ext uri="{FF2B5EF4-FFF2-40B4-BE49-F238E27FC236}">
                <a16:creationId xmlns:a16="http://schemas.microsoft.com/office/drawing/2014/main" id="{4E098482-7A84-648C-7EE7-68DD2B636658}"/>
              </a:ext>
            </a:extLst>
          </p:cNvPr>
          <p:cNvGrpSpPr/>
          <p:nvPr/>
        </p:nvGrpSpPr>
        <p:grpSpPr>
          <a:xfrm>
            <a:off x="6128006" y="2924752"/>
            <a:ext cx="5791221" cy="3043518"/>
            <a:chOff x="5738003" y="484995"/>
            <a:chExt cx="5215151" cy="3129090"/>
          </a:xfrm>
        </p:grpSpPr>
        <p:sp>
          <p:nvSpPr>
            <p:cNvPr id="8" name="Rectangle 7">
              <a:extLst>
                <a:ext uri="{FF2B5EF4-FFF2-40B4-BE49-F238E27FC236}">
                  <a16:creationId xmlns:a16="http://schemas.microsoft.com/office/drawing/2014/main" id="{08D6FBCC-5A50-D508-0A78-4B245CB3A561}"/>
                </a:ext>
              </a:extLst>
            </p:cNvPr>
            <p:cNvSpPr/>
            <p:nvPr/>
          </p:nvSpPr>
          <p:spPr>
            <a:xfrm>
              <a:off x="5738003" y="484995"/>
              <a:ext cx="5215151" cy="3129090"/>
            </a:xfrm>
            <a:prstGeom prst="rect">
              <a:avLst/>
            </a:prstGeom>
            <a:ln>
              <a:solidFill>
                <a:srgbClr val="E04F28"/>
              </a:solidFill>
            </a:ln>
          </p:spPr>
          <p:style>
            <a:lnRef idx="2">
              <a:schemeClr val="accent2"/>
            </a:lnRef>
            <a:fillRef idx="1">
              <a:schemeClr val="lt1"/>
            </a:fillRef>
            <a:effectRef idx="0">
              <a:schemeClr val="accent2"/>
            </a:effectRef>
            <a:fontRef idx="minor">
              <a:schemeClr val="dk1"/>
            </a:fontRef>
          </p:style>
          <p:txBody>
            <a:bodyPr/>
            <a:lstStyle/>
            <a:p>
              <a:endParaRPr lang="en-US"/>
            </a:p>
          </p:txBody>
        </p:sp>
        <p:sp>
          <p:nvSpPr>
            <p:cNvPr id="9" name="TextBox 8">
              <a:extLst>
                <a:ext uri="{FF2B5EF4-FFF2-40B4-BE49-F238E27FC236}">
                  <a16:creationId xmlns:a16="http://schemas.microsoft.com/office/drawing/2014/main" id="{6995184A-1572-B8BA-A110-C6AE2B14F42B}"/>
                </a:ext>
              </a:extLst>
            </p:cNvPr>
            <p:cNvSpPr txBox="1"/>
            <p:nvPr/>
          </p:nvSpPr>
          <p:spPr>
            <a:xfrm>
              <a:off x="5738003" y="484995"/>
              <a:ext cx="5215151" cy="3129090"/>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91440" tIns="91440" rIns="91440" bIns="91440" numCol="1" spcCol="1270" anchor="ctr" anchorCtr="0">
              <a:noAutofit/>
            </a:bodyPr>
            <a:lstStyle/>
            <a:p>
              <a:r>
                <a:rPr lang="en-US" sz="2400" b="1" dirty="0"/>
                <a:t>Attack Execution</a:t>
              </a:r>
            </a:p>
            <a:p>
              <a:r>
                <a:rPr lang="en-US" sz="2400" dirty="0"/>
                <a:t>• Bash loop generating failed SSH attempts</a:t>
              </a:r>
            </a:p>
            <a:p>
              <a:r>
                <a:rPr lang="en-US" sz="2400" dirty="0"/>
                <a:t>• Multiple authentication failures logged</a:t>
              </a:r>
            </a:p>
            <a:p>
              <a:r>
                <a:rPr lang="en-US" sz="2400" dirty="0"/>
                <a:t>• Pattern simulates automated attack tool</a:t>
              </a:r>
            </a:p>
            <a:p>
              <a:r>
                <a:rPr lang="en-US" sz="2400" dirty="0"/>
                <a:t>• Attack visible in logs and Wireshark</a:t>
              </a:r>
            </a:p>
          </p:txBody>
        </p:sp>
      </p:grpSp>
    </p:spTree>
    <p:extLst>
      <p:ext uri="{BB962C8B-B14F-4D97-AF65-F5344CB8AC3E}">
        <p14:creationId xmlns:p14="http://schemas.microsoft.com/office/powerpoint/2010/main" val="40644495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6">
          <a:extLst>
            <a:ext uri="{FF2B5EF4-FFF2-40B4-BE49-F238E27FC236}">
              <a16:creationId xmlns:a16="http://schemas.microsoft.com/office/drawing/2014/main" id="{1818CCC8-A897-3B01-25C6-5A05C9F6A0D3}"/>
            </a:ext>
          </a:extLst>
        </p:cNvPr>
        <p:cNvGrpSpPr/>
        <p:nvPr/>
      </p:nvGrpSpPr>
      <p:grpSpPr>
        <a:xfrm>
          <a:off x="0" y="0"/>
          <a:ext cx="0" cy="0"/>
          <a:chOff x="0" y="0"/>
          <a:chExt cx="0" cy="0"/>
        </a:xfrm>
      </p:grpSpPr>
      <p:sp>
        <p:nvSpPr>
          <p:cNvPr id="117" name="Google Shape;117;p4">
            <a:extLst>
              <a:ext uri="{FF2B5EF4-FFF2-40B4-BE49-F238E27FC236}">
                <a16:creationId xmlns:a16="http://schemas.microsoft.com/office/drawing/2014/main" id="{58DC5B8F-D967-33B3-769C-4076557F872B}"/>
              </a:ext>
            </a:extLst>
          </p:cNvPr>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18" name="Google Shape;118;p4">
            <a:extLst>
              <a:ext uri="{FF2B5EF4-FFF2-40B4-BE49-F238E27FC236}">
                <a16:creationId xmlns:a16="http://schemas.microsoft.com/office/drawing/2014/main" id="{C3A17162-98ED-C037-386F-431E2A3A72CA}"/>
              </a:ext>
            </a:extLst>
          </p:cNvPr>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19" name="Google Shape;119;p4">
            <a:extLst>
              <a:ext uri="{FF2B5EF4-FFF2-40B4-BE49-F238E27FC236}">
                <a16:creationId xmlns:a16="http://schemas.microsoft.com/office/drawing/2014/main" id="{C126CE5D-90D9-4B74-479D-4B7333D1E6C1}"/>
              </a:ext>
            </a:extLst>
          </p:cNvPr>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0" name="Google Shape;120;p4">
            <a:extLst>
              <a:ext uri="{FF2B5EF4-FFF2-40B4-BE49-F238E27FC236}">
                <a16:creationId xmlns:a16="http://schemas.microsoft.com/office/drawing/2014/main" id="{09E3DBE4-1D5E-4126-9379-3479A6C9C6DF}"/>
              </a:ext>
            </a:extLst>
          </p:cNvPr>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dirty="0">
                <a:solidFill>
                  <a:schemeClr val="dk1"/>
                </a:solidFill>
                <a:latin typeface="Calibri"/>
                <a:ea typeface="Calibri"/>
                <a:cs typeface="Calibri"/>
                <a:sym typeface="Calibri"/>
              </a:rPr>
              <a:t>Disclaimer: This training material belongs to </a:t>
            </a:r>
            <a:r>
              <a:rPr lang="en-US" sz="1800" b="0" i="1" u="none" strike="noStrike" cap="none" dirty="0" err="1">
                <a:solidFill>
                  <a:schemeClr val="dk1"/>
                </a:solidFill>
                <a:latin typeface="Calibri"/>
                <a:ea typeface="Calibri"/>
                <a:cs typeface="Calibri"/>
                <a:sym typeface="Calibri"/>
              </a:rPr>
              <a:t>techcrush</a:t>
            </a:r>
            <a:r>
              <a:rPr lang="en-US" sz="1800" b="0" i="1" u="none" strike="noStrike" cap="none" dirty="0">
                <a:solidFill>
                  <a:schemeClr val="dk1"/>
                </a:solidFill>
                <a:latin typeface="Calibri"/>
                <a:ea typeface="Calibri"/>
                <a:cs typeface="Calibri"/>
                <a:sym typeface="Calibri"/>
              </a:rPr>
              <a:t> and shouldn’t be shared</a:t>
            </a:r>
            <a:endParaRPr sz="1400" b="0" i="0" u="none" strike="noStrike" cap="none" dirty="0">
              <a:solidFill>
                <a:srgbClr val="000000"/>
              </a:solidFill>
              <a:latin typeface="Arial"/>
              <a:ea typeface="Arial"/>
              <a:cs typeface="Arial"/>
              <a:sym typeface="Arial"/>
            </a:endParaRPr>
          </a:p>
        </p:txBody>
      </p:sp>
      <p:pic>
        <p:nvPicPr>
          <p:cNvPr id="121" name="Google Shape;121;p4">
            <a:extLst>
              <a:ext uri="{FF2B5EF4-FFF2-40B4-BE49-F238E27FC236}">
                <a16:creationId xmlns:a16="http://schemas.microsoft.com/office/drawing/2014/main" id="{6BF787B2-4665-42A2-D967-E5E712626B0C}"/>
              </a:ext>
            </a:extLst>
          </p:cNvPr>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22" name="Google Shape;122;p4">
            <a:extLst>
              <a:ext uri="{FF2B5EF4-FFF2-40B4-BE49-F238E27FC236}">
                <a16:creationId xmlns:a16="http://schemas.microsoft.com/office/drawing/2014/main" id="{FDB492CF-5692-F685-5E6B-BB585065CCC8}"/>
              </a:ext>
            </a:extLst>
          </p:cNvPr>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23" name="Google Shape;123;p4">
            <a:extLst>
              <a:ext uri="{FF2B5EF4-FFF2-40B4-BE49-F238E27FC236}">
                <a16:creationId xmlns:a16="http://schemas.microsoft.com/office/drawing/2014/main" id="{803CEABC-F670-1159-7CD3-1E80923096D2}"/>
              </a:ext>
            </a:extLst>
          </p:cNvPr>
          <p:cNvSpPr txBox="1"/>
          <p:nvPr/>
        </p:nvSpPr>
        <p:spPr>
          <a:xfrm>
            <a:off x="-39756" y="774089"/>
            <a:ext cx="10598899" cy="1244403"/>
          </a:xfrm>
          <a:prstGeom prst="rect">
            <a:avLst/>
          </a:prstGeom>
          <a:noFill/>
          <a:ln>
            <a:noFill/>
          </a:ln>
        </p:spPr>
        <p:txBody>
          <a:bodyPr spcFirstLastPara="1" wrap="square" lIns="91425" tIns="45700" rIns="91425" bIns="45700" anchor="t" anchorCtr="0">
            <a:spAutoFit/>
          </a:bodyPr>
          <a:lstStyle/>
          <a:p>
            <a:r>
              <a:rPr lang="en-US" sz="3600" b="1" dirty="0">
                <a:latin typeface="+mj-lt"/>
                <a:cs typeface="Times New Roman" panose="02020603050405020304" pitchFamily="18" charset="0"/>
              </a:rPr>
              <a:t>TASK </a:t>
            </a:r>
            <a:r>
              <a:rPr lang="en-US" sz="3600" b="1" dirty="0">
                <a:latin typeface="+mj-lt"/>
              </a:rPr>
              <a:t>3: Simulated Brute-Force Attack Cont’d</a:t>
            </a:r>
            <a:endParaRPr lang="en-US" sz="3600" b="1" dirty="0">
              <a:latin typeface="+mj-lt"/>
              <a:cs typeface="Times New Roman" panose="02020603050405020304" pitchFamily="18" charset="0"/>
            </a:endParaRPr>
          </a:p>
          <a:p>
            <a:pPr marL="457200" marR="0" lvl="0" indent="-279400" algn="l" rtl="0">
              <a:lnSpc>
                <a:spcPct val="115000"/>
              </a:lnSpc>
              <a:spcBef>
                <a:spcPts val="800"/>
              </a:spcBef>
              <a:spcAft>
                <a:spcPts val="0"/>
              </a:spcAft>
              <a:buClr>
                <a:schemeClr val="dk1"/>
              </a:buClr>
              <a:buSzPts val="2800"/>
              <a:buFont typeface="Arial"/>
              <a:buNone/>
            </a:pPr>
            <a:endParaRPr sz="2800" b="0" i="0" u="none" strike="noStrike" cap="none" dirty="0">
              <a:solidFill>
                <a:schemeClr val="dk1"/>
              </a:solidFill>
              <a:latin typeface="Arial"/>
              <a:ea typeface="Arial"/>
              <a:cs typeface="Arial"/>
              <a:sym typeface="Arial"/>
            </a:endParaRPr>
          </a:p>
        </p:txBody>
      </p:sp>
      <p:grpSp>
        <p:nvGrpSpPr>
          <p:cNvPr id="2" name="Group 1">
            <a:extLst>
              <a:ext uri="{FF2B5EF4-FFF2-40B4-BE49-F238E27FC236}">
                <a16:creationId xmlns:a16="http://schemas.microsoft.com/office/drawing/2014/main" id="{4144EE27-E6D2-68DC-3811-D0923A6BFB27}"/>
              </a:ext>
            </a:extLst>
          </p:cNvPr>
          <p:cNvGrpSpPr/>
          <p:nvPr/>
        </p:nvGrpSpPr>
        <p:grpSpPr>
          <a:xfrm>
            <a:off x="205960" y="2581840"/>
            <a:ext cx="5535718" cy="3043518"/>
            <a:chOff x="1337" y="484995"/>
            <a:chExt cx="5215151" cy="3129090"/>
          </a:xfrm>
        </p:grpSpPr>
        <p:sp>
          <p:nvSpPr>
            <p:cNvPr id="3" name="Rectangle 2">
              <a:extLst>
                <a:ext uri="{FF2B5EF4-FFF2-40B4-BE49-F238E27FC236}">
                  <a16:creationId xmlns:a16="http://schemas.microsoft.com/office/drawing/2014/main" id="{B5190F00-F1FC-64A4-13DA-0445564FC07C}"/>
                </a:ext>
              </a:extLst>
            </p:cNvPr>
            <p:cNvSpPr/>
            <p:nvPr/>
          </p:nvSpPr>
          <p:spPr>
            <a:xfrm>
              <a:off x="1337" y="484995"/>
              <a:ext cx="5215151" cy="3129090"/>
            </a:xfrm>
            <a:prstGeom prst="rect">
              <a:avLst/>
            </a:prstGeom>
            <a:ln>
              <a:solidFill>
                <a:srgbClr val="E04F28"/>
              </a:solidFill>
            </a:ln>
          </p:spPr>
          <p:style>
            <a:lnRef idx="2">
              <a:schemeClr val="accent2"/>
            </a:lnRef>
            <a:fillRef idx="1">
              <a:schemeClr val="lt1"/>
            </a:fillRef>
            <a:effectRef idx="0">
              <a:schemeClr val="accent2"/>
            </a:effectRef>
            <a:fontRef idx="minor">
              <a:schemeClr val="dk1"/>
            </a:fontRef>
          </p:style>
          <p:txBody>
            <a:bodyPr/>
            <a:lstStyle/>
            <a:p>
              <a:endParaRPr lang="en-US"/>
            </a:p>
          </p:txBody>
        </p:sp>
        <p:sp>
          <p:nvSpPr>
            <p:cNvPr id="4" name="TextBox 3">
              <a:extLst>
                <a:ext uri="{FF2B5EF4-FFF2-40B4-BE49-F238E27FC236}">
                  <a16:creationId xmlns:a16="http://schemas.microsoft.com/office/drawing/2014/main" id="{4CCDA154-52E5-E7AE-DF9E-324D31A1A02E}"/>
                </a:ext>
              </a:extLst>
            </p:cNvPr>
            <p:cNvSpPr txBox="1"/>
            <p:nvPr/>
          </p:nvSpPr>
          <p:spPr>
            <a:xfrm>
              <a:off x="1337" y="484995"/>
              <a:ext cx="5215151" cy="3129090"/>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91440" tIns="91440" rIns="91440" bIns="91440" numCol="1" spcCol="1270" anchor="ctr" anchorCtr="0">
              <a:noAutofit/>
            </a:bodyPr>
            <a:lstStyle/>
            <a:p>
              <a:r>
                <a:rPr lang="en-US" sz="2400" b="1" dirty="0"/>
                <a:t>Detection Methods:</a:t>
              </a:r>
            </a:p>
            <a:p>
              <a:r>
                <a:rPr lang="en-US" sz="2400" dirty="0"/>
                <a:t>• /var/log/auth.log monitoring</a:t>
              </a:r>
            </a:p>
            <a:p>
              <a:r>
                <a:rPr lang="en-US" sz="2400" dirty="0"/>
                <a:t>• Repeated Failed password entries</a:t>
              </a:r>
            </a:p>
            <a:p>
              <a:r>
                <a:rPr lang="en-US" sz="2400" dirty="0"/>
                <a:t>• Wireshark TCP SYN patterns</a:t>
              </a:r>
            </a:p>
            <a:p>
              <a:r>
                <a:rPr lang="en-US" sz="2400" dirty="0"/>
                <a:t>• Automated Fail2Ban alerts</a:t>
              </a:r>
            </a:p>
          </p:txBody>
        </p:sp>
      </p:grpSp>
      <p:grpSp>
        <p:nvGrpSpPr>
          <p:cNvPr id="6" name="Group 5">
            <a:extLst>
              <a:ext uri="{FF2B5EF4-FFF2-40B4-BE49-F238E27FC236}">
                <a16:creationId xmlns:a16="http://schemas.microsoft.com/office/drawing/2014/main" id="{1E8E6B54-F437-729B-4293-199DFAA0A74C}"/>
              </a:ext>
            </a:extLst>
          </p:cNvPr>
          <p:cNvGrpSpPr/>
          <p:nvPr/>
        </p:nvGrpSpPr>
        <p:grpSpPr>
          <a:xfrm>
            <a:off x="6035855" y="2581840"/>
            <a:ext cx="5950185" cy="3043518"/>
            <a:chOff x="5738003" y="484995"/>
            <a:chExt cx="5215151" cy="3129090"/>
          </a:xfrm>
        </p:grpSpPr>
        <p:sp>
          <p:nvSpPr>
            <p:cNvPr id="7" name="Rectangle 6">
              <a:extLst>
                <a:ext uri="{FF2B5EF4-FFF2-40B4-BE49-F238E27FC236}">
                  <a16:creationId xmlns:a16="http://schemas.microsoft.com/office/drawing/2014/main" id="{D1B3A98C-A4F2-EB4A-F9EB-07E61BD818D6}"/>
                </a:ext>
              </a:extLst>
            </p:cNvPr>
            <p:cNvSpPr/>
            <p:nvPr/>
          </p:nvSpPr>
          <p:spPr>
            <a:xfrm>
              <a:off x="5738003" y="484995"/>
              <a:ext cx="5215151" cy="3129090"/>
            </a:xfrm>
            <a:prstGeom prst="rect">
              <a:avLst/>
            </a:prstGeom>
            <a:ln>
              <a:solidFill>
                <a:srgbClr val="E04F28"/>
              </a:solidFill>
            </a:ln>
          </p:spPr>
          <p:style>
            <a:lnRef idx="2">
              <a:schemeClr val="accent2"/>
            </a:lnRef>
            <a:fillRef idx="1">
              <a:schemeClr val="lt1"/>
            </a:fillRef>
            <a:effectRef idx="0">
              <a:schemeClr val="accent2"/>
            </a:effectRef>
            <a:fontRef idx="minor">
              <a:schemeClr val="dk1"/>
            </a:fontRef>
          </p:style>
          <p:txBody>
            <a:bodyPr/>
            <a:lstStyle/>
            <a:p>
              <a:endParaRPr lang="en-US"/>
            </a:p>
          </p:txBody>
        </p:sp>
        <p:sp>
          <p:nvSpPr>
            <p:cNvPr id="8" name="TextBox 7">
              <a:extLst>
                <a:ext uri="{FF2B5EF4-FFF2-40B4-BE49-F238E27FC236}">
                  <a16:creationId xmlns:a16="http://schemas.microsoft.com/office/drawing/2014/main" id="{5F8C4D3D-E8BE-72DB-615B-2EB609B0D794}"/>
                </a:ext>
              </a:extLst>
            </p:cNvPr>
            <p:cNvSpPr txBox="1"/>
            <p:nvPr/>
          </p:nvSpPr>
          <p:spPr>
            <a:xfrm>
              <a:off x="6040729" y="484995"/>
              <a:ext cx="4912425" cy="3129090"/>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91440" tIns="91440" rIns="91440" bIns="91440" numCol="1" spcCol="1270" anchor="ctr" anchorCtr="0">
              <a:noAutofit/>
            </a:bodyPr>
            <a:lstStyle/>
            <a:p>
              <a:r>
                <a:rPr lang="en-US" sz="2400" b="1" dirty="0"/>
                <a:t>Response Actions:</a:t>
              </a:r>
            </a:p>
            <a:p>
              <a:r>
                <a:rPr lang="en-US" sz="2400" dirty="0"/>
                <a:t>• Automatic IP ban after 3 failures</a:t>
              </a:r>
            </a:p>
            <a:p>
              <a:r>
                <a:rPr lang="en-US" sz="2400" dirty="0"/>
                <a:t>• Firewall rule creation (UFW/iptables)</a:t>
              </a:r>
            </a:p>
            <a:p>
              <a:r>
                <a:rPr lang="en-US" sz="2400" dirty="0"/>
                <a:t>• TCP RST packets blocking attempts</a:t>
              </a:r>
            </a:p>
            <a:p>
              <a:r>
                <a:rPr lang="en-US" sz="2400" dirty="0"/>
                <a:t>• Account lockout mechanism</a:t>
              </a:r>
            </a:p>
          </p:txBody>
        </p:sp>
      </p:grpSp>
      <p:sp>
        <p:nvSpPr>
          <p:cNvPr id="10" name="TextBox 9">
            <a:extLst>
              <a:ext uri="{FF2B5EF4-FFF2-40B4-BE49-F238E27FC236}">
                <a16:creationId xmlns:a16="http://schemas.microsoft.com/office/drawing/2014/main" id="{A789C83E-0944-1703-6593-2A7B6BD7B941}"/>
              </a:ext>
            </a:extLst>
          </p:cNvPr>
          <p:cNvSpPr txBox="1"/>
          <p:nvPr/>
        </p:nvSpPr>
        <p:spPr>
          <a:xfrm>
            <a:off x="3819315" y="1581722"/>
            <a:ext cx="6208294" cy="461665"/>
          </a:xfrm>
          <a:prstGeom prst="rect">
            <a:avLst/>
          </a:prstGeom>
          <a:noFill/>
        </p:spPr>
        <p:txBody>
          <a:bodyPr wrap="square">
            <a:spAutoFit/>
          </a:bodyPr>
          <a:lstStyle/>
          <a:p>
            <a:pPr>
              <a:buNone/>
            </a:pPr>
            <a:r>
              <a:rPr lang="en-US" sz="2400" b="1" dirty="0"/>
              <a:t>Detection &amp; Mitigation</a:t>
            </a:r>
          </a:p>
        </p:txBody>
      </p:sp>
    </p:spTree>
    <p:extLst>
      <p:ext uri="{BB962C8B-B14F-4D97-AF65-F5344CB8AC3E}">
        <p14:creationId xmlns:p14="http://schemas.microsoft.com/office/powerpoint/2010/main" val="32966184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6">
          <a:extLst>
            <a:ext uri="{FF2B5EF4-FFF2-40B4-BE49-F238E27FC236}">
              <a16:creationId xmlns:a16="http://schemas.microsoft.com/office/drawing/2014/main" id="{6180BB1F-DC3B-4AF2-AC43-2CF2EC7261A6}"/>
            </a:ext>
          </a:extLst>
        </p:cNvPr>
        <p:cNvGrpSpPr/>
        <p:nvPr/>
      </p:nvGrpSpPr>
      <p:grpSpPr>
        <a:xfrm>
          <a:off x="0" y="0"/>
          <a:ext cx="0" cy="0"/>
          <a:chOff x="0" y="0"/>
          <a:chExt cx="0" cy="0"/>
        </a:xfrm>
      </p:grpSpPr>
      <p:sp>
        <p:nvSpPr>
          <p:cNvPr id="117" name="Google Shape;117;p4">
            <a:extLst>
              <a:ext uri="{FF2B5EF4-FFF2-40B4-BE49-F238E27FC236}">
                <a16:creationId xmlns:a16="http://schemas.microsoft.com/office/drawing/2014/main" id="{47EC0962-D986-F41E-DC09-C41D94BF80D2}"/>
              </a:ext>
            </a:extLst>
          </p:cNvPr>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18" name="Google Shape;118;p4">
            <a:extLst>
              <a:ext uri="{FF2B5EF4-FFF2-40B4-BE49-F238E27FC236}">
                <a16:creationId xmlns:a16="http://schemas.microsoft.com/office/drawing/2014/main" id="{97170D59-D99C-4EDF-C1F2-42ECB02140CE}"/>
              </a:ext>
            </a:extLst>
          </p:cNvPr>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19" name="Google Shape;119;p4">
            <a:extLst>
              <a:ext uri="{FF2B5EF4-FFF2-40B4-BE49-F238E27FC236}">
                <a16:creationId xmlns:a16="http://schemas.microsoft.com/office/drawing/2014/main" id="{2DF0B849-3D6C-5AF0-2188-AC2B0AC98978}"/>
              </a:ext>
            </a:extLst>
          </p:cNvPr>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0" name="Google Shape;120;p4">
            <a:extLst>
              <a:ext uri="{FF2B5EF4-FFF2-40B4-BE49-F238E27FC236}">
                <a16:creationId xmlns:a16="http://schemas.microsoft.com/office/drawing/2014/main" id="{3E38B3A0-AA19-2CA5-9EEA-A0DA673175AA}"/>
              </a:ext>
            </a:extLst>
          </p:cNvPr>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dk1"/>
                </a:solidFill>
                <a:latin typeface="Calibri"/>
                <a:ea typeface="Calibri"/>
                <a:cs typeface="Calibri"/>
                <a:sym typeface="Calibri"/>
              </a:rPr>
              <a:t>Disclaimer: This training material belongs to techcrush and shouldn’t be shared</a:t>
            </a:r>
            <a:endParaRPr sz="1400" b="0" i="0" u="none" strike="noStrike" cap="none">
              <a:solidFill>
                <a:srgbClr val="000000"/>
              </a:solidFill>
              <a:latin typeface="Arial"/>
              <a:ea typeface="Arial"/>
              <a:cs typeface="Arial"/>
              <a:sym typeface="Arial"/>
            </a:endParaRPr>
          </a:p>
        </p:txBody>
      </p:sp>
      <p:pic>
        <p:nvPicPr>
          <p:cNvPr id="121" name="Google Shape;121;p4">
            <a:extLst>
              <a:ext uri="{FF2B5EF4-FFF2-40B4-BE49-F238E27FC236}">
                <a16:creationId xmlns:a16="http://schemas.microsoft.com/office/drawing/2014/main" id="{62E7D93F-9EA8-0E1A-69E3-F88AFBA4CA8B}"/>
              </a:ext>
            </a:extLst>
          </p:cNvPr>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22" name="Google Shape;122;p4">
            <a:extLst>
              <a:ext uri="{FF2B5EF4-FFF2-40B4-BE49-F238E27FC236}">
                <a16:creationId xmlns:a16="http://schemas.microsoft.com/office/drawing/2014/main" id="{60C04EA1-205B-D04E-C70A-02D2CF7C0410}"/>
              </a:ext>
            </a:extLst>
          </p:cNvPr>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23" name="Google Shape;123;p4">
            <a:extLst>
              <a:ext uri="{FF2B5EF4-FFF2-40B4-BE49-F238E27FC236}">
                <a16:creationId xmlns:a16="http://schemas.microsoft.com/office/drawing/2014/main" id="{8B3A5038-81E9-7390-A513-91AD8C25745F}"/>
              </a:ext>
            </a:extLst>
          </p:cNvPr>
          <p:cNvSpPr txBox="1"/>
          <p:nvPr/>
        </p:nvSpPr>
        <p:spPr>
          <a:xfrm>
            <a:off x="-39756" y="802729"/>
            <a:ext cx="11748053" cy="646290"/>
          </a:xfrm>
          <a:prstGeom prst="rect">
            <a:avLst/>
          </a:prstGeom>
          <a:noFill/>
          <a:ln>
            <a:noFill/>
          </a:ln>
        </p:spPr>
        <p:txBody>
          <a:bodyPr spcFirstLastPara="1" wrap="square" lIns="91425" tIns="45700" rIns="91425" bIns="45700" anchor="t" anchorCtr="0">
            <a:spAutoFit/>
          </a:bodyPr>
          <a:lstStyle/>
          <a:p>
            <a:r>
              <a:rPr lang="en-US" sz="3600" b="1" dirty="0">
                <a:latin typeface="+mj-lt"/>
                <a:cs typeface="Times New Roman" panose="02020603050405020304" pitchFamily="18" charset="0"/>
              </a:rPr>
              <a:t>TASK </a:t>
            </a:r>
            <a:r>
              <a:rPr lang="en-US" sz="3600" b="1" dirty="0">
                <a:latin typeface="+mj-lt"/>
              </a:rPr>
              <a:t>3: Simulated Brute-Force Attack Cont’d</a:t>
            </a:r>
            <a:endParaRPr lang="en-US" sz="3600" b="1" dirty="0">
              <a:latin typeface="+mj-lt"/>
              <a:cs typeface="Times New Roman" panose="02020603050405020304" pitchFamily="18" charset="0"/>
            </a:endParaRPr>
          </a:p>
        </p:txBody>
      </p:sp>
      <p:pic>
        <p:nvPicPr>
          <p:cNvPr id="7" name="image4.png" descr="A black background with white text&#10;&#10;AI-generated content may be incorrect.">
            <a:extLst>
              <a:ext uri="{FF2B5EF4-FFF2-40B4-BE49-F238E27FC236}">
                <a16:creationId xmlns:a16="http://schemas.microsoft.com/office/drawing/2014/main" id="{F09B4D09-1AC0-D3C2-83BB-C58C97AB3B79}"/>
              </a:ext>
            </a:extLst>
          </p:cNvPr>
          <p:cNvPicPr/>
          <p:nvPr/>
        </p:nvPicPr>
        <p:blipFill>
          <a:blip r:embed="rId5"/>
          <a:srcRect/>
          <a:stretch>
            <a:fillRect/>
          </a:stretch>
        </p:blipFill>
        <p:spPr>
          <a:xfrm>
            <a:off x="483702" y="2218479"/>
            <a:ext cx="6703161" cy="1249974"/>
          </a:xfrm>
          <a:prstGeom prst="rect">
            <a:avLst/>
          </a:prstGeom>
          <a:ln/>
        </p:spPr>
      </p:pic>
      <p:pic>
        <p:nvPicPr>
          <p:cNvPr id="8" name="image8.png">
            <a:extLst>
              <a:ext uri="{FF2B5EF4-FFF2-40B4-BE49-F238E27FC236}">
                <a16:creationId xmlns:a16="http://schemas.microsoft.com/office/drawing/2014/main" id="{06DFD041-84BF-588C-47D9-870C490A3430}"/>
              </a:ext>
            </a:extLst>
          </p:cNvPr>
          <p:cNvPicPr/>
          <p:nvPr/>
        </p:nvPicPr>
        <p:blipFill>
          <a:blip r:embed="rId6"/>
          <a:srcRect/>
          <a:stretch>
            <a:fillRect/>
          </a:stretch>
        </p:blipFill>
        <p:spPr>
          <a:xfrm>
            <a:off x="7602349" y="1869819"/>
            <a:ext cx="4122472" cy="1082356"/>
          </a:xfrm>
          <a:prstGeom prst="rect">
            <a:avLst/>
          </a:prstGeom>
          <a:ln/>
        </p:spPr>
      </p:pic>
      <p:sp>
        <p:nvSpPr>
          <p:cNvPr id="10" name="TextBox 9">
            <a:extLst>
              <a:ext uri="{FF2B5EF4-FFF2-40B4-BE49-F238E27FC236}">
                <a16:creationId xmlns:a16="http://schemas.microsoft.com/office/drawing/2014/main" id="{23B88933-0CE9-084A-4108-2A3B4CE0E126}"/>
              </a:ext>
            </a:extLst>
          </p:cNvPr>
          <p:cNvSpPr txBox="1"/>
          <p:nvPr/>
        </p:nvSpPr>
        <p:spPr>
          <a:xfrm>
            <a:off x="8546840" y="1528815"/>
            <a:ext cx="6192252" cy="400110"/>
          </a:xfrm>
          <a:prstGeom prst="rect">
            <a:avLst/>
          </a:prstGeom>
          <a:noFill/>
        </p:spPr>
        <p:txBody>
          <a:bodyPr wrap="square">
            <a:spAutoFit/>
          </a:bodyPr>
          <a:lstStyle/>
          <a:p>
            <a:r>
              <a:rPr lang="en-US" sz="2000" dirty="0"/>
              <a:t>INSTALL Fail2ban</a:t>
            </a:r>
          </a:p>
        </p:txBody>
      </p:sp>
      <p:sp>
        <p:nvSpPr>
          <p:cNvPr id="12" name="TextBox 11">
            <a:extLst>
              <a:ext uri="{FF2B5EF4-FFF2-40B4-BE49-F238E27FC236}">
                <a16:creationId xmlns:a16="http://schemas.microsoft.com/office/drawing/2014/main" id="{C18712D4-DA06-7757-9AF3-C1E981F3FFDA}"/>
              </a:ext>
            </a:extLst>
          </p:cNvPr>
          <p:cNvSpPr txBox="1"/>
          <p:nvPr/>
        </p:nvSpPr>
        <p:spPr>
          <a:xfrm>
            <a:off x="0" y="1802275"/>
            <a:ext cx="7118647" cy="416204"/>
          </a:xfrm>
          <a:prstGeom prst="rect">
            <a:avLst/>
          </a:prstGeom>
          <a:noFill/>
        </p:spPr>
        <p:txBody>
          <a:bodyPr wrap="square">
            <a:spAutoFit/>
          </a:bodyPr>
          <a:lstStyle/>
          <a:p>
            <a:pPr marL="457200" indent="-279400">
              <a:lnSpc>
                <a:spcPct val="115000"/>
              </a:lnSpc>
              <a:spcBef>
                <a:spcPts val="800"/>
              </a:spcBef>
              <a:buClr>
                <a:schemeClr val="dk1"/>
              </a:buClr>
              <a:buSzPts val="2800"/>
            </a:pPr>
            <a:r>
              <a:rPr lang="en-US" sz="2000" dirty="0"/>
              <a:t>Create a test user and ensure SSH is running on Target </a:t>
            </a:r>
            <a:r>
              <a:rPr lang="en-US" sz="2000" b="0" i="0" u="none" strike="noStrike" cap="none" dirty="0">
                <a:solidFill>
                  <a:schemeClr val="dk1"/>
                </a:solidFill>
                <a:latin typeface="Arial"/>
                <a:ea typeface="Arial"/>
                <a:cs typeface="Arial"/>
                <a:sym typeface="Arial"/>
              </a:rPr>
              <a:t>VM </a:t>
            </a:r>
          </a:p>
        </p:txBody>
      </p:sp>
      <p:sp>
        <p:nvSpPr>
          <p:cNvPr id="15" name="TextBox 14">
            <a:extLst>
              <a:ext uri="{FF2B5EF4-FFF2-40B4-BE49-F238E27FC236}">
                <a16:creationId xmlns:a16="http://schemas.microsoft.com/office/drawing/2014/main" id="{FB84C302-3AB3-75FC-5B1C-6000A820D941}"/>
              </a:ext>
            </a:extLst>
          </p:cNvPr>
          <p:cNvSpPr txBox="1"/>
          <p:nvPr/>
        </p:nvSpPr>
        <p:spPr>
          <a:xfrm>
            <a:off x="273063" y="3906877"/>
            <a:ext cx="7387388" cy="400110"/>
          </a:xfrm>
          <a:prstGeom prst="rect">
            <a:avLst/>
          </a:prstGeom>
          <a:noFill/>
        </p:spPr>
        <p:txBody>
          <a:bodyPr wrap="square">
            <a:spAutoFit/>
          </a:bodyPr>
          <a:lstStyle/>
          <a:p>
            <a:r>
              <a:rPr lang="en-US" sz="2000" dirty="0"/>
              <a:t>VM2 (Attacker) - safe simulation of repeated login attempts</a:t>
            </a:r>
            <a:endParaRPr lang="en-US" sz="2000" dirty="0">
              <a:latin typeface="+mn-lt"/>
            </a:endParaRPr>
          </a:p>
        </p:txBody>
      </p:sp>
      <p:pic>
        <p:nvPicPr>
          <p:cNvPr id="16" name="image7.png">
            <a:extLst>
              <a:ext uri="{FF2B5EF4-FFF2-40B4-BE49-F238E27FC236}">
                <a16:creationId xmlns:a16="http://schemas.microsoft.com/office/drawing/2014/main" id="{B8DBFD31-3DC8-63B5-39D8-969AD8ED0E4E}"/>
              </a:ext>
            </a:extLst>
          </p:cNvPr>
          <p:cNvPicPr/>
          <p:nvPr/>
        </p:nvPicPr>
        <p:blipFill>
          <a:blip r:embed="rId7"/>
          <a:srcRect/>
          <a:stretch>
            <a:fillRect/>
          </a:stretch>
        </p:blipFill>
        <p:spPr>
          <a:xfrm>
            <a:off x="8398798" y="3171387"/>
            <a:ext cx="3309499" cy="752972"/>
          </a:xfrm>
          <a:prstGeom prst="rect">
            <a:avLst/>
          </a:prstGeom>
          <a:ln/>
        </p:spPr>
      </p:pic>
      <p:pic>
        <p:nvPicPr>
          <p:cNvPr id="17" name="image6.png" descr="A black screen with white text&#10;&#10;AI-generated content may be incorrect.">
            <a:extLst>
              <a:ext uri="{FF2B5EF4-FFF2-40B4-BE49-F238E27FC236}">
                <a16:creationId xmlns:a16="http://schemas.microsoft.com/office/drawing/2014/main" id="{4576FD57-B21B-2115-ABA9-07C523D5C855}"/>
              </a:ext>
            </a:extLst>
          </p:cNvPr>
          <p:cNvPicPr/>
          <p:nvPr/>
        </p:nvPicPr>
        <p:blipFill>
          <a:blip r:embed="rId8"/>
          <a:srcRect/>
          <a:stretch>
            <a:fillRect/>
          </a:stretch>
        </p:blipFill>
        <p:spPr>
          <a:xfrm>
            <a:off x="483701" y="4247780"/>
            <a:ext cx="6634945" cy="1386205"/>
          </a:xfrm>
          <a:prstGeom prst="rect">
            <a:avLst/>
          </a:prstGeom>
          <a:ln/>
        </p:spPr>
      </p:pic>
      <p:pic>
        <p:nvPicPr>
          <p:cNvPr id="18" name="image1.png" descr="A black screen with green and blue text&#10;&#10;AI-generated content may be incorrect.">
            <a:extLst>
              <a:ext uri="{FF2B5EF4-FFF2-40B4-BE49-F238E27FC236}">
                <a16:creationId xmlns:a16="http://schemas.microsoft.com/office/drawing/2014/main" id="{61B61DD6-C5C7-3ACE-F5DA-0339099FE602}"/>
              </a:ext>
            </a:extLst>
          </p:cNvPr>
          <p:cNvPicPr/>
          <p:nvPr/>
        </p:nvPicPr>
        <p:blipFill>
          <a:blip r:embed="rId9"/>
          <a:srcRect/>
          <a:stretch>
            <a:fillRect/>
          </a:stretch>
        </p:blipFill>
        <p:spPr>
          <a:xfrm>
            <a:off x="7670587" y="4247780"/>
            <a:ext cx="4270114" cy="2313305"/>
          </a:xfrm>
          <a:prstGeom prst="rect">
            <a:avLst/>
          </a:prstGeom>
          <a:ln/>
        </p:spPr>
      </p:pic>
      <p:sp>
        <p:nvSpPr>
          <p:cNvPr id="20" name="TextBox 19">
            <a:extLst>
              <a:ext uri="{FF2B5EF4-FFF2-40B4-BE49-F238E27FC236}">
                <a16:creationId xmlns:a16="http://schemas.microsoft.com/office/drawing/2014/main" id="{4527BCCA-E2FF-0C60-6B48-276E910CC47B}"/>
              </a:ext>
            </a:extLst>
          </p:cNvPr>
          <p:cNvSpPr txBox="1"/>
          <p:nvPr/>
        </p:nvSpPr>
        <p:spPr>
          <a:xfrm>
            <a:off x="7909166" y="3957949"/>
            <a:ext cx="7467600" cy="400110"/>
          </a:xfrm>
          <a:prstGeom prst="rect">
            <a:avLst/>
          </a:prstGeom>
          <a:noFill/>
        </p:spPr>
        <p:txBody>
          <a:bodyPr wrap="square">
            <a:spAutoFit/>
          </a:bodyPr>
          <a:lstStyle/>
          <a:p>
            <a:r>
              <a:rPr lang="en-US" sz="2000" dirty="0">
                <a:latin typeface="+mn-lt"/>
                <a:ea typeface="Times New Roman" panose="02020603050405020304" pitchFamily="18" charset="0"/>
              </a:rPr>
              <a:t>No f</a:t>
            </a:r>
            <a:r>
              <a:rPr lang="en-US" sz="2000" dirty="0">
                <a:solidFill>
                  <a:srgbClr val="000000"/>
                </a:solidFill>
                <a:effectLst/>
                <a:latin typeface="+mn-lt"/>
                <a:ea typeface="Times New Roman" panose="02020603050405020304" pitchFamily="18" charset="0"/>
              </a:rPr>
              <a:t>ailed SSH login attempts yet</a:t>
            </a:r>
            <a:endParaRPr lang="en-US" sz="2000" dirty="0">
              <a:latin typeface="+mn-lt"/>
            </a:endParaRPr>
          </a:p>
        </p:txBody>
      </p:sp>
    </p:spTree>
    <p:extLst>
      <p:ext uri="{BB962C8B-B14F-4D97-AF65-F5344CB8AC3E}">
        <p14:creationId xmlns:p14="http://schemas.microsoft.com/office/powerpoint/2010/main" val="35442683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6">
          <a:extLst>
            <a:ext uri="{FF2B5EF4-FFF2-40B4-BE49-F238E27FC236}">
              <a16:creationId xmlns:a16="http://schemas.microsoft.com/office/drawing/2014/main" id="{1DB75D08-CD91-DB5A-00E4-A918C0223CE2}"/>
            </a:ext>
          </a:extLst>
        </p:cNvPr>
        <p:cNvGrpSpPr/>
        <p:nvPr/>
      </p:nvGrpSpPr>
      <p:grpSpPr>
        <a:xfrm>
          <a:off x="0" y="0"/>
          <a:ext cx="0" cy="0"/>
          <a:chOff x="0" y="0"/>
          <a:chExt cx="0" cy="0"/>
        </a:xfrm>
      </p:grpSpPr>
      <p:sp>
        <p:nvSpPr>
          <p:cNvPr id="117" name="Google Shape;117;p4">
            <a:extLst>
              <a:ext uri="{FF2B5EF4-FFF2-40B4-BE49-F238E27FC236}">
                <a16:creationId xmlns:a16="http://schemas.microsoft.com/office/drawing/2014/main" id="{662FAE28-9027-27C7-6AB5-67AD889DEA61}"/>
              </a:ext>
            </a:extLst>
          </p:cNvPr>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18" name="Google Shape;118;p4">
            <a:extLst>
              <a:ext uri="{FF2B5EF4-FFF2-40B4-BE49-F238E27FC236}">
                <a16:creationId xmlns:a16="http://schemas.microsoft.com/office/drawing/2014/main" id="{431F0FC9-4FDC-5DE8-B63C-ABA267307E19}"/>
              </a:ext>
            </a:extLst>
          </p:cNvPr>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19" name="Google Shape;119;p4">
            <a:extLst>
              <a:ext uri="{FF2B5EF4-FFF2-40B4-BE49-F238E27FC236}">
                <a16:creationId xmlns:a16="http://schemas.microsoft.com/office/drawing/2014/main" id="{B1575F7B-6BD6-2BF4-C071-0FA4F7AEE653}"/>
              </a:ext>
            </a:extLst>
          </p:cNvPr>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0" name="Google Shape;120;p4">
            <a:extLst>
              <a:ext uri="{FF2B5EF4-FFF2-40B4-BE49-F238E27FC236}">
                <a16:creationId xmlns:a16="http://schemas.microsoft.com/office/drawing/2014/main" id="{7B5B0307-B331-34BE-87EA-C1966F14C2E0}"/>
              </a:ext>
            </a:extLst>
          </p:cNvPr>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dk1"/>
                </a:solidFill>
                <a:latin typeface="Calibri"/>
                <a:ea typeface="Calibri"/>
                <a:cs typeface="Calibri"/>
                <a:sym typeface="Calibri"/>
              </a:rPr>
              <a:t>Disclaimer: This training material belongs to techcrush and shouldn’t be shared</a:t>
            </a:r>
            <a:endParaRPr sz="1400" b="0" i="0" u="none" strike="noStrike" cap="none">
              <a:solidFill>
                <a:srgbClr val="000000"/>
              </a:solidFill>
              <a:latin typeface="Arial"/>
              <a:ea typeface="Arial"/>
              <a:cs typeface="Arial"/>
              <a:sym typeface="Arial"/>
            </a:endParaRPr>
          </a:p>
        </p:txBody>
      </p:sp>
      <p:pic>
        <p:nvPicPr>
          <p:cNvPr id="121" name="Google Shape;121;p4">
            <a:extLst>
              <a:ext uri="{FF2B5EF4-FFF2-40B4-BE49-F238E27FC236}">
                <a16:creationId xmlns:a16="http://schemas.microsoft.com/office/drawing/2014/main" id="{F637802F-C54F-B08D-7041-481020DE8031}"/>
              </a:ext>
            </a:extLst>
          </p:cNvPr>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22" name="Google Shape;122;p4">
            <a:extLst>
              <a:ext uri="{FF2B5EF4-FFF2-40B4-BE49-F238E27FC236}">
                <a16:creationId xmlns:a16="http://schemas.microsoft.com/office/drawing/2014/main" id="{6DD34C0B-AFFB-5AF3-EC50-E5850D8F328B}"/>
              </a:ext>
            </a:extLst>
          </p:cNvPr>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23" name="Google Shape;123;p4">
            <a:extLst>
              <a:ext uri="{FF2B5EF4-FFF2-40B4-BE49-F238E27FC236}">
                <a16:creationId xmlns:a16="http://schemas.microsoft.com/office/drawing/2014/main" id="{39DE1FF3-4170-B203-4735-867BE76B7F22}"/>
              </a:ext>
            </a:extLst>
          </p:cNvPr>
          <p:cNvSpPr txBox="1"/>
          <p:nvPr/>
        </p:nvSpPr>
        <p:spPr>
          <a:xfrm>
            <a:off x="-39756" y="802729"/>
            <a:ext cx="11748053" cy="1244403"/>
          </a:xfrm>
          <a:prstGeom prst="rect">
            <a:avLst/>
          </a:prstGeom>
          <a:noFill/>
          <a:ln>
            <a:noFill/>
          </a:ln>
        </p:spPr>
        <p:txBody>
          <a:bodyPr spcFirstLastPara="1" wrap="square" lIns="91425" tIns="45700" rIns="91425" bIns="45700" anchor="t" anchorCtr="0">
            <a:spAutoFit/>
          </a:bodyPr>
          <a:lstStyle/>
          <a:p>
            <a:r>
              <a:rPr lang="en-US" sz="3600" b="1" dirty="0">
                <a:latin typeface="+mj-lt"/>
                <a:cs typeface="Times New Roman" panose="02020603050405020304" pitchFamily="18" charset="0"/>
              </a:rPr>
              <a:t>TASK </a:t>
            </a:r>
            <a:r>
              <a:rPr lang="en-US" sz="3600" b="1" dirty="0">
                <a:latin typeface="+mj-lt"/>
              </a:rPr>
              <a:t>3: Simulated Brute-Force Attack Cont’d</a:t>
            </a:r>
            <a:endParaRPr lang="en-US" sz="3600" b="1" dirty="0">
              <a:latin typeface="+mj-lt"/>
              <a:cs typeface="Times New Roman" panose="02020603050405020304" pitchFamily="18" charset="0"/>
            </a:endParaRPr>
          </a:p>
          <a:p>
            <a:pPr marL="457200" marR="0" lvl="0" indent="-279400" algn="l" rtl="0">
              <a:lnSpc>
                <a:spcPct val="115000"/>
              </a:lnSpc>
              <a:spcBef>
                <a:spcPts val="800"/>
              </a:spcBef>
              <a:spcAft>
                <a:spcPts val="0"/>
              </a:spcAft>
              <a:buClr>
                <a:schemeClr val="dk1"/>
              </a:buClr>
              <a:buSzPts val="2800"/>
              <a:buFont typeface="Arial"/>
              <a:buNone/>
            </a:pPr>
            <a:endParaRPr sz="2800" b="0" i="0" u="none" strike="noStrike" cap="none" dirty="0">
              <a:solidFill>
                <a:schemeClr val="dk1"/>
              </a:solidFill>
              <a:latin typeface="Arial"/>
              <a:ea typeface="Arial"/>
              <a:cs typeface="Arial"/>
              <a:sym typeface="Arial"/>
            </a:endParaRPr>
          </a:p>
        </p:txBody>
      </p:sp>
      <p:pic>
        <p:nvPicPr>
          <p:cNvPr id="4" name="image2.png">
            <a:extLst>
              <a:ext uri="{FF2B5EF4-FFF2-40B4-BE49-F238E27FC236}">
                <a16:creationId xmlns:a16="http://schemas.microsoft.com/office/drawing/2014/main" id="{51306B7E-C2CE-D9EE-B7E9-EB7EA2419186}"/>
              </a:ext>
            </a:extLst>
          </p:cNvPr>
          <p:cNvPicPr/>
          <p:nvPr/>
        </p:nvPicPr>
        <p:blipFill>
          <a:blip r:embed="rId5"/>
          <a:srcRect/>
          <a:stretch>
            <a:fillRect/>
          </a:stretch>
        </p:blipFill>
        <p:spPr>
          <a:xfrm>
            <a:off x="1138519" y="2655865"/>
            <a:ext cx="9818240" cy="3673795"/>
          </a:xfrm>
          <a:prstGeom prst="rect">
            <a:avLst/>
          </a:prstGeom>
          <a:ln/>
        </p:spPr>
      </p:pic>
      <p:sp>
        <p:nvSpPr>
          <p:cNvPr id="6" name="TextBox 5">
            <a:extLst>
              <a:ext uri="{FF2B5EF4-FFF2-40B4-BE49-F238E27FC236}">
                <a16:creationId xmlns:a16="http://schemas.microsoft.com/office/drawing/2014/main" id="{88536C95-025D-B08C-DF3F-B30BF2C7CDBB}"/>
              </a:ext>
            </a:extLst>
          </p:cNvPr>
          <p:cNvSpPr txBox="1"/>
          <p:nvPr/>
        </p:nvSpPr>
        <p:spPr>
          <a:xfrm>
            <a:off x="443947" y="1427717"/>
            <a:ext cx="9165274" cy="1036181"/>
          </a:xfrm>
          <a:prstGeom prst="rect">
            <a:avLst/>
          </a:prstGeom>
          <a:noFill/>
        </p:spPr>
        <p:txBody>
          <a:bodyPr wrap="square">
            <a:spAutoFit/>
          </a:bodyPr>
          <a:lstStyle/>
          <a:p>
            <a:pPr marL="342900" lvl="2" indent="-342900">
              <a:spcBef>
                <a:spcPts val="1400"/>
              </a:spcBef>
              <a:spcAft>
                <a:spcPts val="800"/>
              </a:spcAft>
              <a:buFont typeface="Arial" panose="020B0604020202020204" pitchFamily="34" charset="0"/>
              <a:buChar char="•"/>
            </a:pPr>
            <a:r>
              <a:rPr lang="en-US" sz="1600" dirty="0">
                <a:effectLst/>
                <a:latin typeface="Times New Roman" panose="02020603050405020304" pitchFamily="18" charset="0"/>
                <a:ea typeface="Times New Roman" panose="02020603050405020304" pitchFamily="18" charset="0"/>
                <a:cs typeface="Noto Sans Symbols"/>
              </a:rPr>
              <a:t>Light blue rows = TCP traffic (normal connections btw VM1 &amp; VM2).</a:t>
            </a:r>
            <a:endParaRPr lang="en-US" sz="1600" dirty="0">
              <a:effectLst/>
              <a:latin typeface="Noto Sans Symbols"/>
              <a:ea typeface="Noto Sans Symbols"/>
              <a:cs typeface="Noto Sans Symbols"/>
            </a:endParaRPr>
          </a:p>
          <a:p>
            <a:pPr marL="342900" lvl="2" indent="-342900">
              <a:spcAft>
                <a:spcPts val="800"/>
              </a:spcAft>
              <a:buFont typeface="Arial" panose="020B0604020202020204" pitchFamily="34" charset="0"/>
              <a:buChar char="•"/>
            </a:pPr>
            <a:r>
              <a:rPr lang="en-US" sz="1600" dirty="0">
                <a:effectLst/>
                <a:latin typeface="Times New Roman" panose="02020603050405020304" pitchFamily="18" charset="0"/>
                <a:ea typeface="Times New Roman" panose="02020603050405020304" pitchFamily="18" charset="0"/>
                <a:cs typeface="Noto Sans Symbols"/>
              </a:rPr>
              <a:t>Light green rows = SSH protocol exchanges (messages between both machines).</a:t>
            </a:r>
            <a:endParaRPr lang="en-US" sz="1600" dirty="0">
              <a:effectLst/>
              <a:latin typeface="Noto Sans Symbols"/>
              <a:ea typeface="Noto Sans Symbols"/>
              <a:cs typeface="Noto Sans Symbols"/>
            </a:endParaRPr>
          </a:p>
          <a:p>
            <a:pPr marL="342900" lvl="2" indent="-342900">
              <a:spcAft>
                <a:spcPts val="1400"/>
              </a:spcAft>
              <a:buFont typeface="Arial" panose="020B0604020202020204" pitchFamily="34" charset="0"/>
              <a:buChar char="•"/>
            </a:pPr>
            <a:r>
              <a:rPr lang="en-US" sz="1600" dirty="0">
                <a:effectLst/>
                <a:latin typeface="Times New Roman" panose="02020603050405020304" pitchFamily="18" charset="0"/>
                <a:ea typeface="Times New Roman" panose="02020603050405020304" pitchFamily="18" charset="0"/>
                <a:cs typeface="Noto Sans Symbols"/>
              </a:rPr>
              <a:t>Light red rows = BLOCKED (RST Packets) </a:t>
            </a:r>
            <a:endParaRPr lang="en-US" sz="1600" dirty="0">
              <a:effectLst/>
              <a:latin typeface="Noto Sans Symbols"/>
              <a:ea typeface="Noto Sans Symbols"/>
              <a:cs typeface="Noto Sans Symbols"/>
            </a:endParaRPr>
          </a:p>
        </p:txBody>
      </p:sp>
    </p:spTree>
    <p:extLst>
      <p:ext uri="{BB962C8B-B14F-4D97-AF65-F5344CB8AC3E}">
        <p14:creationId xmlns:p14="http://schemas.microsoft.com/office/powerpoint/2010/main" val="14167600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6">
          <a:extLst>
            <a:ext uri="{FF2B5EF4-FFF2-40B4-BE49-F238E27FC236}">
              <a16:creationId xmlns:a16="http://schemas.microsoft.com/office/drawing/2014/main" id="{F73056EA-E783-B418-430E-60138CDF5173}"/>
            </a:ext>
          </a:extLst>
        </p:cNvPr>
        <p:cNvGrpSpPr/>
        <p:nvPr/>
      </p:nvGrpSpPr>
      <p:grpSpPr>
        <a:xfrm>
          <a:off x="0" y="0"/>
          <a:ext cx="0" cy="0"/>
          <a:chOff x="0" y="0"/>
          <a:chExt cx="0" cy="0"/>
        </a:xfrm>
      </p:grpSpPr>
      <p:sp>
        <p:nvSpPr>
          <p:cNvPr id="117" name="Google Shape;117;p4">
            <a:extLst>
              <a:ext uri="{FF2B5EF4-FFF2-40B4-BE49-F238E27FC236}">
                <a16:creationId xmlns:a16="http://schemas.microsoft.com/office/drawing/2014/main" id="{FBFB9ADF-F830-0EBC-E1DE-9491AE2AFFA4}"/>
              </a:ext>
            </a:extLst>
          </p:cNvPr>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18" name="Google Shape;118;p4">
            <a:extLst>
              <a:ext uri="{FF2B5EF4-FFF2-40B4-BE49-F238E27FC236}">
                <a16:creationId xmlns:a16="http://schemas.microsoft.com/office/drawing/2014/main" id="{9BFAE5A1-9103-56B3-7E08-5AE9F95A7AC2}"/>
              </a:ext>
            </a:extLst>
          </p:cNvPr>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19" name="Google Shape;119;p4">
            <a:extLst>
              <a:ext uri="{FF2B5EF4-FFF2-40B4-BE49-F238E27FC236}">
                <a16:creationId xmlns:a16="http://schemas.microsoft.com/office/drawing/2014/main" id="{1B4880A8-77EC-5432-1F2C-DC6F48B55198}"/>
              </a:ext>
            </a:extLst>
          </p:cNvPr>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0" name="Google Shape;120;p4">
            <a:extLst>
              <a:ext uri="{FF2B5EF4-FFF2-40B4-BE49-F238E27FC236}">
                <a16:creationId xmlns:a16="http://schemas.microsoft.com/office/drawing/2014/main" id="{F58DF4A1-86E7-8F4E-3BB0-4901DED28059}"/>
              </a:ext>
            </a:extLst>
          </p:cNvPr>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dk1"/>
                </a:solidFill>
                <a:latin typeface="Calibri"/>
                <a:ea typeface="Calibri"/>
                <a:cs typeface="Calibri"/>
                <a:sym typeface="Calibri"/>
              </a:rPr>
              <a:t>Disclaimer: This training material belongs to techcrush and shouldn’t be shared</a:t>
            </a:r>
            <a:endParaRPr sz="1400" b="0" i="0" u="none" strike="noStrike" cap="none">
              <a:solidFill>
                <a:srgbClr val="000000"/>
              </a:solidFill>
              <a:latin typeface="Arial"/>
              <a:ea typeface="Arial"/>
              <a:cs typeface="Arial"/>
              <a:sym typeface="Arial"/>
            </a:endParaRPr>
          </a:p>
        </p:txBody>
      </p:sp>
      <p:pic>
        <p:nvPicPr>
          <p:cNvPr id="121" name="Google Shape;121;p4">
            <a:extLst>
              <a:ext uri="{FF2B5EF4-FFF2-40B4-BE49-F238E27FC236}">
                <a16:creationId xmlns:a16="http://schemas.microsoft.com/office/drawing/2014/main" id="{D3ADA693-803F-17CD-3D91-61ABCEC85DD2}"/>
              </a:ext>
            </a:extLst>
          </p:cNvPr>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22" name="Google Shape;122;p4">
            <a:extLst>
              <a:ext uri="{FF2B5EF4-FFF2-40B4-BE49-F238E27FC236}">
                <a16:creationId xmlns:a16="http://schemas.microsoft.com/office/drawing/2014/main" id="{17E2C2EE-14EF-92E3-A280-51BFE706A936}"/>
              </a:ext>
            </a:extLst>
          </p:cNvPr>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23" name="Google Shape;123;p4">
            <a:extLst>
              <a:ext uri="{FF2B5EF4-FFF2-40B4-BE49-F238E27FC236}">
                <a16:creationId xmlns:a16="http://schemas.microsoft.com/office/drawing/2014/main" id="{E7BD67C6-44F6-0272-FA04-AFBFA719733D}"/>
              </a:ext>
            </a:extLst>
          </p:cNvPr>
          <p:cNvSpPr txBox="1"/>
          <p:nvPr/>
        </p:nvSpPr>
        <p:spPr>
          <a:xfrm>
            <a:off x="-3" y="987524"/>
            <a:ext cx="11748053" cy="1244403"/>
          </a:xfrm>
          <a:prstGeom prst="rect">
            <a:avLst/>
          </a:prstGeom>
          <a:noFill/>
          <a:ln>
            <a:noFill/>
          </a:ln>
        </p:spPr>
        <p:txBody>
          <a:bodyPr spcFirstLastPara="1" wrap="square" lIns="91425" tIns="45700" rIns="91425" bIns="45700" anchor="t" anchorCtr="0">
            <a:spAutoFit/>
          </a:bodyPr>
          <a:lstStyle/>
          <a:p>
            <a:r>
              <a:rPr lang="en-US" sz="3600" b="1" dirty="0">
                <a:latin typeface="+mj-lt"/>
                <a:cs typeface="Times New Roman" panose="02020603050405020304" pitchFamily="18" charset="0"/>
              </a:rPr>
              <a:t>TASK </a:t>
            </a:r>
            <a:r>
              <a:rPr lang="en-US" sz="3600" b="1" dirty="0">
                <a:latin typeface="+mj-lt"/>
              </a:rPr>
              <a:t>3: Simulated Brute-Force Attack Cont’d</a:t>
            </a:r>
            <a:endParaRPr lang="en-US" sz="3600" b="1" dirty="0">
              <a:latin typeface="+mj-lt"/>
              <a:cs typeface="Times New Roman" panose="02020603050405020304" pitchFamily="18" charset="0"/>
            </a:endParaRPr>
          </a:p>
          <a:p>
            <a:pPr marL="457200" marR="0" lvl="0" indent="-279400" algn="l" rtl="0">
              <a:lnSpc>
                <a:spcPct val="115000"/>
              </a:lnSpc>
              <a:spcBef>
                <a:spcPts val="800"/>
              </a:spcBef>
              <a:spcAft>
                <a:spcPts val="0"/>
              </a:spcAft>
              <a:buClr>
                <a:schemeClr val="dk1"/>
              </a:buClr>
              <a:buSzPts val="2800"/>
              <a:buFont typeface="Arial"/>
              <a:buNone/>
            </a:pPr>
            <a:endParaRPr sz="2800" b="0" i="0" u="none" strike="noStrike" cap="none" dirty="0">
              <a:solidFill>
                <a:schemeClr val="dk1"/>
              </a:solidFill>
              <a:latin typeface="Arial"/>
              <a:ea typeface="Arial"/>
              <a:cs typeface="Arial"/>
              <a:sym typeface="Arial"/>
            </a:endParaRPr>
          </a:p>
        </p:txBody>
      </p:sp>
      <p:sp>
        <p:nvSpPr>
          <p:cNvPr id="3" name="TextBox 2">
            <a:extLst>
              <a:ext uri="{FF2B5EF4-FFF2-40B4-BE49-F238E27FC236}">
                <a16:creationId xmlns:a16="http://schemas.microsoft.com/office/drawing/2014/main" id="{6A6AC3EE-2162-FB1B-58F6-078F88C84FEE}"/>
              </a:ext>
            </a:extLst>
          </p:cNvPr>
          <p:cNvSpPr txBox="1"/>
          <p:nvPr/>
        </p:nvSpPr>
        <p:spPr>
          <a:xfrm>
            <a:off x="825004" y="2179026"/>
            <a:ext cx="10541990" cy="3046988"/>
          </a:xfrm>
          <a:prstGeom prst="rect">
            <a:avLst/>
          </a:prstGeom>
          <a:noFill/>
        </p:spPr>
        <p:txBody>
          <a:bodyPr wrap="square">
            <a:spAutoFit/>
          </a:bodyPr>
          <a:lstStyle/>
          <a:p>
            <a:pPr>
              <a:buNone/>
            </a:pPr>
            <a:r>
              <a:rPr lang="en-US" sz="2400" b="1" dirty="0"/>
              <a:t>Wireshark Evidence</a:t>
            </a:r>
          </a:p>
          <a:p>
            <a:pPr>
              <a:buNone/>
            </a:pPr>
            <a:r>
              <a:rPr lang="en-US" sz="2400" dirty="0"/>
              <a:t>Captured rapid SYN packets followed by RST responses at 5.23s mark indicating successful blocking.</a:t>
            </a:r>
          </a:p>
          <a:p>
            <a:pPr>
              <a:buNone/>
            </a:pPr>
            <a:endParaRPr lang="en-US" sz="2400" dirty="0"/>
          </a:p>
          <a:p>
            <a:pPr>
              <a:buNone/>
            </a:pPr>
            <a:endParaRPr lang="en-US" sz="2400" dirty="0"/>
          </a:p>
          <a:p>
            <a:pPr>
              <a:buNone/>
            </a:pPr>
            <a:r>
              <a:rPr lang="en-US" sz="2400" b="1" dirty="0"/>
              <a:t>Outcome:</a:t>
            </a:r>
          </a:p>
          <a:p>
            <a:pPr>
              <a:buNone/>
            </a:pPr>
            <a:r>
              <a:rPr lang="en-US" sz="2400" dirty="0"/>
              <a:t>Successfully detected attack within seconds, automatically blocked attacker IP, and maintained forensic evidence for analysis.</a:t>
            </a:r>
          </a:p>
        </p:txBody>
      </p:sp>
    </p:spTree>
    <p:extLst>
      <p:ext uri="{BB962C8B-B14F-4D97-AF65-F5344CB8AC3E}">
        <p14:creationId xmlns:p14="http://schemas.microsoft.com/office/powerpoint/2010/main" val="22233991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7"/>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51" name="Google Shape;151;p7"/>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52" name="Google Shape;152;p7"/>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3" name="Google Shape;153;p7"/>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dk1"/>
                </a:solidFill>
                <a:latin typeface="Calibri"/>
                <a:ea typeface="Calibri"/>
                <a:cs typeface="Calibri"/>
                <a:sym typeface="Calibri"/>
              </a:rPr>
              <a:t>Disclaimer: This training material belongs to techcrush and shouldn’t be shared</a:t>
            </a:r>
            <a:endParaRPr sz="1400" b="0" i="0" u="none" strike="noStrike" cap="none">
              <a:solidFill>
                <a:srgbClr val="000000"/>
              </a:solidFill>
              <a:latin typeface="Arial"/>
              <a:ea typeface="Arial"/>
              <a:cs typeface="Arial"/>
              <a:sym typeface="Arial"/>
            </a:endParaRPr>
          </a:p>
        </p:txBody>
      </p:sp>
      <p:pic>
        <p:nvPicPr>
          <p:cNvPr id="154" name="Google Shape;154;p7"/>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55" name="Google Shape;155;p7"/>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56" name="Google Shape;156;p7"/>
          <p:cNvSpPr txBox="1"/>
          <p:nvPr/>
        </p:nvSpPr>
        <p:spPr>
          <a:xfrm>
            <a:off x="0" y="722273"/>
            <a:ext cx="11748053" cy="729390"/>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2800"/>
              <a:buFont typeface="Arial"/>
              <a:buNone/>
            </a:pPr>
            <a:r>
              <a:rPr lang="en-US" sz="3600" b="1" dirty="0">
                <a:solidFill>
                  <a:schemeClr val="dk1"/>
                </a:solidFill>
              </a:rPr>
              <a:t>Overall Summary</a:t>
            </a:r>
            <a:r>
              <a:rPr lang="en-US" sz="3600" b="1" i="0" u="none" strike="noStrike" cap="none" dirty="0">
                <a:solidFill>
                  <a:schemeClr val="dk1"/>
                </a:solidFill>
                <a:latin typeface="Arial"/>
                <a:ea typeface="Arial"/>
                <a:cs typeface="Arial"/>
                <a:sym typeface="Arial"/>
              </a:rPr>
              <a:t> </a:t>
            </a:r>
            <a:endParaRPr sz="3600" b="0" i="0" u="none" strike="noStrike" cap="none" dirty="0">
              <a:solidFill>
                <a:schemeClr val="dk1"/>
              </a:solidFill>
              <a:latin typeface="Arial"/>
              <a:ea typeface="Arial"/>
              <a:cs typeface="Arial"/>
              <a:sym typeface="Arial"/>
            </a:endParaRPr>
          </a:p>
        </p:txBody>
      </p:sp>
      <p:sp>
        <p:nvSpPr>
          <p:cNvPr id="3" name="TextBox 2">
            <a:extLst>
              <a:ext uri="{FF2B5EF4-FFF2-40B4-BE49-F238E27FC236}">
                <a16:creationId xmlns:a16="http://schemas.microsoft.com/office/drawing/2014/main" id="{26D2CF7C-CAD9-79C5-D9F8-76ADA080256E}"/>
              </a:ext>
            </a:extLst>
          </p:cNvPr>
          <p:cNvSpPr txBox="1"/>
          <p:nvPr/>
        </p:nvSpPr>
        <p:spPr>
          <a:xfrm>
            <a:off x="621138" y="1363270"/>
            <a:ext cx="11472250" cy="5632311"/>
          </a:xfrm>
          <a:prstGeom prst="rect">
            <a:avLst/>
          </a:prstGeom>
          <a:noFill/>
        </p:spPr>
        <p:txBody>
          <a:bodyPr wrap="square">
            <a:spAutoFit/>
          </a:bodyPr>
          <a:lstStyle/>
          <a:p>
            <a:pPr>
              <a:buNone/>
            </a:pPr>
            <a:r>
              <a:rPr lang="en-US" sz="2300" b="1" dirty="0"/>
              <a:t>Project Success Metrics:</a:t>
            </a:r>
          </a:p>
          <a:p>
            <a:pPr>
              <a:buFont typeface="Arial" panose="020B0604020202020204" pitchFamily="34" charset="0"/>
              <a:buChar char="•"/>
            </a:pPr>
            <a:r>
              <a:rPr lang="en-US" sz="2300" dirty="0"/>
              <a:t>Network Segmentation: Successfully isolated 4 security zones (DMZ, User, IoT, WAN).</a:t>
            </a:r>
          </a:p>
          <a:p>
            <a:pPr>
              <a:buFont typeface="Arial" panose="020B0604020202020204" pitchFamily="34" charset="0"/>
              <a:buChar char="•"/>
            </a:pPr>
            <a:r>
              <a:rPr lang="en-US" sz="2300" dirty="0"/>
              <a:t>Attack Prevention: 100% blocking rate for simulated brute-force attacks.</a:t>
            </a:r>
          </a:p>
          <a:p>
            <a:pPr>
              <a:buFont typeface="Arial" panose="020B0604020202020204" pitchFamily="34" charset="0"/>
              <a:buChar char="•"/>
            </a:pPr>
            <a:r>
              <a:rPr lang="en-US" sz="2300" dirty="0"/>
              <a:t>Detection Speed: Automated threat detection within 6 seconds.</a:t>
            </a:r>
          </a:p>
          <a:p>
            <a:pPr>
              <a:buFont typeface="Arial" panose="020B0604020202020204" pitchFamily="34" charset="0"/>
              <a:buChar char="•"/>
            </a:pPr>
            <a:r>
              <a:rPr lang="en-US" sz="2300" dirty="0"/>
              <a:t>Port Security: Hardened vulnerable ports reducing risk by 60%.</a:t>
            </a:r>
          </a:p>
          <a:p>
            <a:pPr>
              <a:buFont typeface="Arial" panose="020B0604020202020204" pitchFamily="34" charset="0"/>
              <a:buChar char="•"/>
            </a:pPr>
            <a:r>
              <a:rPr lang="en-US" sz="2300" dirty="0"/>
              <a:t>Monitoring Capability: Complete packet-level visibility established.</a:t>
            </a:r>
          </a:p>
          <a:p>
            <a:pPr>
              <a:buFont typeface="Arial" panose="020B0604020202020204" pitchFamily="34" charset="0"/>
              <a:buChar char="•"/>
            </a:pPr>
            <a:endParaRPr lang="en-US" sz="2300" dirty="0"/>
          </a:p>
          <a:p>
            <a:r>
              <a:rPr lang="en-US" sz="2300" b="1" dirty="0"/>
              <a:t>Lessons Learned:</a:t>
            </a:r>
          </a:p>
          <a:p>
            <a:r>
              <a:rPr lang="en-US" sz="2300" dirty="0"/>
              <a:t>• Always test in isolated environments.</a:t>
            </a:r>
          </a:p>
          <a:p>
            <a:r>
              <a:rPr lang="en-US" sz="2300" dirty="0"/>
              <a:t>• Documentation is crucial for audits.</a:t>
            </a:r>
          </a:p>
          <a:p>
            <a:r>
              <a:rPr lang="en-US" sz="2300" dirty="0"/>
              <a:t>• Automation reduces human error.</a:t>
            </a:r>
          </a:p>
          <a:p>
            <a:r>
              <a:rPr lang="en-US" sz="2300" dirty="0"/>
              <a:t>• Multiple detection layers improve accuracy.</a:t>
            </a:r>
          </a:p>
          <a:p>
            <a:r>
              <a:rPr lang="en-US" sz="2300" dirty="0"/>
              <a:t>• Security is an ongoing process.</a:t>
            </a:r>
          </a:p>
          <a:p>
            <a:pPr>
              <a:buFont typeface="Arial" panose="020B0604020202020204" pitchFamily="34" charset="0"/>
              <a:buChar char="•"/>
            </a:pP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6"/>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40" name="Google Shape;140;p6"/>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41" name="Google Shape;141;p6"/>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2" name="Google Shape;142;p6"/>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dk1"/>
                </a:solidFill>
                <a:latin typeface="Calibri"/>
                <a:ea typeface="Calibri"/>
                <a:cs typeface="Calibri"/>
                <a:sym typeface="Calibri"/>
              </a:rPr>
              <a:t>Disclaimer: This training material belongs to techcrush and shouldn’t be shared</a:t>
            </a:r>
            <a:endParaRPr sz="1400" b="0" i="0" u="none" strike="noStrike" cap="none">
              <a:solidFill>
                <a:srgbClr val="000000"/>
              </a:solidFill>
              <a:latin typeface="Arial"/>
              <a:ea typeface="Arial"/>
              <a:cs typeface="Arial"/>
              <a:sym typeface="Arial"/>
            </a:endParaRPr>
          </a:p>
        </p:txBody>
      </p:sp>
      <p:pic>
        <p:nvPicPr>
          <p:cNvPr id="143" name="Google Shape;143;p6"/>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44" name="Google Shape;144;p6"/>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45" name="Google Shape;145;p6"/>
          <p:cNvSpPr txBox="1"/>
          <p:nvPr/>
        </p:nvSpPr>
        <p:spPr>
          <a:xfrm>
            <a:off x="443947" y="1351680"/>
            <a:ext cx="11748053" cy="729390"/>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2800"/>
              <a:buFont typeface="Arial"/>
              <a:buNone/>
            </a:pPr>
            <a:r>
              <a:rPr lang="en-US" sz="3600" b="1" i="0" u="none" strike="noStrike" cap="none" dirty="0">
                <a:solidFill>
                  <a:schemeClr val="dk1"/>
                </a:solidFill>
                <a:latin typeface="Arial"/>
                <a:ea typeface="Arial"/>
                <a:cs typeface="Arial"/>
                <a:sym typeface="Arial"/>
              </a:rPr>
              <a:t>Conclusion</a:t>
            </a:r>
            <a:r>
              <a:rPr lang="en-US" sz="2800" b="1" i="0" u="none" strike="noStrike" cap="none" dirty="0">
                <a:solidFill>
                  <a:schemeClr val="dk1"/>
                </a:solidFill>
                <a:latin typeface="Arial"/>
                <a:ea typeface="Arial"/>
                <a:cs typeface="Arial"/>
                <a:sym typeface="Arial"/>
              </a:rPr>
              <a:t> </a:t>
            </a:r>
            <a:endParaRPr sz="2800" b="0" i="0" u="none" strike="noStrike" cap="none" dirty="0">
              <a:solidFill>
                <a:schemeClr val="dk1"/>
              </a:solidFill>
              <a:latin typeface="Arial"/>
              <a:ea typeface="Arial"/>
              <a:cs typeface="Arial"/>
              <a:sym typeface="Arial"/>
            </a:endParaRPr>
          </a:p>
        </p:txBody>
      </p:sp>
      <p:sp>
        <p:nvSpPr>
          <p:cNvPr id="3" name="TextBox 2">
            <a:extLst>
              <a:ext uri="{FF2B5EF4-FFF2-40B4-BE49-F238E27FC236}">
                <a16:creationId xmlns:a16="http://schemas.microsoft.com/office/drawing/2014/main" id="{41BC0C8B-F71B-4826-6713-47565E203AB0}"/>
              </a:ext>
            </a:extLst>
          </p:cNvPr>
          <p:cNvSpPr txBox="1"/>
          <p:nvPr/>
        </p:nvSpPr>
        <p:spPr>
          <a:xfrm>
            <a:off x="1315392" y="2613392"/>
            <a:ext cx="10541991" cy="1631216"/>
          </a:xfrm>
          <a:prstGeom prst="rect">
            <a:avLst/>
          </a:prstGeom>
          <a:noFill/>
        </p:spPr>
        <p:txBody>
          <a:bodyPr wrap="square">
            <a:spAutoFit/>
          </a:bodyPr>
          <a:lstStyle/>
          <a:p>
            <a:r>
              <a:rPr lang="en-US" sz="2400" dirty="0"/>
              <a:t>The project proves that effective network security is achievable through proper design, the implementation of firewalls, port scanning, threat detection, and traffic analysis. Continuous monitoring and updating of security measures are essential for maintaining network integrity</a:t>
            </a:r>
            <a:r>
              <a:rPr lang="en-US" sz="2800" dirty="0"/>
              <a:t>.</a:t>
            </a:r>
          </a:p>
        </p:txBody>
      </p:sp>
      <p:sp>
        <p:nvSpPr>
          <p:cNvPr id="4" name="TextBox 3">
            <a:extLst>
              <a:ext uri="{FF2B5EF4-FFF2-40B4-BE49-F238E27FC236}">
                <a16:creationId xmlns:a16="http://schemas.microsoft.com/office/drawing/2014/main" id="{230A0DBC-9AA8-5962-5FF3-83B9113D22CA}"/>
              </a:ext>
            </a:extLst>
          </p:cNvPr>
          <p:cNvSpPr txBox="1"/>
          <p:nvPr/>
        </p:nvSpPr>
        <p:spPr>
          <a:xfrm>
            <a:off x="3018503" y="3233325"/>
            <a:ext cx="6115664" cy="307777"/>
          </a:xfrm>
          <a:prstGeom prst="rect">
            <a:avLst/>
          </a:prstGeom>
          <a:noFill/>
        </p:spPr>
        <p:txBody>
          <a:bodyPr wrap="square">
            <a:spAutoFit/>
          </a:bodyPr>
          <a:lstStyle/>
          <a:p>
            <a:r>
              <a:rPr lang="en-US" dirty="0"/>
              <a:t>   </a:t>
            </a:r>
          </a:p>
        </p:txBody>
      </p:sp>
      <p:sp>
        <p:nvSpPr>
          <p:cNvPr id="6" name="TextBox 5">
            <a:extLst>
              <a:ext uri="{FF2B5EF4-FFF2-40B4-BE49-F238E27FC236}">
                <a16:creationId xmlns:a16="http://schemas.microsoft.com/office/drawing/2014/main" id="{EA1EE9B7-4BF1-4888-4432-13A453107ED9}"/>
              </a:ext>
            </a:extLst>
          </p:cNvPr>
          <p:cNvSpPr txBox="1"/>
          <p:nvPr/>
        </p:nvSpPr>
        <p:spPr>
          <a:xfrm>
            <a:off x="3018503" y="3233325"/>
            <a:ext cx="6115664" cy="307777"/>
          </a:xfrm>
          <a:prstGeom prst="rect">
            <a:avLst/>
          </a:prstGeom>
          <a:noFill/>
        </p:spPr>
        <p:txBody>
          <a:bodyPr wrap="square">
            <a:spAutoFit/>
          </a:bodyPr>
          <a:lstStyle/>
          <a:p>
            <a:r>
              <a:rPr lang="en-US" dirty="0"/>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79A41364-DEEF-411C-91CD-D7423402650F}"/>
            </a:ext>
          </a:extLst>
        </p:cNvPr>
        <p:cNvGrpSpPr/>
        <p:nvPr/>
      </p:nvGrpSpPr>
      <p:grpSpPr>
        <a:xfrm>
          <a:off x="0" y="0"/>
          <a:ext cx="0" cy="0"/>
          <a:chOff x="0" y="0"/>
          <a:chExt cx="0" cy="0"/>
        </a:xfrm>
      </p:grpSpPr>
      <p:sp>
        <p:nvSpPr>
          <p:cNvPr id="139" name="Google Shape;139;p6">
            <a:extLst>
              <a:ext uri="{FF2B5EF4-FFF2-40B4-BE49-F238E27FC236}">
                <a16:creationId xmlns:a16="http://schemas.microsoft.com/office/drawing/2014/main" id="{55E268AD-F8FB-5537-D878-496EB1C8996F}"/>
              </a:ext>
            </a:extLst>
          </p:cNvPr>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40" name="Google Shape;140;p6">
            <a:extLst>
              <a:ext uri="{FF2B5EF4-FFF2-40B4-BE49-F238E27FC236}">
                <a16:creationId xmlns:a16="http://schemas.microsoft.com/office/drawing/2014/main" id="{1C287C1C-88C6-6D1A-58E2-162DBC3390AA}"/>
              </a:ext>
            </a:extLst>
          </p:cNvPr>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41" name="Google Shape;141;p6">
            <a:extLst>
              <a:ext uri="{FF2B5EF4-FFF2-40B4-BE49-F238E27FC236}">
                <a16:creationId xmlns:a16="http://schemas.microsoft.com/office/drawing/2014/main" id="{4F47E2AA-56B0-4DF9-1619-1093DEBE0450}"/>
              </a:ext>
            </a:extLst>
          </p:cNvPr>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2" name="Google Shape;142;p6">
            <a:extLst>
              <a:ext uri="{FF2B5EF4-FFF2-40B4-BE49-F238E27FC236}">
                <a16:creationId xmlns:a16="http://schemas.microsoft.com/office/drawing/2014/main" id="{2C833B73-C3DA-41A4-5E41-BC5EBBC365B9}"/>
              </a:ext>
            </a:extLst>
          </p:cNvPr>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dk1"/>
                </a:solidFill>
                <a:latin typeface="Calibri"/>
                <a:ea typeface="Calibri"/>
                <a:cs typeface="Calibri"/>
                <a:sym typeface="Calibri"/>
              </a:rPr>
              <a:t>Disclaimer: This training material belongs to techcrush and shouldn’t be shared</a:t>
            </a:r>
            <a:endParaRPr sz="1400" b="0" i="0" u="none" strike="noStrike" cap="none">
              <a:solidFill>
                <a:srgbClr val="000000"/>
              </a:solidFill>
              <a:latin typeface="Arial"/>
              <a:ea typeface="Arial"/>
              <a:cs typeface="Arial"/>
              <a:sym typeface="Arial"/>
            </a:endParaRPr>
          </a:p>
        </p:txBody>
      </p:sp>
      <p:pic>
        <p:nvPicPr>
          <p:cNvPr id="143" name="Google Shape;143;p6">
            <a:extLst>
              <a:ext uri="{FF2B5EF4-FFF2-40B4-BE49-F238E27FC236}">
                <a16:creationId xmlns:a16="http://schemas.microsoft.com/office/drawing/2014/main" id="{1AB44C2A-564B-B25A-F208-FAB331DA3FB8}"/>
              </a:ext>
            </a:extLst>
          </p:cNvPr>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44" name="Google Shape;144;p6">
            <a:extLst>
              <a:ext uri="{FF2B5EF4-FFF2-40B4-BE49-F238E27FC236}">
                <a16:creationId xmlns:a16="http://schemas.microsoft.com/office/drawing/2014/main" id="{B8EEA1F0-C92F-EE33-8AA8-8A4A1CB2315B}"/>
              </a:ext>
            </a:extLst>
          </p:cNvPr>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45" name="Google Shape;145;p6">
            <a:extLst>
              <a:ext uri="{FF2B5EF4-FFF2-40B4-BE49-F238E27FC236}">
                <a16:creationId xmlns:a16="http://schemas.microsoft.com/office/drawing/2014/main" id="{EAB75F4E-4D95-D00E-C4B8-9022096469CD}"/>
              </a:ext>
            </a:extLst>
          </p:cNvPr>
          <p:cNvSpPr txBox="1"/>
          <p:nvPr/>
        </p:nvSpPr>
        <p:spPr>
          <a:xfrm>
            <a:off x="443947" y="1351680"/>
            <a:ext cx="11748053" cy="729390"/>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2800"/>
              <a:buFont typeface="Arial"/>
              <a:buNone/>
            </a:pPr>
            <a:r>
              <a:rPr lang="en-US" sz="3600" b="1" i="0" u="none" strike="noStrike" cap="none" dirty="0">
                <a:solidFill>
                  <a:schemeClr val="dk1"/>
                </a:solidFill>
                <a:latin typeface="Arial"/>
                <a:ea typeface="Arial"/>
                <a:cs typeface="Arial"/>
                <a:sym typeface="Arial"/>
              </a:rPr>
              <a:t>References</a:t>
            </a:r>
            <a:r>
              <a:rPr lang="en-US" sz="2800" b="1" i="0" u="none" strike="noStrike" cap="none" dirty="0">
                <a:solidFill>
                  <a:schemeClr val="dk1"/>
                </a:solidFill>
                <a:latin typeface="Arial"/>
                <a:ea typeface="Arial"/>
                <a:cs typeface="Arial"/>
                <a:sym typeface="Arial"/>
              </a:rPr>
              <a:t> </a:t>
            </a:r>
            <a:endParaRPr sz="2800" b="0" i="0" u="none" strike="noStrike" cap="none" dirty="0">
              <a:solidFill>
                <a:schemeClr val="dk1"/>
              </a:solidFill>
              <a:latin typeface="Arial"/>
              <a:ea typeface="Arial"/>
              <a:cs typeface="Arial"/>
              <a:sym typeface="Arial"/>
            </a:endParaRPr>
          </a:p>
        </p:txBody>
      </p:sp>
      <p:sp>
        <p:nvSpPr>
          <p:cNvPr id="3" name="TextBox 2">
            <a:extLst>
              <a:ext uri="{FF2B5EF4-FFF2-40B4-BE49-F238E27FC236}">
                <a16:creationId xmlns:a16="http://schemas.microsoft.com/office/drawing/2014/main" id="{9F8B0909-F788-5FF8-6D4D-5B8B15B398AE}"/>
              </a:ext>
            </a:extLst>
          </p:cNvPr>
          <p:cNvSpPr txBox="1"/>
          <p:nvPr/>
        </p:nvSpPr>
        <p:spPr>
          <a:xfrm>
            <a:off x="1315392" y="2613392"/>
            <a:ext cx="9362440" cy="1815882"/>
          </a:xfrm>
          <a:prstGeom prst="rect">
            <a:avLst/>
          </a:prstGeom>
          <a:noFill/>
        </p:spPr>
        <p:txBody>
          <a:bodyPr wrap="square">
            <a:spAutoFit/>
          </a:bodyPr>
          <a:lstStyle/>
          <a:p>
            <a:r>
              <a:rPr lang="en-US" b="1" dirty="0"/>
              <a:t>Template :</a:t>
            </a:r>
            <a:r>
              <a:rPr lang="en-US" dirty="0" err="1"/>
              <a:t>Techcrush</a:t>
            </a:r>
            <a:endParaRPr lang="en-US" dirty="0"/>
          </a:p>
          <a:p>
            <a:br>
              <a:rPr lang="en-US" dirty="0"/>
            </a:br>
            <a:r>
              <a:rPr lang="en-US" b="1" dirty="0"/>
              <a:t>Project Files: </a:t>
            </a:r>
            <a:r>
              <a:rPr lang="en-US" dirty="0"/>
              <a:t>DIVISION 1 _ NETWORK SECURITY DIAGRAM</a:t>
            </a:r>
          </a:p>
          <a:p>
            <a:r>
              <a:rPr lang="en-US" dirty="0"/>
              <a:t>	     DIVISION 2 _ BASIC NETWORK SECURITY CONTROLS</a:t>
            </a:r>
          </a:p>
          <a:p>
            <a:r>
              <a:rPr lang="en-US" dirty="0"/>
              <a:t>	     DIVISION 3_ SIMULATED THREATS AND RESPONSES</a:t>
            </a:r>
          </a:p>
          <a:p>
            <a:r>
              <a:rPr lang="en-US" dirty="0"/>
              <a:t>	     BONUS SUBMISSIONS</a:t>
            </a:r>
          </a:p>
          <a:p>
            <a:r>
              <a:rPr lang="en-US" b="1" dirty="0"/>
              <a:t>Slide Notes:    </a:t>
            </a:r>
            <a:r>
              <a:rPr lang="en-US" dirty="0"/>
              <a:t>Refer to tools used.</a:t>
            </a:r>
          </a:p>
          <a:p>
            <a:endParaRPr lang="en-US" dirty="0"/>
          </a:p>
        </p:txBody>
      </p:sp>
      <p:sp>
        <p:nvSpPr>
          <p:cNvPr id="4" name="TextBox 3">
            <a:extLst>
              <a:ext uri="{FF2B5EF4-FFF2-40B4-BE49-F238E27FC236}">
                <a16:creationId xmlns:a16="http://schemas.microsoft.com/office/drawing/2014/main" id="{E2A2C33D-9539-ABC6-ADCE-85B70CEF4F13}"/>
              </a:ext>
            </a:extLst>
          </p:cNvPr>
          <p:cNvSpPr txBox="1"/>
          <p:nvPr/>
        </p:nvSpPr>
        <p:spPr>
          <a:xfrm>
            <a:off x="3018503" y="3233325"/>
            <a:ext cx="6115664" cy="307777"/>
          </a:xfrm>
          <a:prstGeom prst="rect">
            <a:avLst/>
          </a:prstGeom>
          <a:noFill/>
        </p:spPr>
        <p:txBody>
          <a:bodyPr wrap="square">
            <a:spAutoFit/>
          </a:bodyPr>
          <a:lstStyle/>
          <a:p>
            <a:r>
              <a:rPr lang="en-US" dirty="0"/>
              <a:t>   </a:t>
            </a:r>
          </a:p>
        </p:txBody>
      </p:sp>
      <p:sp>
        <p:nvSpPr>
          <p:cNvPr id="6" name="TextBox 5">
            <a:extLst>
              <a:ext uri="{FF2B5EF4-FFF2-40B4-BE49-F238E27FC236}">
                <a16:creationId xmlns:a16="http://schemas.microsoft.com/office/drawing/2014/main" id="{F27D3395-8001-130B-7AA3-2EF2E3B920B5}"/>
              </a:ext>
            </a:extLst>
          </p:cNvPr>
          <p:cNvSpPr txBox="1"/>
          <p:nvPr/>
        </p:nvSpPr>
        <p:spPr>
          <a:xfrm>
            <a:off x="3018503" y="3233325"/>
            <a:ext cx="6115664" cy="307777"/>
          </a:xfrm>
          <a:prstGeom prst="rect">
            <a:avLst/>
          </a:prstGeom>
          <a:noFill/>
        </p:spPr>
        <p:txBody>
          <a:bodyPr wrap="square">
            <a:spAutoFit/>
          </a:bodyPr>
          <a:lstStyle/>
          <a:p>
            <a:r>
              <a:rPr lang="en-US" dirty="0"/>
              <a:t> </a:t>
            </a:r>
          </a:p>
        </p:txBody>
      </p:sp>
    </p:spTree>
    <p:extLst>
      <p:ext uri="{BB962C8B-B14F-4D97-AF65-F5344CB8AC3E}">
        <p14:creationId xmlns:p14="http://schemas.microsoft.com/office/powerpoint/2010/main" val="8236087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8"/>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 </a:t>
            </a:r>
            <a:endParaRPr sz="1400" b="0" i="0" u="none" strike="noStrike" cap="none">
              <a:solidFill>
                <a:srgbClr val="000000"/>
              </a:solidFill>
              <a:latin typeface="Arial"/>
              <a:ea typeface="Arial"/>
              <a:cs typeface="Arial"/>
              <a:sym typeface="Arial"/>
            </a:endParaRPr>
          </a:p>
        </p:txBody>
      </p:sp>
      <p:pic>
        <p:nvPicPr>
          <p:cNvPr id="162" name="Google Shape;162;p8"/>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63" name="Google Shape;163;p8"/>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4" name="Google Shape;164;p8"/>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dk1"/>
                </a:solidFill>
                <a:latin typeface="Calibri"/>
                <a:ea typeface="Calibri"/>
                <a:cs typeface="Calibri"/>
                <a:sym typeface="Calibri"/>
              </a:rPr>
              <a:t>Disclaimer: This training material belongs to techcrush and shouldn’t be shared</a:t>
            </a:r>
            <a:endParaRPr sz="1400" b="0" i="0" u="none" strike="noStrike" cap="none">
              <a:solidFill>
                <a:srgbClr val="000000"/>
              </a:solidFill>
              <a:latin typeface="Arial"/>
              <a:ea typeface="Arial"/>
              <a:cs typeface="Arial"/>
              <a:sym typeface="Arial"/>
            </a:endParaRPr>
          </a:p>
        </p:txBody>
      </p:sp>
      <p:pic>
        <p:nvPicPr>
          <p:cNvPr id="165" name="Google Shape;165;p8"/>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66" name="Google Shape;166;p8"/>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67" name="Google Shape;167;p8"/>
          <p:cNvSpPr txBox="1"/>
          <p:nvPr/>
        </p:nvSpPr>
        <p:spPr>
          <a:xfrm>
            <a:off x="-1409815" y="2160121"/>
            <a:ext cx="11477177" cy="1695336"/>
          </a:xfrm>
          <a:prstGeom prst="rect">
            <a:avLst/>
          </a:prstGeom>
          <a:noFill/>
          <a:ln>
            <a:noFill/>
          </a:ln>
        </p:spPr>
        <p:txBody>
          <a:bodyPr spcFirstLastPara="1" wrap="square" lIns="91425" tIns="45700" rIns="91425" bIns="45700" anchor="ctr" anchorCtr="0">
            <a:spAutoFit/>
          </a:bodyPr>
          <a:lstStyle/>
          <a:p>
            <a:pPr marL="0" marR="0" lvl="0" indent="0" algn="ctr" rtl="0">
              <a:lnSpc>
                <a:spcPct val="115000"/>
              </a:lnSpc>
              <a:spcBef>
                <a:spcPts val="0"/>
              </a:spcBef>
              <a:spcAft>
                <a:spcPts val="0"/>
              </a:spcAft>
              <a:buClr>
                <a:srgbClr val="000000"/>
              </a:buClr>
              <a:buSzPts val="9600"/>
              <a:buFont typeface="Arial"/>
              <a:buNone/>
            </a:pPr>
            <a:r>
              <a:rPr lang="en-US" sz="9600" b="0" i="0" u="none" strike="noStrike" cap="none">
                <a:solidFill>
                  <a:schemeClr val="dk1"/>
                </a:solidFill>
                <a:latin typeface="Arial"/>
                <a:ea typeface="Arial"/>
                <a:cs typeface="Arial"/>
                <a:sym typeface="Arial"/>
              </a:rPr>
              <a:t>			</a:t>
            </a:r>
            <a:r>
              <a:rPr lang="en-US" sz="9600" b="1" i="0" u="none" strike="noStrike" cap="none">
                <a:solidFill>
                  <a:schemeClr val="dk1"/>
                </a:solidFill>
                <a:latin typeface="Arial"/>
                <a:ea typeface="Arial"/>
                <a:cs typeface="Arial"/>
                <a:sym typeface="Arial"/>
              </a:rPr>
              <a:t>THANK YOU</a:t>
            </a:r>
            <a:endParaRPr sz="9600" b="1" i="0" u="none" strike="noStrike" cap="non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533</TotalTime>
  <Words>1420</Words>
  <Application>Microsoft Office PowerPoint</Application>
  <PresentationFormat>Widescreen</PresentationFormat>
  <Paragraphs>214</Paragraphs>
  <Slides>25</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Noto Sans Symbols</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Olaniyi Eluwole</dc:creator>
  <cp:lastModifiedBy>hanifa salihu</cp:lastModifiedBy>
  <cp:revision>8</cp:revision>
  <dcterms:created xsi:type="dcterms:W3CDTF">2024-10-09T19:59:03Z</dcterms:created>
  <dcterms:modified xsi:type="dcterms:W3CDTF">2025-12-15T07:54:34Z</dcterms:modified>
</cp:coreProperties>
</file>