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65" r:id="rId4"/>
    <p:sldId id="268" r:id="rId5"/>
    <p:sldId id="260" r:id="rId6"/>
    <p:sldId id="266" r:id="rId7"/>
    <p:sldId id="270" r:id="rId8"/>
    <p:sldId id="267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9" r:id="rId18"/>
    <p:sldId id="261" r:id="rId19"/>
    <p:sldId id="281" r:id="rId20"/>
    <p:sldId id="279" r:id="rId21"/>
    <p:sldId id="280" r:id="rId22"/>
    <p:sldId id="262" r:id="rId23"/>
    <p:sldId id="263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Bb122vIqdX3IgMWKn3EVI0zoJ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41185A-7BA9-4B5B-818D-8DFDB440889B}" type="doc">
      <dgm:prSet loTypeId="urn:microsoft.com/office/officeart/2005/8/layout/defaul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B7192CDC-3123-42A6-A2AB-6786BD0D23CD}">
      <dgm:prSet phldrT="[Text]"/>
      <dgm:spPr/>
      <dgm:t>
        <a:bodyPr/>
        <a:lstStyle/>
        <a:p>
          <a:pPr>
            <a:buNone/>
          </a:pPr>
          <a:r>
            <a:rPr lang="en-US" b="1" u="sng" dirty="0"/>
            <a:t>VeraCrypt</a:t>
          </a:r>
        </a:p>
        <a:p>
          <a:pPr>
            <a:buNone/>
          </a:pPr>
          <a:r>
            <a:rPr lang="en-US" b="1" dirty="0"/>
            <a:t>Purpose:</a:t>
          </a:r>
          <a:r>
            <a:rPr lang="en-US" dirty="0"/>
            <a:t> Create encrypted file containers using AES-256</a:t>
          </a:r>
        </a:p>
        <a:p>
          <a:pPr>
            <a:buNone/>
          </a:pPr>
          <a:r>
            <a:rPr lang="en-US" b="1" dirty="0"/>
            <a:t>Features:</a:t>
          </a:r>
          <a:r>
            <a:rPr lang="en-US" dirty="0"/>
            <a:t> Symmetric encryption, SHA-512 hashing, PBKDF2 key derivation</a:t>
          </a:r>
        </a:p>
      </dgm:t>
    </dgm:pt>
    <dgm:pt modelId="{B83662F6-B50B-4E9C-B62E-D68FF9A5BEED}" type="parTrans" cxnId="{5940681C-8BFE-4471-9A46-2AE28CCC6DF9}">
      <dgm:prSet/>
      <dgm:spPr/>
      <dgm:t>
        <a:bodyPr/>
        <a:lstStyle/>
        <a:p>
          <a:endParaRPr lang="en-US"/>
        </a:p>
      </dgm:t>
    </dgm:pt>
    <dgm:pt modelId="{808774F2-AEED-436A-9836-A457C3D6383F}" type="sibTrans" cxnId="{5940681C-8BFE-4471-9A46-2AE28CCC6DF9}">
      <dgm:prSet/>
      <dgm:spPr/>
      <dgm:t>
        <a:bodyPr/>
        <a:lstStyle/>
        <a:p>
          <a:endParaRPr lang="en-US"/>
        </a:p>
      </dgm:t>
    </dgm:pt>
    <dgm:pt modelId="{8CAC4948-62DE-4DEF-9624-8F3145AE4C60}">
      <dgm:prSet phldrT="[Text]"/>
      <dgm:spPr/>
      <dgm:t>
        <a:bodyPr/>
        <a:lstStyle/>
        <a:p>
          <a:pPr>
            <a:buNone/>
          </a:pPr>
          <a:r>
            <a:rPr lang="en-US" b="1" u="sng" dirty="0" err="1"/>
            <a:t>HashCalc</a:t>
          </a:r>
          <a:endParaRPr lang="en-US" b="1" u="sng" dirty="0"/>
        </a:p>
        <a:p>
          <a:pPr>
            <a:buNone/>
          </a:pPr>
          <a:r>
            <a:rPr lang="en-US" b="1" dirty="0"/>
            <a:t>Purpose:</a:t>
          </a:r>
          <a:r>
            <a:rPr lang="en-US" dirty="0"/>
            <a:t> Generate and compare hash values for file integrity</a:t>
          </a:r>
        </a:p>
        <a:p>
          <a:pPr>
            <a:buNone/>
          </a:pPr>
          <a:r>
            <a:rPr lang="en-US" b="1" dirty="0"/>
            <a:t>Features:</a:t>
          </a:r>
          <a:r>
            <a:rPr lang="en-US" dirty="0"/>
            <a:t> MD5, SHA-256, SHA-512 hash generation</a:t>
          </a:r>
        </a:p>
      </dgm:t>
    </dgm:pt>
    <dgm:pt modelId="{490E2CAE-5472-4BAB-BCE7-556E212FFE45}" type="parTrans" cxnId="{C25185B1-DF05-446C-862C-E90D6C0D0A6D}">
      <dgm:prSet/>
      <dgm:spPr/>
      <dgm:t>
        <a:bodyPr/>
        <a:lstStyle/>
        <a:p>
          <a:endParaRPr lang="en-US"/>
        </a:p>
      </dgm:t>
    </dgm:pt>
    <dgm:pt modelId="{ED690217-5D8F-4B94-88F3-C5E329D07EE4}" type="sibTrans" cxnId="{C25185B1-DF05-446C-862C-E90D6C0D0A6D}">
      <dgm:prSet/>
      <dgm:spPr/>
      <dgm:t>
        <a:bodyPr/>
        <a:lstStyle/>
        <a:p>
          <a:endParaRPr lang="en-US"/>
        </a:p>
      </dgm:t>
    </dgm:pt>
    <dgm:pt modelId="{57BD26C5-905B-4C21-93C4-0B37CFBC05DE}">
      <dgm:prSet phldrT="[Text]"/>
      <dgm:spPr/>
      <dgm:t>
        <a:bodyPr/>
        <a:lstStyle/>
        <a:p>
          <a:pPr>
            <a:buNone/>
          </a:pPr>
          <a:r>
            <a:rPr lang="en-US" b="1" u="sng" dirty="0" err="1"/>
            <a:t>CyberChef</a:t>
          </a:r>
          <a:endParaRPr lang="en-US" b="1" u="sng" dirty="0"/>
        </a:p>
        <a:p>
          <a:pPr>
            <a:buNone/>
          </a:pPr>
          <a:r>
            <a:rPr lang="en-US" b="1" dirty="0"/>
            <a:t>Purpose:</a:t>
          </a:r>
          <a:r>
            <a:rPr lang="en-US" dirty="0"/>
            <a:t> RSA signing and verification of digital signatures</a:t>
          </a:r>
        </a:p>
        <a:p>
          <a:pPr>
            <a:buNone/>
          </a:pPr>
          <a:r>
            <a:rPr lang="en-US" b="1" dirty="0"/>
            <a:t>Features:</a:t>
          </a:r>
          <a:r>
            <a:rPr lang="en-US" dirty="0"/>
            <a:t> RSA Sign/Verify, Base64 encoding/decoding</a:t>
          </a:r>
        </a:p>
      </dgm:t>
    </dgm:pt>
    <dgm:pt modelId="{3A637E76-64CE-4DCF-A8FE-5BCFD42A57E8}" type="parTrans" cxnId="{1154FB03-57A1-44C6-9411-FF6DD5206F43}">
      <dgm:prSet/>
      <dgm:spPr/>
      <dgm:t>
        <a:bodyPr/>
        <a:lstStyle/>
        <a:p>
          <a:endParaRPr lang="en-US"/>
        </a:p>
      </dgm:t>
    </dgm:pt>
    <dgm:pt modelId="{6BCAFB18-6CCE-4592-8FE2-DB9CCD9B5F52}" type="sibTrans" cxnId="{1154FB03-57A1-44C6-9411-FF6DD5206F43}">
      <dgm:prSet/>
      <dgm:spPr/>
      <dgm:t>
        <a:bodyPr/>
        <a:lstStyle/>
        <a:p>
          <a:endParaRPr lang="en-US"/>
        </a:p>
      </dgm:t>
    </dgm:pt>
    <dgm:pt modelId="{2BEBF289-CF22-4112-B115-A01B316C9381}">
      <dgm:prSet phldrT="[Text]"/>
      <dgm:spPr/>
      <dgm:t>
        <a:bodyPr/>
        <a:lstStyle/>
        <a:p>
          <a:pPr>
            <a:buNone/>
          </a:pPr>
          <a:r>
            <a:rPr lang="en-US" b="1" u="sng" dirty="0"/>
            <a:t>RSA Key Generator</a:t>
          </a:r>
        </a:p>
        <a:p>
          <a:pPr>
            <a:buNone/>
          </a:pPr>
          <a:r>
            <a:rPr lang="en-US" b="1" dirty="0"/>
            <a:t>Purpose:</a:t>
          </a:r>
          <a:r>
            <a:rPr lang="en-US" dirty="0"/>
            <a:t> Generate public-private key pairs for asymmetric encryption</a:t>
          </a:r>
        </a:p>
        <a:p>
          <a:pPr>
            <a:buNone/>
          </a:pPr>
          <a:r>
            <a:rPr lang="en-US" b="1" dirty="0"/>
            <a:t>Features:</a:t>
          </a:r>
          <a:r>
            <a:rPr lang="en-US" dirty="0"/>
            <a:t> 2048-bit RSA key pair generation</a:t>
          </a:r>
        </a:p>
      </dgm:t>
    </dgm:pt>
    <dgm:pt modelId="{EBD71956-DAF0-4155-8D0E-C13A0FF15C08}" type="parTrans" cxnId="{EEF19A0C-395E-4464-A8BB-04C1CE16EB69}">
      <dgm:prSet/>
      <dgm:spPr/>
      <dgm:t>
        <a:bodyPr/>
        <a:lstStyle/>
        <a:p>
          <a:endParaRPr lang="en-US"/>
        </a:p>
      </dgm:t>
    </dgm:pt>
    <dgm:pt modelId="{52992460-B29D-4553-93B3-661F36B15EC1}" type="sibTrans" cxnId="{EEF19A0C-395E-4464-A8BB-04C1CE16EB69}">
      <dgm:prSet/>
      <dgm:spPr/>
      <dgm:t>
        <a:bodyPr/>
        <a:lstStyle/>
        <a:p>
          <a:endParaRPr lang="en-US"/>
        </a:p>
      </dgm:t>
    </dgm:pt>
    <dgm:pt modelId="{14557989-0B8E-4325-9E3E-FE1DEC2D6DDB}" type="pres">
      <dgm:prSet presAssocID="{7141185A-7BA9-4B5B-818D-8DFDB440889B}" presName="diagram" presStyleCnt="0">
        <dgm:presLayoutVars>
          <dgm:dir/>
          <dgm:resizeHandles val="exact"/>
        </dgm:presLayoutVars>
      </dgm:prSet>
      <dgm:spPr/>
    </dgm:pt>
    <dgm:pt modelId="{1512E56C-42BC-4638-8E40-27C63427265F}" type="pres">
      <dgm:prSet presAssocID="{B7192CDC-3123-42A6-A2AB-6786BD0D23CD}" presName="node" presStyleLbl="node1" presStyleIdx="0" presStyleCnt="4" custScaleX="131198">
        <dgm:presLayoutVars>
          <dgm:bulletEnabled val="1"/>
        </dgm:presLayoutVars>
      </dgm:prSet>
      <dgm:spPr/>
    </dgm:pt>
    <dgm:pt modelId="{0CF27AA7-14A7-4F0F-9A07-E82102B73221}" type="pres">
      <dgm:prSet presAssocID="{808774F2-AEED-436A-9836-A457C3D6383F}" presName="sibTrans" presStyleCnt="0"/>
      <dgm:spPr/>
    </dgm:pt>
    <dgm:pt modelId="{4AA9BA57-E0E6-48FF-8515-1FC0FE63D893}" type="pres">
      <dgm:prSet presAssocID="{8CAC4948-62DE-4DEF-9624-8F3145AE4C60}" presName="node" presStyleLbl="node1" presStyleIdx="1" presStyleCnt="4" custScaleX="131198">
        <dgm:presLayoutVars>
          <dgm:bulletEnabled val="1"/>
        </dgm:presLayoutVars>
      </dgm:prSet>
      <dgm:spPr/>
    </dgm:pt>
    <dgm:pt modelId="{22EB8E6C-332F-4941-A8AA-EA91F9BEE6C3}" type="pres">
      <dgm:prSet presAssocID="{ED690217-5D8F-4B94-88F3-C5E329D07EE4}" presName="sibTrans" presStyleCnt="0"/>
      <dgm:spPr/>
    </dgm:pt>
    <dgm:pt modelId="{9A5BB302-B1B9-43A2-AD16-1F24EA80CAD5}" type="pres">
      <dgm:prSet presAssocID="{57BD26C5-905B-4C21-93C4-0B37CFBC05DE}" presName="node" presStyleLbl="node1" presStyleIdx="2" presStyleCnt="4" custScaleX="131198">
        <dgm:presLayoutVars>
          <dgm:bulletEnabled val="1"/>
        </dgm:presLayoutVars>
      </dgm:prSet>
      <dgm:spPr/>
    </dgm:pt>
    <dgm:pt modelId="{7C26CF6A-FC87-4AB2-A93A-575C9C46A004}" type="pres">
      <dgm:prSet presAssocID="{6BCAFB18-6CCE-4592-8FE2-DB9CCD9B5F52}" presName="sibTrans" presStyleCnt="0"/>
      <dgm:spPr/>
    </dgm:pt>
    <dgm:pt modelId="{FE7731B0-5579-4311-9BBE-9937BF175554}" type="pres">
      <dgm:prSet presAssocID="{2BEBF289-CF22-4112-B115-A01B316C9381}" presName="node" presStyleLbl="node1" presStyleIdx="3" presStyleCnt="4" custScaleX="131198">
        <dgm:presLayoutVars>
          <dgm:bulletEnabled val="1"/>
        </dgm:presLayoutVars>
      </dgm:prSet>
      <dgm:spPr/>
    </dgm:pt>
  </dgm:ptLst>
  <dgm:cxnLst>
    <dgm:cxn modelId="{1154FB03-57A1-44C6-9411-FF6DD5206F43}" srcId="{7141185A-7BA9-4B5B-818D-8DFDB440889B}" destId="{57BD26C5-905B-4C21-93C4-0B37CFBC05DE}" srcOrd="2" destOrd="0" parTransId="{3A637E76-64CE-4DCF-A8FE-5BCFD42A57E8}" sibTransId="{6BCAFB18-6CCE-4592-8FE2-DB9CCD9B5F52}"/>
    <dgm:cxn modelId="{EEF19A0C-395E-4464-A8BB-04C1CE16EB69}" srcId="{7141185A-7BA9-4B5B-818D-8DFDB440889B}" destId="{2BEBF289-CF22-4112-B115-A01B316C9381}" srcOrd="3" destOrd="0" parTransId="{EBD71956-DAF0-4155-8D0E-C13A0FF15C08}" sibTransId="{52992460-B29D-4553-93B3-661F36B15EC1}"/>
    <dgm:cxn modelId="{5940681C-8BFE-4471-9A46-2AE28CCC6DF9}" srcId="{7141185A-7BA9-4B5B-818D-8DFDB440889B}" destId="{B7192CDC-3123-42A6-A2AB-6786BD0D23CD}" srcOrd="0" destOrd="0" parTransId="{B83662F6-B50B-4E9C-B62E-D68FF9A5BEED}" sibTransId="{808774F2-AEED-436A-9836-A457C3D6383F}"/>
    <dgm:cxn modelId="{9D539524-ADF6-4F8A-A320-FD1BF9B20CE5}" type="presOf" srcId="{7141185A-7BA9-4B5B-818D-8DFDB440889B}" destId="{14557989-0B8E-4325-9E3E-FE1DEC2D6DDB}" srcOrd="0" destOrd="0" presId="urn:microsoft.com/office/officeart/2005/8/layout/default"/>
    <dgm:cxn modelId="{109BC835-CCE0-4A5E-B25D-96B6E2C9F424}" type="presOf" srcId="{8CAC4948-62DE-4DEF-9624-8F3145AE4C60}" destId="{4AA9BA57-E0E6-48FF-8515-1FC0FE63D893}" srcOrd="0" destOrd="0" presId="urn:microsoft.com/office/officeart/2005/8/layout/default"/>
    <dgm:cxn modelId="{55ED3280-B9C1-4228-988C-24E963602290}" type="presOf" srcId="{57BD26C5-905B-4C21-93C4-0B37CFBC05DE}" destId="{9A5BB302-B1B9-43A2-AD16-1F24EA80CAD5}" srcOrd="0" destOrd="0" presId="urn:microsoft.com/office/officeart/2005/8/layout/default"/>
    <dgm:cxn modelId="{C25185B1-DF05-446C-862C-E90D6C0D0A6D}" srcId="{7141185A-7BA9-4B5B-818D-8DFDB440889B}" destId="{8CAC4948-62DE-4DEF-9624-8F3145AE4C60}" srcOrd="1" destOrd="0" parTransId="{490E2CAE-5472-4BAB-BCE7-556E212FFE45}" sibTransId="{ED690217-5D8F-4B94-88F3-C5E329D07EE4}"/>
    <dgm:cxn modelId="{9E30FAB1-27C1-46CC-A249-1ABFF53B5B9A}" type="presOf" srcId="{2BEBF289-CF22-4112-B115-A01B316C9381}" destId="{FE7731B0-5579-4311-9BBE-9937BF175554}" srcOrd="0" destOrd="0" presId="urn:microsoft.com/office/officeart/2005/8/layout/default"/>
    <dgm:cxn modelId="{A77EC3E7-4B9E-49BA-BF0A-9FE9912CD0BC}" type="presOf" srcId="{B7192CDC-3123-42A6-A2AB-6786BD0D23CD}" destId="{1512E56C-42BC-4638-8E40-27C63427265F}" srcOrd="0" destOrd="0" presId="urn:microsoft.com/office/officeart/2005/8/layout/default"/>
    <dgm:cxn modelId="{3AAA5D98-6D34-4EB6-A596-C0A402DE783E}" type="presParOf" srcId="{14557989-0B8E-4325-9E3E-FE1DEC2D6DDB}" destId="{1512E56C-42BC-4638-8E40-27C63427265F}" srcOrd="0" destOrd="0" presId="urn:microsoft.com/office/officeart/2005/8/layout/default"/>
    <dgm:cxn modelId="{023E3BF6-4872-4186-80CE-45B992FC90AB}" type="presParOf" srcId="{14557989-0B8E-4325-9E3E-FE1DEC2D6DDB}" destId="{0CF27AA7-14A7-4F0F-9A07-E82102B73221}" srcOrd="1" destOrd="0" presId="urn:microsoft.com/office/officeart/2005/8/layout/default"/>
    <dgm:cxn modelId="{00817161-6C95-4D26-9553-66417437BF4B}" type="presParOf" srcId="{14557989-0B8E-4325-9E3E-FE1DEC2D6DDB}" destId="{4AA9BA57-E0E6-48FF-8515-1FC0FE63D893}" srcOrd="2" destOrd="0" presId="urn:microsoft.com/office/officeart/2005/8/layout/default"/>
    <dgm:cxn modelId="{BC749F57-86E6-452F-BA8A-1D9F5A3963C9}" type="presParOf" srcId="{14557989-0B8E-4325-9E3E-FE1DEC2D6DDB}" destId="{22EB8E6C-332F-4941-A8AA-EA91F9BEE6C3}" srcOrd="3" destOrd="0" presId="urn:microsoft.com/office/officeart/2005/8/layout/default"/>
    <dgm:cxn modelId="{5858899A-452F-40BE-901C-3176B1E4BE97}" type="presParOf" srcId="{14557989-0B8E-4325-9E3E-FE1DEC2D6DDB}" destId="{9A5BB302-B1B9-43A2-AD16-1F24EA80CAD5}" srcOrd="4" destOrd="0" presId="urn:microsoft.com/office/officeart/2005/8/layout/default"/>
    <dgm:cxn modelId="{3886C67A-CFD7-4CE1-AB5E-19C907B22668}" type="presParOf" srcId="{14557989-0B8E-4325-9E3E-FE1DEC2D6DDB}" destId="{7C26CF6A-FC87-4AB2-A93A-575C9C46A004}" srcOrd="5" destOrd="0" presId="urn:microsoft.com/office/officeart/2005/8/layout/default"/>
    <dgm:cxn modelId="{0A944804-24EE-464F-908A-8F0FC64DBB31}" type="presParOf" srcId="{14557989-0B8E-4325-9E3E-FE1DEC2D6DDB}" destId="{FE7731B0-5579-4311-9BBE-9937BF17555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12E56C-42BC-4638-8E40-27C63427265F}">
      <dsp:nvSpPr>
        <dsp:cNvPr id="0" name=""/>
        <dsp:cNvSpPr/>
      </dsp:nvSpPr>
      <dsp:spPr>
        <a:xfrm>
          <a:off x="105617" y="2692"/>
          <a:ext cx="4438809" cy="20299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VeraCrypt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Purpose:</a:t>
          </a:r>
          <a:r>
            <a:rPr lang="en-US" sz="2000" kern="1200" dirty="0"/>
            <a:t> Create encrypted file containers using AES-256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Features:</a:t>
          </a:r>
          <a:r>
            <a:rPr lang="en-US" sz="2000" kern="1200" dirty="0"/>
            <a:t> Symmetric encryption, SHA-512 hashing, PBKDF2 key derivation</a:t>
          </a:r>
        </a:p>
      </dsp:txBody>
      <dsp:txXfrm>
        <a:off x="105617" y="2692"/>
        <a:ext cx="4438809" cy="2029974"/>
      </dsp:txXfrm>
    </dsp:sp>
    <dsp:sp modelId="{4AA9BA57-E0E6-48FF-8515-1FC0FE63D893}">
      <dsp:nvSpPr>
        <dsp:cNvPr id="0" name=""/>
        <dsp:cNvSpPr/>
      </dsp:nvSpPr>
      <dsp:spPr>
        <a:xfrm>
          <a:off x="4882756" y="2692"/>
          <a:ext cx="4438809" cy="20299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 err="1"/>
            <a:t>HashCalc</a:t>
          </a:r>
          <a:endParaRPr lang="en-US" sz="2000" b="1" u="sng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Purpose:</a:t>
          </a:r>
          <a:r>
            <a:rPr lang="en-US" sz="2000" kern="1200" dirty="0"/>
            <a:t> Generate and compare hash values for file integrity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Features:</a:t>
          </a:r>
          <a:r>
            <a:rPr lang="en-US" sz="2000" kern="1200" dirty="0"/>
            <a:t> MD5, SHA-256, SHA-512 hash generation</a:t>
          </a:r>
        </a:p>
      </dsp:txBody>
      <dsp:txXfrm>
        <a:off x="4882756" y="2692"/>
        <a:ext cx="4438809" cy="2029974"/>
      </dsp:txXfrm>
    </dsp:sp>
    <dsp:sp modelId="{9A5BB302-B1B9-43A2-AD16-1F24EA80CAD5}">
      <dsp:nvSpPr>
        <dsp:cNvPr id="0" name=""/>
        <dsp:cNvSpPr/>
      </dsp:nvSpPr>
      <dsp:spPr>
        <a:xfrm>
          <a:off x="105617" y="2370996"/>
          <a:ext cx="4438809" cy="20299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 err="1"/>
            <a:t>CyberChef</a:t>
          </a:r>
          <a:endParaRPr lang="en-US" sz="2000" b="1" u="sng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Purpose:</a:t>
          </a:r>
          <a:r>
            <a:rPr lang="en-US" sz="2000" kern="1200" dirty="0"/>
            <a:t> RSA signing and verification of digital signatures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Features:</a:t>
          </a:r>
          <a:r>
            <a:rPr lang="en-US" sz="2000" kern="1200" dirty="0"/>
            <a:t> RSA Sign/Verify, Base64 encoding/decoding</a:t>
          </a:r>
        </a:p>
      </dsp:txBody>
      <dsp:txXfrm>
        <a:off x="105617" y="2370996"/>
        <a:ext cx="4438809" cy="2029974"/>
      </dsp:txXfrm>
    </dsp:sp>
    <dsp:sp modelId="{FE7731B0-5579-4311-9BBE-9937BF175554}">
      <dsp:nvSpPr>
        <dsp:cNvPr id="0" name=""/>
        <dsp:cNvSpPr/>
      </dsp:nvSpPr>
      <dsp:spPr>
        <a:xfrm>
          <a:off x="4882756" y="2370996"/>
          <a:ext cx="4438809" cy="202997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sng" kern="1200" dirty="0"/>
            <a:t>RSA Key Generator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Purpose:</a:t>
          </a:r>
          <a:r>
            <a:rPr lang="en-US" sz="2000" kern="1200" dirty="0"/>
            <a:t> Generate public-private key pairs for asymmetric encryption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Features:</a:t>
          </a:r>
          <a:r>
            <a:rPr lang="en-US" sz="2000" kern="1200" dirty="0"/>
            <a:t> 2048-bit RSA key pair generation</a:t>
          </a:r>
        </a:p>
      </dsp:txBody>
      <dsp:txXfrm>
        <a:off x="4882756" y="2370996"/>
        <a:ext cx="4438809" cy="20299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54E3F9-8963-7854-A673-9D4A6CF4E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9B325F7D-CA88-62D4-6B0E-302F2B261B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2D22D264-5948-6AEC-8CFB-7AAA0C0D09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84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769C3167-124A-C7D7-179A-65F653B62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68076DE9-E0AA-B5AD-4B3C-1B0F1A5B9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F6AD7A13-A718-B9B4-62F6-829E34948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08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C952138-1124-B1BC-91EE-EFB7AD956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8F021AB7-18B2-6F3A-BFEB-09A728C095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63A7DD83-9D70-A2BC-ACAA-D19C4E3DCB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07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7F4B9EBC-B936-3E48-4C41-F5353C663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870512D2-05B9-059F-0BF0-3947F7C2C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9606C704-ADE1-FDDF-6BB0-7413E0AAF9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65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23B799C1-762E-E68F-6612-234C4DAE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62D52883-DC78-DBB8-A8E0-01ED91587B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927F5400-57A3-535B-BA2C-F79E5CA4A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77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D7DDE543-2F3B-9449-2B04-9D3DDB155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D3753189-0FA4-EC65-F6CE-D77DC05D8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3BF916AD-A405-74C0-3679-E733A8524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5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8ECFA7A-D3A2-752C-385C-8AE6BB6B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4C33FDE2-0E3E-B2BE-E948-797005607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8B62BE36-9467-E0CE-0C92-28A25D77D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25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278ECE40-3393-DAA7-0E52-6541835B3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1199D793-DE12-D36D-3A46-850CFC7A82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3C3BCEBB-93D3-19F0-CE45-C35E1F3D0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194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6CF4593-CF68-3A99-9FCD-1F533EE6C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C9845B3C-E1B6-FF0F-D9E4-2E2FAD610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FC91B345-D741-C20B-D317-C7D4BCB3F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37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718A4BD7-14E2-0D3C-144D-6C619FD3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0AF94882-692D-3A10-DE6F-4C0872F7D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BE1460CE-7CAB-014D-2CC0-1C46649689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87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07649E3A-F989-1A02-0DEB-D417ACDD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5543C5B9-631F-68D2-BD0F-A6E7D75C20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3DEC79A3-1DF1-B68E-DCEF-76BBC19DE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713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4C979155-F994-BC64-AB73-A7DC8C8D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E9313AAE-1B50-7BAE-7BE7-931993DB1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9B820E16-B550-3991-B954-48877C60F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924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DFEF3350-A5D1-056D-6E5D-F4F959909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>
            <a:extLst>
              <a:ext uri="{FF2B5EF4-FFF2-40B4-BE49-F238E27FC236}">
                <a16:creationId xmlns:a16="http://schemas.microsoft.com/office/drawing/2014/main" id="{E17359AA-8A29-6AD0-1D0B-2B2A901EC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4:notes">
            <a:extLst>
              <a:ext uri="{FF2B5EF4-FFF2-40B4-BE49-F238E27FC236}">
                <a16:creationId xmlns:a16="http://schemas.microsoft.com/office/drawing/2014/main" id="{5D24FB1F-6DA2-D431-6139-D4BD6EA021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40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328F4AAF-6D32-EBD3-46F5-D76945994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A1385034-9E8D-82C1-95C5-5928D3288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5CF2FE35-AF8C-89C7-3F62-6CB100CCF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66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E2FB092D-A89E-FE19-0F9D-DB44D765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1134D8C8-6CD1-0570-C0CF-8A8FA29654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403F0DE9-BDE7-3E06-C857-288B118B8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33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930CE7F1-0C7A-5EE5-9A82-80697265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>
            <a:extLst>
              <a:ext uri="{FF2B5EF4-FFF2-40B4-BE49-F238E27FC236}">
                <a16:creationId xmlns:a16="http://schemas.microsoft.com/office/drawing/2014/main" id="{2F056359-5CF4-65D1-84ED-C657C0B4F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C3D7E72B-961A-00B8-AA97-992FA4A67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56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-474666" y="1232642"/>
            <a:ext cx="12192000" cy="366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45720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b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TechCrush Capstone Project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457200" algn="ctr" rtl="0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CAPSTONE PROJECT TOPIC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457200" algn="ctr">
              <a:lnSpc>
                <a:spcPct val="114000"/>
              </a:lnSpc>
              <a:spcBef>
                <a:spcPts val="800"/>
              </a:spcBef>
              <a:buSzPts val="4800"/>
            </a:pPr>
            <a:r>
              <a:rPr lang="en-US" sz="4800" b="1" i="0" u="sng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APPLYING CRYPTOGRAPHY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570268" y="690157"/>
            <a:ext cx="7138221" cy="7464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5000"/>
              </a:lnSpc>
              <a:buSzPts val="3200"/>
            </a:pPr>
            <a:r>
              <a:rPr lang="en-US" sz="3200" b="1" dirty="0">
                <a:solidFill>
                  <a:schemeClr val="dk1"/>
                </a:solidFill>
              </a:rPr>
              <a:t>Outline </a:t>
            </a:r>
            <a:endParaRPr lang="en-US" sz="3200" dirty="0"/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dk1"/>
                </a:solidFill>
              </a:rPr>
              <a:t>TITLE</a:t>
            </a:r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dk1"/>
                </a:solidFill>
              </a:rPr>
              <a:t>AIM AND OBJECTIVE </a:t>
            </a:r>
            <a:endParaRPr lang="en-US" sz="1200" b="1" dirty="0"/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dk1"/>
                </a:solidFill>
              </a:rPr>
              <a:t>METHODOLOGY </a:t>
            </a:r>
            <a:endParaRPr lang="en-US" sz="1200" b="1" dirty="0"/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dk1"/>
                </a:solidFill>
              </a:rPr>
              <a:t>CONCEPT OF PROJECT</a:t>
            </a:r>
            <a:endParaRPr lang="en-US" sz="1200" b="1" dirty="0"/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dk1"/>
                </a:solidFill>
              </a:rPr>
              <a:t>TOOLS USED</a:t>
            </a:r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/>
              <a:t>IMAGES</a:t>
            </a:r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/>
              <a:t>TASK 3.1 Data Protection With Encryption</a:t>
            </a:r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/>
              <a:t>TASK 3.2 Hashing and Integrity Checking</a:t>
            </a:r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/>
              <a:t>TASK 3.3 Public key Encryption - Secure messaging</a:t>
            </a:r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/>
              <a:t>TASK 3.4 Scenario Simulation : File verification system</a:t>
            </a:r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/>
              <a:t>OVERALL SUMMARY</a:t>
            </a:r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dk1"/>
                </a:solidFill>
              </a:rPr>
              <a:t>CONCLUSION </a:t>
            </a:r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dk1"/>
                </a:solidFill>
              </a:rPr>
              <a:t>REFERENCES</a:t>
            </a:r>
          </a:p>
          <a:p>
            <a:pPr marL="457200" lvl="0" indent="-4572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  <a:buFont typeface="Wingdings" panose="05000000000000000000" pitchFamily="2" charset="2"/>
              <a:buChar char="§"/>
            </a:pPr>
            <a:r>
              <a:rPr lang="en-US" sz="1200" b="1" dirty="0">
                <a:solidFill>
                  <a:schemeClr val="dk1"/>
                </a:solidFill>
              </a:rPr>
              <a:t>THANK YOU</a:t>
            </a:r>
          </a:p>
          <a:p>
            <a:pPr marL="457200" lvl="0" indent="-25400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</a:pPr>
            <a:endParaRPr lang="en-US" sz="5400" dirty="0">
              <a:solidFill>
                <a:schemeClr val="dk1"/>
              </a:solidFill>
            </a:endParaRPr>
          </a:p>
          <a:p>
            <a:pPr marL="457200" marR="0" lvl="0" indent="-2540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F5CC93-129D-B9A9-6269-772B90846A84}"/>
              </a:ext>
            </a:extLst>
          </p:cNvPr>
          <p:cNvSpPr txBox="1"/>
          <p:nvPr/>
        </p:nvSpPr>
        <p:spPr>
          <a:xfrm>
            <a:off x="480129" y="1575549"/>
            <a:ext cx="1123174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Applying Cryptography in Real-World Scenarios</a:t>
            </a:r>
            <a:r>
              <a:rPr lang="en-US" sz="3200" b="1" dirty="0">
                <a:solidFill>
                  <a:schemeClr val="dk1"/>
                </a:solidFill>
              </a:rPr>
              <a:t>:</a:t>
            </a:r>
          </a:p>
          <a:p>
            <a:pPr algn="ctr">
              <a:buNone/>
            </a:pPr>
            <a:endParaRPr lang="en-US" sz="3600" dirty="0">
              <a:solidFill>
                <a:schemeClr val="dk1"/>
              </a:solidFill>
            </a:endParaRPr>
          </a:p>
          <a:p>
            <a:pPr marL="742950" indent="-742950" algn="ctr">
              <a:buFont typeface="+mj-lt"/>
              <a:buAutoNum type="arabicPeriod"/>
            </a:pPr>
            <a:r>
              <a:rPr lang="en-US" sz="3200" dirty="0">
                <a:solidFill>
                  <a:schemeClr val="dk1"/>
                </a:solidFill>
              </a:rPr>
              <a:t>Data Protection with Encryption</a:t>
            </a:r>
          </a:p>
          <a:p>
            <a:pPr marL="742950" indent="-742950" algn="ctr">
              <a:buFont typeface="+mj-lt"/>
              <a:buAutoNum type="arabicPeriod"/>
            </a:pPr>
            <a:r>
              <a:rPr lang="en-US" sz="3200" dirty="0">
                <a:solidFill>
                  <a:schemeClr val="dk1"/>
                </a:solidFill>
              </a:rPr>
              <a:t>Hashing and Integrity Checking</a:t>
            </a:r>
          </a:p>
          <a:p>
            <a:pPr marL="742950" indent="-742950" algn="ctr">
              <a:buFont typeface="+mj-lt"/>
              <a:buAutoNum type="arabicPeriod"/>
            </a:pPr>
            <a:r>
              <a:rPr lang="en-US" sz="3200" dirty="0">
                <a:solidFill>
                  <a:schemeClr val="dk1"/>
                </a:solidFill>
              </a:rPr>
              <a:t>Public Key Encryption / Secure Messaging</a:t>
            </a:r>
          </a:p>
          <a:p>
            <a:pPr marL="742950" indent="-742950" algn="ctr">
              <a:buFont typeface="+mj-lt"/>
              <a:buAutoNum type="arabicPeriod"/>
            </a:pPr>
            <a:r>
              <a:rPr lang="en-US" sz="3200" dirty="0">
                <a:solidFill>
                  <a:schemeClr val="dk1"/>
                </a:solidFill>
              </a:rPr>
              <a:t>File Verification System: Use hashes to verify if downloaded files are safe.</a:t>
            </a:r>
          </a:p>
          <a:p>
            <a:pPr algn="ctr"/>
            <a:endParaRPr lang="en-US"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F72B81-BAE4-1C99-D54B-F5514750A25C}"/>
              </a:ext>
            </a:extLst>
          </p:cNvPr>
          <p:cNvSpPr txBox="1"/>
          <p:nvPr/>
        </p:nvSpPr>
        <p:spPr>
          <a:xfrm>
            <a:off x="201337" y="973123"/>
            <a:ext cx="13226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0BDBC8E0-0394-AD8F-EB03-14295D5E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14465CFE-E15B-6B37-733B-EC9EB52A5C5E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24C56061-1C26-02C3-E3FC-6C0FCFB143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C26BDBFF-34E4-5C95-C431-65948CA0919F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319D8D66-DBE3-215B-58C1-DBBA67A18676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40984648-186F-F506-8C65-677927D3A98E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2076792C-769D-6278-2F08-C223634729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3;p4">
            <a:extLst>
              <a:ext uri="{FF2B5EF4-FFF2-40B4-BE49-F238E27FC236}">
                <a16:creationId xmlns:a16="http://schemas.microsoft.com/office/drawing/2014/main" id="{1EC5A262-1181-BEF5-1519-AEC909B5C4F1}"/>
              </a:ext>
            </a:extLst>
          </p:cNvPr>
          <p:cNvSpPr txBox="1"/>
          <p:nvPr/>
        </p:nvSpPr>
        <p:spPr>
          <a:xfrm>
            <a:off x="246441" y="2770140"/>
            <a:ext cx="3820639" cy="13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5000"/>
              </a:lnSpc>
              <a:buSzPts val="2800"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6FD23-386F-D5BB-7936-77FB15A679C3}"/>
              </a:ext>
            </a:extLst>
          </p:cNvPr>
          <p:cNvSpPr txBox="1"/>
          <p:nvPr/>
        </p:nvSpPr>
        <p:spPr>
          <a:xfrm>
            <a:off x="1324651" y="3454833"/>
            <a:ext cx="960969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Master Encryption Techniques to protect data confidentiality using AES and RSA algorithms.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200" dirty="0"/>
              <a:t>Generate and verify cryptographic hashes to detect file tampering.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200" dirty="0"/>
              <a:t>Demonstrate Digital Signatures using public/private key pairs to prove authenticity.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sz="2200" dirty="0"/>
              <a:t>Simulate real-world cases for secure messaging and file verification.</a:t>
            </a:r>
            <a:endParaRPr lang="en-US" sz="2200" dirty="0">
              <a:solidFill>
                <a:schemeClr val="dk1"/>
              </a:solidFill>
            </a:endParaRPr>
          </a:p>
        </p:txBody>
      </p:sp>
      <p:sp>
        <p:nvSpPr>
          <p:cNvPr id="2" name="Google Shape;123;p4">
            <a:extLst>
              <a:ext uri="{FF2B5EF4-FFF2-40B4-BE49-F238E27FC236}">
                <a16:creationId xmlns:a16="http://schemas.microsoft.com/office/drawing/2014/main" id="{B258CC14-0698-7E9C-232E-41D06055B310}"/>
              </a:ext>
            </a:extLst>
          </p:cNvPr>
          <p:cNvSpPr txBox="1"/>
          <p:nvPr/>
        </p:nvSpPr>
        <p:spPr>
          <a:xfrm>
            <a:off x="270098" y="783539"/>
            <a:ext cx="2109107" cy="1327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5000"/>
              </a:lnSpc>
              <a:buSzPts val="2800"/>
            </a:pPr>
            <a:r>
              <a:rPr lang="en-US" sz="3600" b="1" dirty="0">
                <a:solidFill>
                  <a:schemeClr val="dk1"/>
                </a:solidFill>
              </a:rPr>
              <a:t>Aim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981F7-A1BD-2952-B673-B395B92D5862}"/>
              </a:ext>
            </a:extLst>
          </p:cNvPr>
          <p:cNvSpPr txBox="1"/>
          <p:nvPr/>
        </p:nvSpPr>
        <p:spPr>
          <a:xfrm>
            <a:off x="1716634" y="1491161"/>
            <a:ext cx="831097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To understand and demonstrate how cryptography protects data in everyday systems by implementing practical simulation which ensures data confidentiality, file integrity, and authenticity.</a:t>
            </a:r>
            <a:endParaRPr lang="en-US" sz="2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4493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33" name="Google Shape;13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221972" y="1283434"/>
            <a:ext cx="11748053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34CA0B-C137-8FA0-DC20-7680C5D3DC06}"/>
              </a:ext>
            </a:extLst>
          </p:cNvPr>
          <p:cNvSpPr txBox="1"/>
          <p:nvPr/>
        </p:nvSpPr>
        <p:spPr>
          <a:xfrm>
            <a:off x="1061009" y="2406059"/>
            <a:ext cx="1103237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Practical exercises using standard cryptographic tools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Comparative Analysis by testing different algorithms (AES, RSA, SHA-256, SHA-512, MD5)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Tampering Detection: Simulating security breaches to verify cryptographic protections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Scenarios: Applying techniques to file verification, secure messaging, and data storage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Recording hash values, encryption keys, and verification results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Following guidelines for key management and algorithm selection</a:t>
            </a:r>
          </a:p>
          <a:p>
            <a:pPr>
              <a:buNone/>
            </a:pPr>
            <a:endParaRPr lang="en-US" sz="2200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C087A861-0EDA-4C42-CD8A-A3469371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4F6DDD56-D45F-D098-9D8F-B6AFFF639F6A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648DEC85-56A8-8BEA-C2B3-F232AD4494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06C1308B-B1D9-FE86-57B5-37F9DB1A82B7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35E5926B-6CC4-93DC-723E-0E1A02802C42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04867101-8CBE-9AAD-64FB-6C66A0FACB5E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48F0093F-68B2-3344-1D89-7D6810A65FE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59384EE2-CF16-EA25-268E-10AD8CC4843E}"/>
              </a:ext>
            </a:extLst>
          </p:cNvPr>
          <p:cNvSpPr txBox="1"/>
          <p:nvPr/>
        </p:nvSpPr>
        <p:spPr>
          <a:xfrm>
            <a:off x="-87084" y="826686"/>
            <a:ext cx="6183083" cy="143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1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</a:pPr>
            <a:r>
              <a:rPr lang="en-US" sz="3600" b="1" dirty="0">
                <a:solidFill>
                  <a:schemeClr val="dk1"/>
                </a:solidFill>
              </a:rPr>
              <a:t>Concept of project</a:t>
            </a:r>
            <a:endParaRPr lang="en-US" sz="3600" dirty="0"/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A34C6-2ACA-F914-0A7B-6B3A372E9BE3}"/>
              </a:ext>
            </a:extLst>
          </p:cNvPr>
          <p:cNvSpPr txBox="1"/>
          <p:nvPr/>
        </p:nvSpPr>
        <p:spPr>
          <a:xfrm>
            <a:off x="1617919" y="2103830"/>
            <a:ext cx="98624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project focuses the CIA Triad: file integrity, authenticity, and security.</a:t>
            </a:r>
          </a:p>
          <a:p>
            <a:r>
              <a:rPr lang="en-US" sz="2400" dirty="0"/>
              <a:t>It highlights the sensitivity of hash functions and the importance of digital signatures in cybersecurity.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190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1FFC9AB9-A842-EA39-64C9-12C28183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EF949FC7-59B2-7177-D8EB-AD54D49C1D84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95D9F0C7-7D87-B531-C4A2-919D05D3D4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8E0708D7-CEF3-1208-2D17-89BE4394193E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D93AB69E-324A-8344-EAFE-8B4A8B92E5C7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A741180F-1CBC-4594-D455-C5C9EF276BB9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77FE717F-432A-0CF4-A692-E0BE932943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9E871FCC-2578-B466-BC7C-692125372231}"/>
              </a:ext>
            </a:extLst>
          </p:cNvPr>
          <p:cNvSpPr txBox="1"/>
          <p:nvPr/>
        </p:nvSpPr>
        <p:spPr>
          <a:xfrm>
            <a:off x="0" y="1112468"/>
            <a:ext cx="8174106" cy="124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/>
              <a:t>Cryptographic Techniques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36F0D-5712-3039-D3EA-8479D4067B80}"/>
              </a:ext>
            </a:extLst>
          </p:cNvPr>
          <p:cNvSpPr txBox="1"/>
          <p:nvPr/>
        </p:nvSpPr>
        <p:spPr>
          <a:xfrm>
            <a:off x="1164771" y="2232973"/>
            <a:ext cx="986245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Symmetric Encryption (AES):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Same key for encryption and decryption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Asymmetric Encryption (RSA):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Public key encrypts, private key decrypts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Hashing (SHA-256/512, MD5):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One-way fingerprinting for integrity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Digital Signatures: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Combining hashing and asymmetric encryption 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406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22FBFB54-9D55-5051-3920-EF2DD9C44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2016938D-4C39-A7BB-F939-5175B6050D62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24F716A3-C187-746C-FEE4-1157D17B85E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0A9B7C94-5CF5-DCB2-53F3-61594ADB0100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3158D09E-2E61-14F0-7F43-9BED5940A307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79B37BC1-ABC9-3978-BF81-EA4684D63545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633CE2AF-F091-B0E6-6DDE-523352CC52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7D542E82-795A-C21E-3BE9-C79D2D074C5A}"/>
              </a:ext>
            </a:extLst>
          </p:cNvPr>
          <p:cNvSpPr txBox="1"/>
          <p:nvPr/>
        </p:nvSpPr>
        <p:spPr>
          <a:xfrm>
            <a:off x="14648" y="671500"/>
            <a:ext cx="11748053" cy="143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3200"/>
            </a:pPr>
            <a:r>
              <a:rPr lang="en-US" sz="3600" b="1" dirty="0">
                <a:solidFill>
                  <a:schemeClr val="dk1"/>
                </a:solidFill>
              </a:rPr>
              <a:t>Tools Used</a:t>
            </a:r>
            <a:endParaRPr lang="en-US" sz="3600" dirty="0"/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DD3D5B1-9B4F-CFB8-E5C9-6A494E0E71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6800101"/>
              </p:ext>
            </p:extLst>
          </p:nvPr>
        </p:nvGraphicFramePr>
        <p:xfrm>
          <a:off x="1253786" y="1615541"/>
          <a:ext cx="9427183" cy="4403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19742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15EF517B-A789-12E5-9248-0297A96F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36707BDF-3416-3177-8262-86ADCA6CE1D7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DEE11909-8A51-91A8-FF97-A345A45995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B2FBF43E-1CE5-AC4A-DCA9-CEA148F9EA3F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E4DEB99C-5D06-9C33-FBF7-5C12A13448B1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FE35EDF7-2199-8AB4-7B55-1BD1BD36BBD7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787EB4C9-4D43-D47E-7FA2-81EFB265AE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441E5D5A-6E35-4A4F-EF7C-78A98016107C}"/>
              </a:ext>
            </a:extLst>
          </p:cNvPr>
          <p:cNvSpPr txBox="1"/>
          <p:nvPr/>
        </p:nvSpPr>
        <p:spPr>
          <a:xfrm>
            <a:off x="136652" y="839253"/>
            <a:ext cx="9367271" cy="118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200" b="1" dirty="0"/>
              <a:t>Task 1: Data Protection with Encryption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124C95-05EA-BB09-6324-3C701FE4944D}"/>
              </a:ext>
            </a:extLst>
          </p:cNvPr>
          <p:cNvSpPr txBox="1"/>
          <p:nvPr/>
        </p:nvSpPr>
        <p:spPr>
          <a:xfrm>
            <a:off x="1294160" y="1548094"/>
            <a:ext cx="10322402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Objective</a:t>
            </a:r>
          </a:p>
          <a:p>
            <a:r>
              <a:rPr lang="en-US" sz="2000" dirty="0"/>
              <a:t>To create encrypted file containers using VeraCrypt with AES symmetric encryption</a:t>
            </a:r>
          </a:p>
          <a:p>
            <a:r>
              <a:rPr lang="en-US" sz="2000" b="1" dirty="0"/>
              <a:t>Process</a:t>
            </a:r>
          </a:p>
          <a:p>
            <a:r>
              <a:rPr lang="en-US" sz="2000" dirty="0"/>
              <a:t>1.Created 10MB encrypted container using VeraCrypt</a:t>
            </a:r>
          </a:p>
          <a:p>
            <a:r>
              <a:rPr lang="en-US" sz="2000" dirty="0"/>
              <a:t>2.Selected AES encryption algorithm with SHA-512 hashing</a:t>
            </a:r>
          </a:p>
          <a:p>
            <a:r>
              <a:rPr lang="en-US" sz="2000" dirty="0"/>
              <a:t>3.Used Password-Based Key Derivation Function 2 (PBKDF2) for password strengthening</a:t>
            </a:r>
          </a:p>
          <a:p>
            <a:r>
              <a:rPr lang="en-US" sz="2000" dirty="0"/>
              <a:t>4.Mounted container as virtual drive for file storage</a:t>
            </a:r>
          </a:p>
          <a:p>
            <a:r>
              <a:rPr lang="en-US" sz="2000" dirty="0"/>
              <a:t>5.Tested encryption by mounting and dismounting the container</a:t>
            </a:r>
          </a:p>
          <a:p>
            <a:endParaRPr lang="en-US" sz="2000" b="1" dirty="0"/>
          </a:p>
          <a:p>
            <a:r>
              <a:rPr lang="en-US" sz="2000" b="1" dirty="0"/>
              <a:t>Outcome</a:t>
            </a:r>
          </a:p>
          <a:p>
            <a:r>
              <a:rPr lang="en-US" sz="2000" dirty="0"/>
              <a:t>Successfully protected files using symmetric encryption, demonstrating confidentiality through AES, integrity through SHA-512, and authenticity through password-based access control</a:t>
            </a:r>
          </a:p>
          <a:p>
            <a:endParaRPr lang="en-US" sz="2000" dirty="0"/>
          </a:p>
          <a:p>
            <a:r>
              <a:rPr lang="en-US" sz="2000" b="1" dirty="0"/>
              <a:t>CIA Protection:</a:t>
            </a:r>
            <a:r>
              <a:rPr lang="en-US" sz="2000" dirty="0"/>
              <a:t> Confidentiality (AES), Integrity (SHA-512), Authenticity (Password)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01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07AAF5C7-9749-1435-5061-58A88F23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E731A81D-CC22-40AC-7C08-36B5E908D0F6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A2F3140B-E10D-BB86-DBFF-6DD73A9932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B984CD6E-0B50-E3B5-0E43-3A7946EEDC0D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CAA8F09E-7B36-152F-E8D6-23D1642B9459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389F04FC-6A3C-FED2-C3AE-1D70D8154F6A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19056887-6EE4-E7C7-DFDA-17B474E036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9BA7D64B-ACC4-E2F6-EE5F-B3D04D96DBFC}"/>
              </a:ext>
            </a:extLst>
          </p:cNvPr>
          <p:cNvSpPr txBox="1"/>
          <p:nvPr/>
        </p:nvSpPr>
        <p:spPr>
          <a:xfrm>
            <a:off x="-69869" y="680571"/>
            <a:ext cx="7230834" cy="105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dirty="0"/>
              <a:t>Task 1: Data Protection with Encryption Cont’d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231490-90CD-65D1-3DE9-E2309A7A9F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041" y="3640685"/>
            <a:ext cx="5490879" cy="2566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36ECF9-BD71-085E-9A3A-40B19D6C6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3608961"/>
            <a:ext cx="5943600" cy="259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170AFF-0607-4F06-7F18-D441843EC6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" y="1232642"/>
            <a:ext cx="5716924" cy="2235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BA0AC387-ACAA-6EB9-2230-4F4FF22A1D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2043" y="1210439"/>
            <a:ext cx="5571877" cy="22185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8045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7FBEC1E2-E754-5645-DDA9-01CC47A4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133CDD79-8113-6DF8-FCFF-BEBD90135FC4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A89CE753-53B9-CE0B-0B8E-085BCDA8AB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BA20C72F-A4D8-795B-1670-13B6038010D9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EEFB51F4-6DD8-9B6F-D3FD-675D77EA3F57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D50BA32A-D6A2-2406-1FC7-08E7060E7606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E7EB5301-E36F-BA49-4C72-47134125593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1747D9A4-5949-004F-DC24-2A4B1D64C39C}"/>
              </a:ext>
            </a:extLst>
          </p:cNvPr>
          <p:cNvSpPr txBox="1"/>
          <p:nvPr/>
        </p:nvSpPr>
        <p:spPr>
          <a:xfrm>
            <a:off x="218210" y="861454"/>
            <a:ext cx="10114693" cy="118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200" b="1" dirty="0"/>
              <a:t>Task 2: Hashing and Integrity Checking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217C7-A616-CCD8-E9FB-2C5DC3FAD9D3}"/>
              </a:ext>
            </a:extLst>
          </p:cNvPr>
          <p:cNvSpPr txBox="1"/>
          <p:nvPr/>
        </p:nvSpPr>
        <p:spPr>
          <a:xfrm>
            <a:off x="1761821" y="1483656"/>
            <a:ext cx="986245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Objective</a:t>
            </a:r>
          </a:p>
          <a:p>
            <a:r>
              <a:rPr lang="en-US" sz="2000" dirty="0"/>
              <a:t>Use SHA-256 hashing to verify file integrity and detect tampering</a:t>
            </a:r>
          </a:p>
          <a:p>
            <a:r>
              <a:rPr lang="en-US" sz="2000" b="1" dirty="0"/>
              <a:t>Process</a:t>
            </a:r>
          </a:p>
          <a:p>
            <a:r>
              <a:rPr lang="en-US" sz="2000" dirty="0"/>
              <a:t>1.Generated SHA-256 hash values for original files using Hash Checker</a:t>
            </a:r>
          </a:p>
          <a:p>
            <a:r>
              <a:rPr lang="en-US" sz="2000" dirty="0"/>
              <a:t>2.Calculated hash values for video files and documents</a:t>
            </a:r>
          </a:p>
          <a:p>
            <a:r>
              <a:rPr lang="en-US" sz="2000" dirty="0"/>
              <a:t>3.Modified files to simulate tampering</a:t>
            </a:r>
          </a:p>
          <a:p>
            <a:r>
              <a:rPr lang="en-US" sz="2000" dirty="0"/>
              <a:t>4.Regenerated hash values and compared with originals</a:t>
            </a:r>
          </a:p>
          <a:p>
            <a:r>
              <a:rPr lang="en-US" sz="2000" dirty="0"/>
              <a:t>5.Documented complete hash value changes after minimal modifications</a:t>
            </a:r>
          </a:p>
          <a:p>
            <a:endParaRPr lang="en-US" sz="2000" b="1" dirty="0"/>
          </a:p>
          <a:p>
            <a:r>
              <a:rPr lang="en-US" sz="2000" b="1" dirty="0"/>
              <a:t>Outcome</a:t>
            </a:r>
          </a:p>
          <a:p>
            <a:r>
              <a:rPr lang="en-US" sz="2000" dirty="0"/>
              <a:t>Demonstrated that even minor file changes produce completely different hash values, proving hashing is effective for integrity verification in software distribution, backups, and blockchain</a:t>
            </a:r>
          </a:p>
          <a:p>
            <a:endParaRPr lang="en-US" sz="2000" b="1" dirty="0"/>
          </a:p>
          <a:p>
            <a:r>
              <a:rPr lang="en-US" sz="2000" b="1" dirty="0"/>
              <a:t>CIA Protection:</a:t>
            </a:r>
            <a:r>
              <a:rPr lang="en-US" sz="2000" dirty="0"/>
              <a:t> Integrity (SHA-256 hashing)</a:t>
            </a:r>
          </a:p>
        </p:txBody>
      </p:sp>
    </p:spTree>
    <p:extLst>
      <p:ext uri="{BB962C8B-B14F-4D97-AF65-F5344CB8AC3E}">
        <p14:creationId xmlns:p14="http://schemas.microsoft.com/office/powerpoint/2010/main" val="307218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F52FC863-E01F-75BE-0E2E-19DEE15C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3FB34F59-568B-5681-AA0C-78B88C2B1019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2AD42D7C-95C5-2076-51DA-6F7FCF0D5A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8B781F04-CFF0-ED94-5E9B-95D55A7A00F9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030B840F-9019-98A6-C26F-AB868E87529E}"/>
              </a:ext>
            </a:extLst>
          </p:cNvPr>
          <p:cNvSpPr txBox="1"/>
          <p:nvPr/>
        </p:nvSpPr>
        <p:spPr>
          <a:xfrm>
            <a:off x="1838919" y="6541212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B06A7ED2-DDBE-B43C-6BA2-BA9B68FCCDA8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DA48B418-A890-4269-CC2E-E840287FB3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06BB8929-36CC-ED57-E457-6FD95EDF9710}"/>
              </a:ext>
            </a:extLst>
          </p:cNvPr>
          <p:cNvSpPr txBox="1"/>
          <p:nvPr/>
        </p:nvSpPr>
        <p:spPr>
          <a:xfrm>
            <a:off x="-87085" y="826686"/>
            <a:ext cx="11454079" cy="118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200" b="1" dirty="0"/>
              <a:t>Task 2: Hashing and Integrity Checking Cont’d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9314A1-A6D2-5950-49A6-59E9696B6D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39" y="1844989"/>
            <a:ext cx="5263845" cy="36779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84BCC5-C33F-3C82-54F1-92A312146867}"/>
              </a:ext>
            </a:extLst>
          </p:cNvPr>
          <p:cNvSpPr txBox="1"/>
          <p:nvPr/>
        </p:nvSpPr>
        <p:spPr>
          <a:xfrm>
            <a:off x="613357" y="5608532"/>
            <a:ext cx="36473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Arial" panose="020B0604020202020204" pitchFamily="34" charset="0"/>
              </a:rPr>
              <a:t>S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creenshot of the origina</a:t>
            </a:r>
            <a:r>
              <a:rPr lang="en-US" dirty="0">
                <a:latin typeface="Times New Roman" panose="02020603050405020304" pitchFamily="18" charset="0"/>
                <a:ea typeface="Arial" panose="020B0604020202020204" pitchFamily="34" charset="0"/>
              </a:rPr>
              <a:t>l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hash value created</a:t>
            </a: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07E6C7-A3A9-D8C2-97DE-0EA8ED6D55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430" y="1844989"/>
            <a:ext cx="5491395" cy="367792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570AE3-BE6F-BF6A-EE9B-4BA44A064A30}"/>
              </a:ext>
            </a:extLst>
          </p:cNvPr>
          <p:cNvSpPr txBox="1"/>
          <p:nvPr/>
        </p:nvSpPr>
        <p:spPr>
          <a:xfrm>
            <a:off x="6095999" y="5633228"/>
            <a:ext cx="6250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Arial" panose="020B0604020202020204" pitchFamily="34" charset="0"/>
              </a:rPr>
              <a:t>S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creenshot shows hash values are different from the previous one hash values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937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07BEE595-BF6C-0A8E-CBB1-79BDAB288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5A42D2BE-7530-3023-DAD5-18F703203DFB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B1E9DF58-1AE3-151B-1C3E-2301F56BEF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598E59ED-375E-038D-EB9B-AE2450C58F4E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E88718D8-A75B-EE70-6BB5-D395AA32F788}"/>
              </a:ext>
            </a:extLst>
          </p:cNvPr>
          <p:cNvSpPr txBox="1"/>
          <p:nvPr/>
        </p:nvSpPr>
        <p:spPr>
          <a:xfrm>
            <a:off x="2052918" y="6575674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2CE537E9-C0DF-7C8C-952F-87A909A3FEE0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26BD38D0-1173-71FB-8B0F-1C81AB31D6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3456B060-C1CA-F911-D9A8-831165E52CCD}"/>
              </a:ext>
            </a:extLst>
          </p:cNvPr>
          <p:cNvSpPr txBox="1"/>
          <p:nvPr/>
        </p:nvSpPr>
        <p:spPr>
          <a:xfrm>
            <a:off x="160566" y="867112"/>
            <a:ext cx="12031434" cy="118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 b="1" dirty="0"/>
              <a:t>Task 3: Public Key Encryption - Secure Messaging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A75EA-F76E-AB98-E738-9E9EF2F595CD}"/>
              </a:ext>
            </a:extLst>
          </p:cNvPr>
          <p:cNvSpPr txBox="1"/>
          <p:nvPr/>
        </p:nvSpPr>
        <p:spPr>
          <a:xfrm>
            <a:off x="1287459" y="1548703"/>
            <a:ext cx="986245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/>
              <a:t>Objective</a:t>
            </a:r>
          </a:p>
          <a:p>
            <a:r>
              <a:rPr lang="en-US" sz="1900" dirty="0"/>
              <a:t>Implement asymmetric encryption using RSA for secure communication</a:t>
            </a:r>
          </a:p>
          <a:p>
            <a:r>
              <a:rPr lang="en-US" sz="1900" b="1" dirty="0"/>
              <a:t>Process</a:t>
            </a:r>
          </a:p>
          <a:p>
            <a:r>
              <a:rPr lang="en-US" sz="1900" dirty="0"/>
              <a:t>1.Generated 2048-bit RSA key pair (public and private keys)</a:t>
            </a:r>
          </a:p>
          <a:p>
            <a:r>
              <a:rPr lang="en-US" sz="1900" dirty="0"/>
              <a:t>2.Used </a:t>
            </a:r>
            <a:r>
              <a:rPr lang="en-US" sz="1900" dirty="0" err="1"/>
              <a:t>CyberChef</a:t>
            </a:r>
            <a:r>
              <a:rPr lang="en-US" sz="1900" dirty="0"/>
              <a:t> RSA Encrypt with public key to encrypt plaintext message</a:t>
            </a:r>
          </a:p>
          <a:p>
            <a:r>
              <a:rPr lang="en-US" sz="1900" dirty="0"/>
              <a:t>3.Converted plaintext to ciphertext (unreadable encrypted format)</a:t>
            </a:r>
          </a:p>
          <a:p>
            <a:r>
              <a:rPr lang="en-US" sz="1900" dirty="0"/>
              <a:t>4.Used RSA Decrypt with private key to recover original message</a:t>
            </a:r>
          </a:p>
          <a:p>
            <a:r>
              <a:rPr lang="en-US" sz="1900" dirty="0"/>
              <a:t>5.Verified that only the private key holder can decrypt messages</a:t>
            </a:r>
          </a:p>
          <a:p>
            <a:endParaRPr lang="en-US" sz="1900" b="1" dirty="0"/>
          </a:p>
          <a:p>
            <a:r>
              <a:rPr lang="en-US" sz="1900" b="1" dirty="0"/>
              <a:t>Outcome</a:t>
            </a:r>
          </a:p>
          <a:p>
            <a:r>
              <a:rPr lang="en-US" sz="1900" dirty="0"/>
              <a:t>Successfully demonstrated asymmetric encryption where public keys can be shared freely for encryption while private keys remain secret for decryption, ensuring confidential communication</a:t>
            </a:r>
          </a:p>
          <a:p>
            <a:endParaRPr lang="en-US" sz="1900" b="1" dirty="0"/>
          </a:p>
          <a:p>
            <a:r>
              <a:rPr lang="en-US" sz="1900" b="1" dirty="0"/>
              <a:t>CIA Protection:</a:t>
            </a:r>
            <a:r>
              <a:rPr lang="en-US" sz="1900" dirty="0"/>
              <a:t> Confidentiality (RSA), Integrity (SHA-256), Authenticity (Digital Signatures)</a:t>
            </a:r>
          </a:p>
        </p:txBody>
      </p:sp>
    </p:spTree>
    <p:extLst>
      <p:ext uri="{BB962C8B-B14F-4D97-AF65-F5344CB8AC3E}">
        <p14:creationId xmlns:p14="http://schemas.microsoft.com/office/powerpoint/2010/main" val="1284315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2FDB04A8-3B20-50F9-051F-AD1EB05F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6AB4F1BA-9A8A-ADA3-6B9E-5C15F415D85B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E18A03B1-5FFD-EFE3-12EE-50FB36CB085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2C2383BD-9235-F6AB-92E8-5DBDFE6B3F70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DAA5E507-42F4-FCA9-D1B4-49103B37A727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1C66C5E7-70CE-52A7-69FF-C22974EB5F55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E4C06CDE-6D6A-1D1A-28C4-5726B27439C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E01BEA5E-607B-4B43-FA53-763AA48914C1}"/>
              </a:ext>
            </a:extLst>
          </p:cNvPr>
          <p:cNvSpPr txBox="1"/>
          <p:nvPr/>
        </p:nvSpPr>
        <p:spPr>
          <a:xfrm>
            <a:off x="-87085" y="826686"/>
            <a:ext cx="11454079" cy="1090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600" b="1" dirty="0"/>
              <a:t>Task 3: Public Key Encryption - Secure Messaging Cont’d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E3377B-3D66-C165-E179-2D4FE2897E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949" y="3197886"/>
            <a:ext cx="5514650" cy="26841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612F7A-38C4-BF08-8F85-9C96EE3A94F8}"/>
              </a:ext>
            </a:extLst>
          </p:cNvPr>
          <p:cNvSpPr txBox="1"/>
          <p:nvPr/>
        </p:nvSpPr>
        <p:spPr>
          <a:xfrm>
            <a:off x="6718569" y="5945093"/>
            <a:ext cx="5185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Private key from the RSA Key generator is entered into the RSA DECRYPT tab</a:t>
            </a:r>
            <a:r>
              <a:rPr lang="en-US" dirty="0">
                <a:latin typeface="Times New Roman" panose="02020603050405020304" pitchFamily="18" charset="0"/>
                <a:ea typeface="Aptos" panose="020B0004020202020204" pitchFamily="34" charset="0"/>
              </a:rPr>
              <a:t> to decrypt message.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D0261E-A5B5-992D-6F95-4EBAADFA57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59" y="3260931"/>
            <a:ext cx="5564686" cy="268416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5FA377-ADA7-171D-9148-F6D99978EA64}"/>
              </a:ext>
            </a:extLst>
          </p:cNvPr>
          <p:cNvSpPr txBox="1"/>
          <p:nvPr/>
        </p:nvSpPr>
        <p:spPr>
          <a:xfrm>
            <a:off x="218872" y="5949299"/>
            <a:ext cx="62159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RSA encrypt takes the plaintext input and a public key to produce and RSA encrypted cipher text.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53782A-52CC-E5BE-F2BB-5A5CC69979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867" y="1424135"/>
            <a:ext cx="5943600" cy="1710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0F76BB-A4F0-FE3B-662B-925328A3AD90}"/>
              </a:ext>
            </a:extLst>
          </p:cNvPr>
          <p:cNvSpPr txBox="1"/>
          <p:nvPr/>
        </p:nvSpPr>
        <p:spPr>
          <a:xfrm>
            <a:off x="8968311" y="1971465"/>
            <a:ext cx="22347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RSA public and private keys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833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B32FF45F-EF2C-7B91-DC68-3CC472DF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75C5EC1A-D331-B7D4-9D65-272B491B16EE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4828F9B0-00BE-54D7-4DD3-1779197574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04D0E704-6817-7E07-510E-3D9240F392B7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D9F647F7-ECC5-F1CE-62B2-45F668835F36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D826E3E9-029B-A6AA-098C-BC8007BD8D75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91534CC4-F193-667C-7DA4-1FA53CA7B4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B71028FA-EFA6-8413-DF56-4D3523667F3E}"/>
              </a:ext>
            </a:extLst>
          </p:cNvPr>
          <p:cNvSpPr txBox="1"/>
          <p:nvPr/>
        </p:nvSpPr>
        <p:spPr>
          <a:xfrm>
            <a:off x="517072" y="802987"/>
            <a:ext cx="12031434" cy="118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200" b="1" dirty="0"/>
              <a:t>Task 4: Scenario Simulation - File Verification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721E45-AD12-2ECB-9E26-4B2FE636402B}"/>
              </a:ext>
            </a:extLst>
          </p:cNvPr>
          <p:cNvSpPr txBox="1"/>
          <p:nvPr/>
        </p:nvSpPr>
        <p:spPr>
          <a:xfrm>
            <a:off x="1287459" y="1470882"/>
            <a:ext cx="986245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/>
              <a:t>Objective</a:t>
            </a:r>
          </a:p>
          <a:p>
            <a:r>
              <a:rPr lang="en-US" sz="1900" dirty="0"/>
              <a:t>Combine hashing and digital signatures for comprehensive file verification</a:t>
            </a:r>
          </a:p>
          <a:p>
            <a:r>
              <a:rPr lang="en-US" sz="1900" b="1" dirty="0"/>
              <a:t>Process</a:t>
            </a:r>
          </a:p>
          <a:p>
            <a:r>
              <a:rPr lang="en-US" sz="1900" dirty="0"/>
              <a:t>1.Part 1 - Hashing: Generated MD5, SHA-256, SHA-512 hashes for files, modified one character, and detected complete hash changes</a:t>
            </a:r>
          </a:p>
          <a:p>
            <a:r>
              <a:rPr lang="en-US" sz="1900" dirty="0"/>
              <a:t>2.Part 2 - Digital Signatures: Created RSA key pair, signed file with private key and SHA-256, verified signature with public key</a:t>
            </a:r>
          </a:p>
          <a:p>
            <a:r>
              <a:rPr lang="en-US" sz="1900" dirty="0"/>
              <a:t>3.Part 3 - Tampering Detection: Modified signed message and demonstrated verification failure</a:t>
            </a:r>
          </a:p>
          <a:p>
            <a:r>
              <a:rPr lang="en-US" sz="1900" dirty="0"/>
              <a:t>4.Combined techniques to protect both integrity and authenticity</a:t>
            </a:r>
          </a:p>
          <a:p>
            <a:endParaRPr lang="en-US" sz="1900" b="1" dirty="0"/>
          </a:p>
          <a:p>
            <a:r>
              <a:rPr lang="en-US" sz="1900" b="1" dirty="0"/>
              <a:t>Outcome</a:t>
            </a:r>
          </a:p>
          <a:p>
            <a:r>
              <a:rPr lang="en-US" sz="1900" dirty="0"/>
              <a:t>Proved that hashing detects any file tampering while digital signatures verify both the sender's identity and file integrity, essential for software distribution and secure communications</a:t>
            </a:r>
          </a:p>
          <a:p>
            <a:r>
              <a:rPr lang="en-US" sz="1900" b="1" dirty="0"/>
              <a:t>CIA Protection:</a:t>
            </a:r>
            <a:r>
              <a:rPr lang="en-US" sz="1900" dirty="0"/>
              <a:t> Integrity (Hashing), Authenticity &amp; Integrity (Digital Signatures)</a:t>
            </a:r>
          </a:p>
        </p:txBody>
      </p:sp>
    </p:spTree>
    <p:extLst>
      <p:ext uri="{BB962C8B-B14F-4D97-AF65-F5344CB8AC3E}">
        <p14:creationId xmlns:p14="http://schemas.microsoft.com/office/powerpoint/2010/main" val="848309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5F1BC588-45C0-C8BF-0F12-B2BC9665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D67F92F8-F98D-A1A9-392C-4680BD5BAEAE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1969F770-20D2-6AAE-59F1-51C7E2CBF0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DB2F1DDD-2ADE-CA2B-31AB-27CDE8C149C7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06F83E6A-5723-3E1D-E4D2-44159606DA24}"/>
              </a:ext>
            </a:extLst>
          </p:cNvPr>
          <p:cNvSpPr txBox="1"/>
          <p:nvPr/>
        </p:nvSpPr>
        <p:spPr>
          <a:xfrm>
            <a:off x="1945914" y="6574275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F0964BE2-D095-6ED7-7E45-C6629B1787A4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B97E0F8C-80CD-9BED-FA55-C67AFA58A83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55F10FBA-2A2F-CB0B-B5A9-29A10F21233F}"/>
              </a:ext>
            </a:extLst>
          </p:cNvPr>
          <p:cNvSpPr txBox="1"/>
          <p:nvPr/>
        </p:nvSpPr>
        <p:spPr>
          <a:xfrm>
            <a:off x="-39756" y="639580"/>
            <a:ext cx="9162991" cy="1121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/>
              <a:t>Task 4: Scenario Simulation - File Verification Cont’d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1B7B8D-94BA-0CF7-0E38-214313F3AE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966" y="3732922"/>
            <a:ext cx="5714845" cy="238367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2AA4CB-F6B5-14B8-CA44-800EFA4798D6}"/>
              </a:ext>
            </a:extLst>
          </p:cNvPr>
          <p:cNvSpPr txBox="1"/>
          <p:nvPr/>
        </p:nvSpPr>
        <p:spPr>
          <a:xfrm>
            <a:off x="6647180" y="6075504"/>
            <a:ext cx="48501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Verification Failure’ This proves the file has been compromised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E5CF3-2FB1-7BB8-489D-4E3807B569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45" y="3663756"/>
            <a:ext cx="4950091" cy="250064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2B9722-BDB8-018F-C5D5-E0AB6FEB996C}"/>
              </a:ext>
            </a:extLst>
          </p:cNvPr>
          <p:cNvSpPr txBox="1"/>
          <p:nvPr/>
        </p:nvSpPr>
        <p:spPr>
          <a:xfrm>
            <a:off x="413033" y="6116596"/>
            <a:ext cx="51317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Aptos" panose="020B0004020202020204" pitchFamily="34" charset="0"/>
              </a:rPr>
              <a:t>S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hows ‘Verified OK’</a:t>
            </a:r>
            <a:r>
              <a:rPr lang="en-US" dirty="0">
                <a:latin typeface="Times New Roman" panose="02020603050405020304" pitchFamily="18" charset="0"/>
                <a:ea typeface="Aptos" panose="020B0004020202020204" pitchFamily="34" charset="0"/>
              </a:rPr>
              <a:t>: This proves that file hasn’t been compromised</a:t>
            </a:r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B8FA3F-BC0F-3632-7907-2C03E7A747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8180" y="1129422"/>
            <a:ext cx="5657675" cy="2176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67F941-E49E-62C3-EEC9-9881CDF9534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46" y="1282713"/>
            <a:ext cx="5415474" cy="204237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D3A2D1-5353-7285-1098-BC7D012EE844}"/>
              </a:ext>
            </a:extLst>
          </p:cNvPr>
          <p:cNvSpPr txBox="1"/>
          <p:nvPr/>
        </p:nvSpPr>
        <p:spPr>
          <a:xfrm>
            <a:off x="536144" y="3220273"/>
            <a:ext cx="25475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Private &amp; Public Key Generation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218A2C-8560-10D2-0461-A8616475086D}"/>
              </a:ext>
            </a:extLst>
          </p:cNvPr>
          <p:cNvSpPr txBox="1"/>
          <p:nvPr/>
        </p:nvSpPr>
        <p:spPr>
          <a:xfrm>
            <a:off x="6096000" y="3227257"/>
            <a:ext cx="5946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Using private key, sha-256 &amp; input msg produced output :Your digital signature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830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6F7FD8C3-DBAF-6F51-96C0-C78E28A8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>
            <a:extLst>
              <a:ext uri="{FF2B5EF4-FFF2-40B4-BE49-F238E27FC236}">
                <a16:creationId xmlns:a16="http://schemas.microsoft.com/office/drawing/2014/main" id="{E6119E5F-183E-EFB9-AA4F-82A994203D70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>
            <a:extLst>
              <a:ext uri="{FF2B5EF4-FFF2-40B4-BE49-F238E27FC236}">
                <a16:creationId xmlns:a16="http://schemas.microsoft.com/office/drawing/2014/main" id="{2270343A-31E7-4BC7-811A-A5D565BDF2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>
            <a:extLst>
              <a:ext uri="{FF2B5EF4-FFF2-40B4-BE49-F238E27FC236}">
                <a16:creationId xmlns:a16="http://schemas.microsoft.com/office/drawing/2014/main" id="{5367AADF-8A27-621A-6AC2-DC9D3F957B93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>
            <a:extLst>
              <a:ext uri="{FF2B5EF4-FFF2-40B4-BE49-F238E27FC236}">
                <a16:creationId xmlns:a16="http://schemas.microsoft.com/office/drawing/2014/main" id="{C8CF2063-C468-273A-C366-202BD3E81F39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4">
            <a:extLst>
              <a:ext uri="{FF2B5EF4-FFF2-40B4-BE49-F238E27FC236}">
                <a16:creationId xmlns:a16="http://schemas.microsoft.com/office/drawing/2014/main" id="{F9C2E746-E997-F180-9C5F-CE551B3C0C1A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22" name="Google Shape;122;p4">
            <a:extLst>
              <a:ext uri="{FF2B5EF4-FFF2-40B4-BE49-F238E27FC236}">
                <a16:creationId xmlns:a16="http://schemas.microsoft.com/office/drawing/2014/main" id="{71AA2A66-795E-E07B-430A-2DCF683437A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5CDD2A4C-C410-C5B7-2E90-F5EE4120DF3A}"/>
              </a:ext>
            </a:extLst>
          </p:cNvPr>
          <p:cNvSpPr txBox="1"/>
          <p:nvPr/>
        </p:nvSpPr>
        <p:spPr>
          <a:xfrm>
            <a:off x="148191" y="942157"/>
            <a:ext cx="6794714" cy="124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/>
              <a:t>Key Results and Observations</a:t>
            </a:r>
          </a:p>
          <a:p>
            <a:pPr marL="457200" marR="0" lvl="0" indent="-2794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24E62-737B-07C8-82E4-F90D1CE78732}"/>
              </a:ext>
            </a:extLst>
          </p:cNvPr>
          <p:cNvSpPr txBox="1"/>
          <p:nvPr/>
        </p:nvSpPr>
        <p:spPr>
          <a:xfrm>
            <a:off x="997654" y="1734670"/>
            <a:ext cx="1104615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Hash Sensitivity</a:t>
            </a:r>
          </a:p>
          <a:p>
            <a:pPr>
              <a:buNone/>
            </a:pPr>
            <a:r>
              <a:rPr lang="en-US" sz="2000" dirty="0"/>
              <a:t>Changing a single character in a file produces completely different hash values across MD5, SHA-256, and SHA-512</a:t>
            </a:r>
          </a:p>
          <a:p>
            <a:r>
              <a:rPr lang="en-US" sz="2000" b="1" dirty="0"/>
              <a:t>Encryption Effectiveness</a:t>
            </a:r>
          </a:p>
          <a:p>
            <a:r>
              <a:rPr lang="en-US" sz="2000" dirty="0"/>
              <a:t>AES-256 encryption made files completely inaccessible without correct password; mounting/dismounting process secured data</a:t>
            </a:r>
          </a:p>
          <a:p>
            <a:r>
              <a:rPr lang="en-US" sz="2000" b="1" dirty="0"/>
              <a:t>Asymmetric Security</a:t>
            </a:r>
          </a:p>
          <a:p>
            <a:r>
              <a:rPr lang="en-US" sz="2000" dirty="0"/>
              <a:t>RSA public-private key pairs enabled secure one-way encryption where anyone can encrypt but only key holder can decrypt</a:t>
            </a:r>
          </a:p>
          <a:p>
            <a:r>
              <a:rPr lang="en-US" sz="2000" b="1" dirty="0"/>
              <a:t>Digital Signature Verification</a:t>
            </a:r>
          </a:p>
          <a:p>
            <a:r>
              <a:rPr lang="en-US" sz="2000" dirty="0"/>
              <a:t>Signatures verified authenticity and integrity; tampering caused immediate verification failure</a:t>
            </a:r>
          </a:p>
          <a:p>
            <a:r>
              <a:rPr lang="en-US" sz="2000" b="1" dirty="0"/>
              <a:t>Algorithm Performance</a:t>
            </a:r>
          </a:p>
          <a:p>
            <a:r>
              <a:rPr lang="en-US" sz="2000" dirty="0"/>
              <a:t>SHA-256 offers best balance of security and speed; MD5 and SHA-1 are deprecated; RSA operations are computationally intensive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700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09330" y="919824"/>
            <a:ext cx="11748053" cy="65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</a:rPr>
              <a:t>Overall Summary</a:t>
            </a: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58B85-8CBF-D8E5-1050-5593C5BC26D8}"/>
              </a:ext>
            </a:extLst>
          </p:cNvPr>
          <p:cNvSpPr txBox="1"/>
          <p:nvPr/>
        </p:nvSpPr>
        <p:spPr>
          <a:xfrm>
            <a:off x="672423" y="1734670"/>
            <a:ext cx="1142096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Cryptographic Techniques Implemented</a:t>
            </a:r>
          </a:p>
          <a:p>
            <a:r>
              <a:rPr lang="en-US" sz="2000" dirty="0"/>
              <a:t>Successfully applied symmetric encryption (AES), asymmetric encryption (RSA), hashing (SHA-256/512, MD5), &amp; digital signatures</a:t>
            </a:r>
          </a:p>
          <a:p>
            <a:r>
              <a:rPr lang="en-US" sz="2000" b="1" dirty="0"/>
              <a:t>CIA Triad Coverage</a:t>
            </a:r>
          </a:p>
          <a:p>
            <a:r>
              <a:rPr lang="en-US" sz="2000" dirty="0"/>
              <a:t>Confidentiality through encryption, Integrity through hashing, and Authenticity through digital signatures and password protection</a:t>
            </a:r>
          </a:p>
          <a:p>
            <a:r>
              <a:rPr lang="en-US" sz="2000" b="1" dirty="0"/>
              <a:t>Real-World Applications</a:t>
            </a:r>
          </a:p>
          <a:p>
            <a:r>
              <a:rPr lang="en-US" sz="2000" dirty="0"/>
              <a:t>These techniques are essential for secure messaging, banking applications, password storage &amp; compliance with security standards like GDPR and HIPAA</a:t>
            </a:r>
          </a:p>
          <a:p>
            <a:r>
              <a:rPr lang="en-US" sz="2000" b="1" dirty="0"/>
              <a:t>Key Learnings</a:t>
            </a:r>
          </a:p>
          <a:p>
            <a:r>
              <a:rPr lang="en-US" sz="2000" dirty="0"/>
              <a:t>Security requires multiple techniques working together, no single method protects all aspects; key management is critical, modern algorithms must be used, verification is essential before trusting any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6456C795-5F4C-9DD9-957B-048C67E2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>
            <a:extLst>
              <a:ext uri="{FF2B5EF4-FFF2-40B4-BE49-F238E27FC236}">
                <a16:creationId xmlns:a16="http://schemas.microsoft.com/office/drawing/2014/main" id="{5BB8FC71-EA68-3102-A5B6-FA0BF0715EAC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>
            <a:extLst>
              <a:ext uri="{FF2B5EF4-FFF2-40B4-BE49-F238E27FC236}">
                <a16:creationId xmlns:a16="http://schemas.microsoft.com/office/drawing/2014/main" id="{C9D16AA1-8078-668F-B33A-4D3FFE9ADE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>
            <a:extLst>
              <a:ext uri="{FF2B5EF4-FFF2-40B4-BE49-F238E27FC236}">
                <a16:creationId xmlns:a16="http://schemas.microsoft.com/office/drawing/2014/main" id="{0493666B-C560-421C-A1C2-B5748F8BCF96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>
            <a:extLst>
              <a:ext uri="{FF2B5EF4-FFF2-40B4-BE49-F238E27FC236}">
                <a16:creationId xmlns:a16="http://schemas.microsoft.com/office/drawing/2014/main" id="{142648D8-418E-AE60-C0AB-8540146E9941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>
            <a:extLst>
              <a:ext uri="{FF2B5EF4-FFF2-40B4-BE49-F238E27FC236}">
                <a16:creationId xmlns:a16="http://schemas.microsoft.com/office/drawing/2014/main" id="{AF65E6DE-FFEE-C8DE-E8B5-412FD15DB518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44" name="Google Shape;144;p6">
            <a:extLst>
              <a:ext uri="{FF2B5EF4-FFF2-40B4-BE49-F238E27FC236}">
                <a16:creationId xmlns:a16="http://schemas.microsoft.com/office/drawing/2014/main" id="{1BF647C5-B7A9-8DB6-070E-2884328614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>
            <a:extLst>
              <a:ext uri="{FF2B5EF4-FFF2-40B4-BE49-F238E27FC236}">
                <a16:creationId xmlns:a16="http://schemas.microsoft.com/office/drawing/2014/main" id="{29564218-2409-F812-8CEC-12B95142A813}"/>
              </a:ext>
            </a:extLst>
          </p:cNvPr>
          <p:cNvSpPr txBox="1"/>
          <p:nvPr/>
        </p:nvSpPr>
        <p:spPr>
          <a:xfrm>
            <a:off x="109330" y="1232643"/>
            <a:ext cx="1174805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/>
              <a:t>Challenges and Solutions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B1EB2-0205-E86C-BA86-5ACBF7109113}"/>
              </a:ext>
            </a:extLst>
          </p:cNvPr>
          <p:cNvSpPr txBox="1"/>
          <p:nvPr/>
        </p:nvSpPr>
        <p:spPr>
          <a:xfrm>
            <a:off x="672423" y="2036228"/>
            <a:ext cx="1142096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Challenge: </a:t>
            </a:r>
          </a:p>
          <a:p>
            <a:pPr marL="342900" lvl="3" indent="-342900">
              <a:buFont typeface="Wingdings" panose="05000000000000000000" pitchFamily="2" charset="2"/>
              <a:buChar char="§"/>
            </a:pPr>
            <a:r>
              <a:rPr lang="en-US" sz="2000" dirty="0"/>
              <a:t> Key Management Complexity</a:t>
            </a:r>
          </a:p>
          <a:p>
            <a:pPr marL="342900" lvl="3" indent="-342900">
              <a:buFont typeface="Wingdings" panose="05000000000000000000" pitchFamily="2" charset="2"/>
              <a:buChar char="§"/>
            </a:pPr>
            <a:r>
              <a:rPr lang="en-US" sz="2000" dirty="0"/>
              <a:t>Performance Impact on Large Files</a:t>
            </a:r>
          </a:p>
          <a:p>
            <a:pPr marL="342900" lvl="3" indent="-342900">
              <a:buFont typeface="Wingdings" panose="05000000000000000000" pitchFamily="2" charset="2"/>
              <a:buChar char="§"/>
            </a:pPr>
            <a:r>
              <a:rPr lang="en-US" sz="2000" dirty="0"/>
              <a:t>Trust and Verification</a:t>
            </a:r>
          </a:p>
          <a:p>
            <a:pPr marL="342900" lvl="3" indent="-342900">
              <a:buFont typeface="Wingdings" panose="05000000000000000000" pitchFamily="2" charset="2"/>
              <a:buChar char="§"/>
            </a:pPr>
            <a:r>
              <a:rPr lang="en-US" sz="2000" dirty="0"/>
              <a:t>Algorithm Obsolescence</a:t>
            </a:r>
          </a:p>
          <a:p>
            <a:endParaRPr lang="en-US" sz="2000" dirty="0"/>
          </a:p>
          <a:p>
            <a:r>
              <a:rPr lang="en-US" sz="2000" b="1" dirty="0"/>
              <a:t>Solution: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Use password managers and hardware security keys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Hash files instead of encrypting entire content for signatures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Verify public keys through trusted authorities &amp; always check hashes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Use SHA-256/SHA-512/SHA-3 instead of SHA-1; use RSA-2048 minimum instead of RSA-1024</a:t>
            </a:r>
          </a:p>
        </p:txBody>
      </p:sp>
    </p:spTree>
    <p:extLst>
      <p:ext uri="{BB962C8B-B14F-4D97-AF65-F5344CB8AC3E}">
        <p14:creationId xmlns:p14="http://schemas.microsoft.com/office/powerpoint/2010/main" val="4063528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36BB4F0F-AE70-23A1-FC1C-DA18AA464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>
            <a:extLst>
              <a:ext uri="{FF2B5EF4-FFF2-40B4-BE49-F238E27FC236}">
                <a16:creationId xmlns:a16="http://schemas.microsoft.com/office/drawing/2014/main" id="{A41785C6-19CF-A178-4A19-E241424EFB17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>
            <a:extLst>
              <a:ext uri="{FF2B5EF4-FFF2-40B4-BE49-F238E27FC236}">
                <a16:creationId xmlns:a16="http://schemas.microsoft.com/office/drawing/2014/main" id="{2FE9C40F-2C56-B39A-91DE-60952E8399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>
            <a:extLst>
              <a:ext uri="{FF2B5EF4-FFF2-40B4-BE49-F238E27FC236}">
                <a16:creationId xmlns:a16="http://schemas.microsoft.com/office/drawing/2014/main" id="{53693FAD-4B59-DB91-D9A6-C078439E9042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>
            <a:extLst>
              <a:ext uri="{FF2B5EF4-FFF2-40B4-BE49-F238E27FC236}">
                <a16:creationId xmlns:a16="http://schemas.microsoft.com/office/drawing/2014/main" id="{FDC7D51F-05FF-A43A-8A30-B400DBBCFB0F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>
            <a:extLst>
              <a:ext uri="{FF2B5EF4-FFF2-40B4-BE49-F238E27FC236}">
                <a16:creationId xmlns:a16="http://schemas.microsoft.com/office/drawing/2014/main" id="{0950A3FB-2E78-0F0E-9D17-3C4165587612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44" name="Google Shape;144;p6">
            <a:extLst>
              <a:ext uri="{FF2B5EF4-FFF2-40B4-BE49-F238E27FC236}">
                <a16:creationId xmlns:a16="http://schemas.microsoft.com/office/drawing/2014/main" id="{ACF42446-6FA4-C20B-723C-91225CED71A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>
            <a:extLst>
              <a:ext uri="{FF2B5EF4-FFF2-40B4-BE49-F238E27FC236}">
                <a16:creationId xmlns:a16="http://schemas.microsoft.com/office/drawing/2014/main" id="{A7E15660-187B-AE72-FFD4-625DBDA0009F}"/>
              </a:ext>
            </a:extLst>
          </p:cNvPr>
          <p:cNvSpPr txBox="1"/>
          <p:nvPr/>
        </p:nvSpPr>
        <p:spPr>
          <a:xfrm>
            <a:off x="221972" y="1044392"/>
            <a:ext cx="1174805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 b="1" dirty="0"/>
              <a:t>Real-World Security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41D4A-60C1-1B19-17B6-33F6423CB889}"/>
              </a:ext>
            </a:extLst>
          </p:cNvPr>
          <p:cNvSpPr txBox="1"/>
          <p:nvPr/>
        </p:nvSpPr>
        <p:spPr>
          <a:xfrm>
            <a:off x="1456834" y="1961703"/>
            <a:ext cx="991016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Software Security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Verifying downloaded files match official hashes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Digital signatures on software updates, Secure patch deployment.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r>
              <a:rPr lang="en-US" sz="2000" b="1" dirty="0"/>
              <a:t>Financial Systems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Banking app encryption for account details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Password hashing for authentication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Digital signatures for transaction verification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r>
              <a:rPr lang="en-US" sz="2000" b="1" dirty="0"/>
              <a:t>Data Compliance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Meeting GDPR, HIPAA, and ISO 27001 requirements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Audit trail integrity verification, Secure cloud storage encryption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46545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D5EADBB9-8C1C-FE3D-D0BE-87CAF3A5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>
            <a:extLst>
              <a:ext uri="{FF2B5EF4-FFF2-40B4-BE49-F238E27FC236}">
                <a16:creationId xmlns:a16="http://schemas.microsoft.com/office/drawing/2014/main" id="{33A6B164-B053-C11B-7FC6-2C62FBFAB474}"/>
              </a:ext>
            </a:extLst>
          </p:cNvPr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>
            <a:extLst>
              <a:ext uri="{FF2B5EF4-FFF2-40B4-BE49-F238E27FC236}">
                <a16:creationId xmlns:a16="http://schemas.microsoft.com/office/drawing/2014/main" id="{9348CB06-4AD9-5EDC-2C94-3B83B2CAF1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>
            <a:extLst>
              <a:ext uri="{FF2B5EF4-FFF2-40B4-BE49-F238E27FC236}">
                <a16:creationId xmlns:a16="http://schemas.microsoft.com/office/drawing/2014/main" id="{19FE720D-A053-501D-EA0D-0FE919E38155}"/>
              </a:ext>
            </a:extLst>
          </p:cNvPr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>
            <a:extLst>
              <a:ext uri="{FF2B5EF4-FFF2-40B4-BE49-F238E27FC236}">
                <a16:creationId xmlns:a16="http://schemas.microsoft.com/office/drawing/2014/main" id="{92F9DE06-B2A9-B1DA-E46F-7B3E6527CF84}"/>
              </a:ext>
            </a:extLst>
          </p:cNvPr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>
            <a:extLst>
              <a:ext uri="{FF2B5EF4-FFF2-40B4-BE49-F238E27FC236}">
                <a16:creationId xmlns:a16="http://schemas.microsoft.com/office/drawing/2014/main" id="{916BAE83-826C-DC92-E0C5-3D526604124D}"/>
              </a:ext>
            </a:extLst>
          </p:cNvPr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44" name="Google Shape;144;p6">
            <a:extLst>
              <a:ext uri="{FF2B5EF4-FFF2-40B4-BE49-F238E27FC236}">
                <a16:creationId xmlns:a16="http://schemas.microsoft.com/office/drawing/2014/main" id="{8CDEB569-774B-F2FF-842F-C88A13DB90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>
            <a:extLst>
              <a:ext uri="{FF2B5EF4-FFF2-40B4-BE49-F238E27FC236}">
                <a16:creationId xmlns:a16="http://schemas.microsoft.com/office/drawing/2014/main" id="{3C1D4B09-4FAA-DA6D-96D6-701AE3F9022E}"/>
              </a:ext>
            </a:extLst>
          </p:cNvPr>
          <p:cNvSpPr txBox="1"/>
          <p:nvPr/>
        </p:nvSpPr>
        <p:spPr>
          <a:xfrm>
            <a:off x="109330" y="1232643"/>
            <a:ext cx="11748053" cy="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 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606E6F-5567-8906-A23D-649CF0AD9A42}"/>
              </a:ext>
            </a:extLst>
          </p:cNvPr>
          <p:cNvSpPr txBox="1"/>
          <p:nvPr/>
        </p:nvSpPr>
        <p:spPr>
          <a:xfrm>
            <a:off x="1138518" y="2334902"/>
            <a:ext cx="1036864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Understanding file integrity and security is crucial in the digital age.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Continuous learning and adaptation to new threats are essential for cybersecurity.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Hashing detects any tampering; digital signatures verify both sender identity and content integrity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As cybersecurity professionals, Security is not about one perfect solution but about layering multiple protections to create comprehensive defense.</a:t>
            </a:r>
          </a:p>
        </p:txBody>
      </p:sp>
    </p:spTree>
    <p:extLst>
      <p:ext uri="{BB962C8B-B14F-4D97-AF65-F5344CB8AC3E}">
        <p14:creationId xmlns:p14="http://schemas.microsoft.com/office/powerpoint/2010/main" val="3721100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55" name="Google Shape;15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221972" y="1066013"/>
            <a:ext cx="11748053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 &amp; Resources </a:t>
            </a:r>
            <a:endParaRPr sz="2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5D529-B385-7DE0-CE06-D084597587D5}"/>
              </a:ext>
            </a:extLst>
          </p:cNvPr>
          <p:cNvSpPr txBox="1"/>
          <p:nvPr/>
        </p:nvSpPr>
        <p:spPr>
          <a:xfrm>
            <a:off x="1908107" y="1567522"/>
            <a:ext cx="7711084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Tools: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CyberChef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HashCalc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dirty="0"/>
              <a:t>VeraCrypt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RSA Key Generator.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/>
              <a:t>Standards and Algorithms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AES (Advanced Encryption Standard) - NIST FIPS 197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SHA-256/512 (Secure Hash Algorithm) - NIST FIPS 180-4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RSA (Rivest-Shamir-Adleman) - Public Key Cryptography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b="1" dirty="0"/>
              <a:t>Security Frameworks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CIA Triad - Confidentiality, Integrity, Availability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/>
              <a:t>GDPR - General Data Protection Regulation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dirty="0"/>
              <a:t>ISO 27001 - Information Security Management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b="1" dirty="0"/>
              <a:t>Project Files;</a:t>
            </a:r>
            <a:r>
              <a:rPr lang="en-US" altLang="en-US" dirty="0"/>
              <a:t> Google drive detailed notes, screenshots and video on tasks</a:t>
            </a:r>
            <a:endParaRPr lang="en-US" b="1" dirty="0"/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/>
              <a:t>Data Protection with Encryption (Project 3.1)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/>
              <a:t>Hashing and Integrity Checking (Project 3.2)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/>
              <a:t>Public Key Encryption – Secure Messaging (Project 3.3)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dirty="0"/>
              <a:t>Scenario Simulation – File Verification (Project 3.4)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-39756" y="-25341"/>
            <a:ext cx="10067365" cy="488589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CAPSTONE PROJECT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-3" y="528340"/>
            <a:ext cx="10067365" cy="16194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138518" y="6472519"/>
            <a:ext cx="76020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</a:t>
            </a:r>
            <a:r>
              <a:rPr lang="en-US" sz="18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techcrush</a:t>
            </a: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shouldn’t be shared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8"/>
          <p:cNvPicPr preferRelativeResize="0"/>
          <p:nvPr/>
        </p:nvPicPr>
        <p:blipFill rotWithShape="1">
          <a:blip r:embed="rId3">
            <a:alphaModFix amt="26000"/>
          </a:blip>
          <a:srcRect/>
          <a:stretch/>
        </p:blipFill>
        <p:spPr>
          <a:xfrm>
            <a:off x="825004" y="1951993"/>
            <a:ext cx="10541991" cy="2804748"/>
          </a:xfrm>
          <a:prstGeom prst="rect">
            <a:avLst/>
          </a:prstGeom>
          <a:noFill/>
          <a:ln>
            <a:noFill/>
          </a:ln>
          <a:effectLst>
            <a:outerShdw dist="50800" sx="1000" sy="1000" algn="ctr" rotWithShape="0">
              <a:srgbClr val="000000"/>
            </a:outerShdw>
          </a:effectLst>
        </p:spPr>
      </p:pic>
      <p:pic>
        <p:nvPicPr>
          <p:cNvPr id="166" name="Google Shape;16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6453" y="1232642"/>
            <a:ext cx="502028" cy="50202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 txBox="1"/>
          <p:nvPr/>
        </p:nvSpPr>
        <p:spPr>
          <a:xfrm>
            <a:off x="-1409815" y="2160121"/>
            <a:ext cx="11477177" cy="1695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lang="en-US"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9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8086FB-15EA-466C-94B2-8D454EC2F55E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1823</Words>
  <Application>Microsoft Office PowerPoint</Application>
  <PresentationFormat>Widescreen</PresentationFormat>
  <Paragraphs>246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Olaniyi Eluwole</dc:creator>
  <cp:lastModifiedBy>hanifa salihu</cp:lastModifiedBy>
  <cp:revision>7</cp:revision>
  <dcterms:created xsi:type="dcterms:W3CDTF">2024-10-09T19:59:03Z</dcterms:created>
  <dcterms:modified xsi:type="dcterms:W3CDTF">2025-12-15T07:56:05Z</dcterms:modified>
</cp:coreProperties>
</file>