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8" r:id="rId3"/>
    <p:sldId id="259" r:id="rId4"/>
    <p:sldId id="264" r:id="rId5"/>
    <p:sldId id="260" r:id="rId6"/>
    <p:sldId id="261" r:id="rId7"/>
    <p:sldId id="268" r:id="rId8"/>
    <p:sldId id="269" r:id="rId9"/>
    <p:sldId id="272" r:id="rId10"/>
    <p:sldId id="271" r:id="rId11"/>
    <p:sldId id="267" r:id="rId12"/>
    <p:sldId id="266" r:id="rId13"/>
    <p:sldId id="276" r:id="rId14"/>
    <p:sldId id="273" r:id="rId15"/>
    <p:sldId id="262" r:id="rId16"/>
    <p:sldId id="275" r:id="rId17"/>
    <p:sldId id="274" r:id="rId18"/>
    <p:sldId id="263" r:id="rId19"/>
    <p:sldId id="277" r:id="rId20"/>
    <p:sldId id="278"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jBb122vIqdX3IgMWKn3EVI0zoJ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sorterViewPr>
    <p:cViewPr>
      <p:scale>
        <a:sx n="100" d="100"/>
        <a:sy n="100" d="100"/>
      </p:scale>
      <p:origin x="0" y="-10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7497538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6351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85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0256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7974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855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250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3366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5393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1462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7003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4089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7769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269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2264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3637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293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2588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4621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3864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685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8"/>
          <p:cNvSpPr>
            <a:spLocks noGrp="1"/>
          </p:cNvSpPr>
          <p:nvPr>
            <p:ph type="pic" idx="2"/>
          </p:nvPr>
        </p:nvSpPr>
        <p:spPr>
          <a:xfrm>
            <a:off x="5183188" y="987425"/>
            <a:ext cx="6172200" cy="4873625"/>
          </a:xfrm>
          <a:prstGeom prst="rect">
            <a:avLst/>
          </a:prstGeom>
          <a:noFill/>
          <a:ln>
            <a:noFill/>
          </a:ln>
        </p:spPr>
      </p:sp>
      <p:sp>
        <p:nvSpPr>
          <p:cNvPr id="64" name="Google Shape;64;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ftp://10.42.4.150/"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mailto:lexnoire@10.42.4.150" TargetMode="External"/><Relationship Id="rId5" Type="http://schemas.openxmlformats.org/officeDocument/2006/relationships/image" Target="../media/image7.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85" name="Google Shape;85;p1"/>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86" name="Google Shape;86;p1"/>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1"/>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88" name="Google Shape;88;p1"/>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89" name="Google Shape;89;p1"/>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90" name="Google Shape;90;p1"/>
          <p:cNvSpPr txBox="1"/>
          <p:nvPr/>
        </p:nvSpPr>
        <p:spPr>
          <a:xfrm>
            <a:off x="-825005" y="1056283"/>
            <a:ext cx="12192000" cy="5835853"/>
          </a:xfrm>
          <a:prstGeom prst="rect">
            <a:avLst/>
          </a:prstGeom>
          <a:noFill/>
          <a:ln>
            <a:noFill/>
          </a:ln>
        </p:spPr>
        <p:txBody>
          <a:bodyPr spcFirstLastPara="1" wrap="square" lIns="91425" tIns="45700" rIns="91425" bIns="45700" anchor="t" anchorCtr="0">
            <a:spAutoFit/>
          </a:bodyPr>
          <a:lstStyle/>
          <a:p>
            <a:pPr marL="457200" marR="0" lvl="0" indent="457200" algn="ctr" rtl="0">
              <a:lnSpc>
                <a:spcPct val="114000"/>
              </a:lnSpc>
              <a:spcBef>
                <a:spcPts val="0"/>
              </a:spcBef>
              <a:spcAft>
                <a:spcPts val="0"/>
              </a:spcAft>
              <a:buClr>
                <a:srgbClr val="000000"/>
              </a:buClr>
              <a:buSzPts val="4800"/>
              <a:buFont typeface="Arial"/>
              <a:buNone/>
            </a:pPr>
            <a:br>
              <a:rPr lang="en-US" sz="4800" b="1" i="0" u="none" strike="noStrike" cap="none" dirty="0">
                <a:solidFill>
                  <a:schemeClr val="dk1"/>
                </a:solidFill>
                <a:latin typeface="Arial"/>
                <a:ea typeface="Arial"/>
                <a:cs typeface="Arial"/>
                <a:sym typeface="Arial"/>
              </a:rPr>
            </a:br>
            <a:r>
              <a:rPr lang="en-US" sz="4800" b="1" i="0" u="none" strike="noStrike" cap="none" dirty="0" err="1">
                <a:solidFill>
                  <a:schemeClr val="dk1"/>
                </a:solidFill>
                <a:latin typeface="Arial"/>
                <a:ea typeface="Arial"/>
                <a:cs typeface="Arial"/>
                <a:sym typeface="Arial"/>
              </a:rPr>
              <a:t>TechCrush</a:t>
            </a:r>
            <a:r>
              <a:rPr lang="en-US" sz="4800" b="1" i="0" u="none" strike="noStrike" cap="none" dirty="0">
                <a:solidFill>
                  <a:schemeClr val="dk1"/>
                </a:solidFill>
                <a:latin typeface="Arial"/>
                <a:ea typeface="Arial"/>
                <a:cs typeface="Arial"/>
                <a:sym typeface="Arial"/>
              </a:rPr>
              <a:t> Capstone Project </a:t>
            </a:r>
            <a:endParaRPr sz="1400" b="0" i="0" u="none" strike="noStrike" cap="none" dirty="0">
              <a:solidFill>
                <a:srgbClr val="000000"/>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4800"/>
              <a:buFont typeface="Arial"/>
              <a:buNone/>
            </a:pPr>
            <a:r>
              <a:rPr lang="en-US" sz="4800" b="1" dirty="0">
                <a:solidFill>
                  <a:schemeClr val="dk1"/>
                </a:solidFill>
              </a:rPr>
              <a:t>TOPIC 4: </a:t>
            </a:r>
          </a:p>
          <a:p>
            <a:pPr marL="457200" marR="0" lvl="0" indent="457200" algn="ctr" rtl="0">
              <a:lnSpc>
                <a:spcPct val="114000"/>
              </a:lnSpc>
              <a:spcBef>
                <a:spcPts val="800"/>
              </a:spcBef>
              <a:spcAft>
                <a:spcPts val="0"/>
              </a:spcAft>
              <a:buClr>
                <a:srgbClr val="000000"/>
              </a:buClr>
              <a:buSzPts val="4800"/>
              <a:buFont typeface="Arial"/>
              <a:buNone/>
            </a:pPr>
            <a:r>
              <a:rPr lang="en-US" sz="4800" b="1" dirty="0">
                <a:solidFill>
                  <a:schemeClr val="dk1"/>
                </a:solidFill>
              </a:rPr>
              <a:t>DEMONSTRATING FTP vs. SFTP SECURITY</a:t>
            </a:r>
            <a:endParaRPr sz="4800" b="1" i="0" u="none" strike="noStrike" cap="none" dirty="0">
              <a:solidFill>
                <a:schemeClr val="dk1"/>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3200"/>
              <a:buFont typeface="Arial"/>
              <a:buNone/>
            </a:pPr>
            <a:endParaRPr sz="3200" b="1" i="0" u="none" strike="noStrike" cap="none" dirty="0">
              <a:solidFill>
                <a:schemeClr val="dk1"/>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3200"/>
              <a:buFont typeface="Arial"/>
              <a:buNone/>
            </a:pPr>
            <a:r>
              <a:rPr lang="en-US" sz="3200" b="1" i="0" u="none" strike="noStrike" cap="none" dirty="0">
                <a:solidFill>
                  <a:schemeClr val="dk1"/>
                </a:solidFill>
                <a:latin typeface="Arial"/>
                <a:ea typeface="Arial"/>
                <a:cs typeface="Arial"/>
                <a:sym typeface="Arial"/>
              </a:rPr>
              <a:t>						         </a:t>
            </a:r>
            <a:endParaRPr sz="2000" b="1"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chemeClr val="lt1"/>
                </a:solidFill>
                <a:latin typeface="Calibri"/>
                <a:ea typeface="Calibri"/>
                <a:cs typeface="Calibri"/>
                <a:sym typeface="Calibri"/>
              </a:rPr>
              <a:t>CAPSTONE PROJECT</a:t>
            </a:r>
            <a:endParaRPr sz="1400" b="0" i="0" u="none" strike="noStrike" cap="none" dirty="0">
              <a:solidFill>
                <a:srgbClr val="000000"/>
              </a:solidFill>
              <a:latin typeface="Arial"/>
              <a:ea typeface="Arial"/>
              <a:cs typeface="Arial"/>
              <a:sym typeface="Arial"/>
            </a:endParaRPr>
          </a:p>
        </p:txBody>
      </p:sp>
      <p:pic>
        <p:nvPicPr>
          <p:cNvPr id="107" name="Google Shape;107;p3"/>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08" name="Google Shape;108;p3"/>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 name="Google Shape;109;p3"/>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10" name="Google Shape;110;p3"/>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11" name="Google Shape;111;p3"/>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12" name="Google Shape;112;p3"/>
          <p:cNvSpPr txBox="1"/>
          <p:nvPr/>
        </p:nvSpPr>
        <p:spPr>
          <a:xfrm>
            <a:off x="-39756" y="642008"/>
            <a:ext cx="10863618" cy="6303224"/>
          </a:xfrm>
          <a:prstGeom prst="rect">
            <a:avLst/>
          </a:prstGeom>
          <a:noFill/>
          <a:ln>
            <a:noFill/>
          </a:ln>
        </p:spPr>
        <p:txBody>
          <a:bodyPr spcFirstLastPara="1" wrap="square" lIns="91425" tIns="45700" rIns="91425" bIns="45700" anchor="t" anchorCtr="0">
            <a:spAutoFit/>
          </a:bodyPr>
          <a:lstStyle/>
          <a:p>
            <a:pPr marR="0" lvl="0" algn="l" rtl="0">
              <a:lnSpc>
                <a:spcPct val="115000"/>
              </a:lnSpc>
              <a:spcBef>
                <a:spcPts val="0"/>
              </a:spcBef>
              <a:spcAft>
                <a:spcPts val="0"/>
              </a:spcAft>
              <a:buClr>
                <a:srgbClr val="000000"/>
              </a:buClr>
              <a:buSzPts val="3200"/>
            </a:pPr>
            <a:r>
              <a:rPr lang="en-US" sz="2400" b="1" i="0" u="none" strike="noStrike" cap="none" dirty="0">
                <a:solidFill>
                  <a:schemeClr val="dk1"/>
                </a:solidFill>
                <a:sym typeface="Arial"/>
              </a:rPr>
              <a:t>Outline                                                                                                                                                            </a:t>
            </a: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US" sz="1600" b="1" dirty="0">
                <a:solidFill>
                  <a:schemeClr val="dk1"/>
                </a:solidFill>
              </a:rPr>
              <a:t>TITLE</a:t>
            </a:r>
            <a:endParaRPr lang="en-US" sz="1600" b="1" i="0" u="none" strike="noStrike" cap="none" dirty="0">
              <a:solidFill>
                <a:schemeClr val="dk1"/>
              </a:solidFill>
              <a:sym typeface="Arial"/>
            </a:endParaRP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US" sz="1600" b="1" i="0" u="none" strike="noStrike" cap="none" dirty="0">
                <a:solidFill>
                  <a:schemeClr val="dk1"/>
                </a:solidFill>
                <a:sym typeface="Arial"/>
              </a:rPr>
              <a:t> AIM AND OBJECTIVE </a:t>
            </a:r>
            <a:endParaRPr sz="1600" b="0" i="0" u="none" strike="noStrike" cap="none" dirty="0">
              <a:solidFill>
                <a:srgbClr val="000000"/>
              </a:solidFill>
              <a:sym typeface="Arial"/>
            </a:endParaRP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US" sz="1600" b="1" i="0" u="none" strike="noStrike" cap="none" dirty="0">
                <a:solidFill>
                  <a:schemeClr val="dk1"/>
                </a:solidFill>
                <a:sym typeface="Arial"/>
              </a:rPr>
              <a:t>METHODOLOGY </a:t>
            </a:r>
            <a:endParaRPr lang="en-US" sz="1600" dirty="0"/>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GB" sz="1600" b="1" i="0" u="none" strike="noStrike" cap="none" dirty="0">
                <a:solidFill>
                  <a:schemeClr val="dk1"/>
                </a:solidFill>
                <a:sym typeface="Arial"/>
              </a:rPr>
              <a:t>CONCEPT OF PROJECT</a:t>
            </a:r>
            <a:endParaRPr lang="en-GB" sz="1600" dirty="0"/>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GB" sz="1600" b="1" i="0" u="none" strike="noStrike" cap="none" dirty="0">
                <a:solidFill>
                  <a:schemeClr val="dk1"/>
                </a:solidFill>
                <a:sym typeface="Arial"/>
              </a:rPr>
              <a:t>TOOLS USED</a:t>
            </a: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GB" sz="1600" b="1" dirty="0">
                <a:solidFill>
                  <a:schemeClr val="dk1"/>
                </a:solidFill>
              </a:rPr>
              <a:t>FTP SETUP AND CONFIGURATION</a:t>
            </a:r>
          </a:p>
          <a:p>
            <a:pPr marL="457200" indent="-457200">
              <a:lnSpc>
                <a:spcPct val="115000"/>
              </a:lnSpc>
              <a:spcBef>
                <a:spcPts val="800"/>
              </a:spcBef>
              <a:buClr>
                <a:schemeClr val="dk1"/>
              </a:buClr>
              <a:buSzPts val="3200"/>
              <a:buFont typeface="Wingdings" panose="05000000000000000000" pitchFamily="2" charset="2"/>
              <a:buChar char="§"/>
            </a:pPr>
            <a:r>
              <a:rPr lang="en-GB" sz="1600" b="1" dirty="0"/>
              <a:t>FTP DATA EXPOSURE PROCESS</a:t>
            </a:r>
            <a:endParaRPr lang="en-GB" sz="1600" b="1" dirty="0">
              <a:solidFill>
                <a:schemeClr val="dk1"/>
              </a:solidFill>
            </a:endParaRP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GB" sz="1600" b="1" dirty="0">
                <a:solidFill>
                  <a:schemeClr val="dk1"/>
                </a:solidFill>
              </a:rPr>
              <a:t>SFTP CONFIGURATION, EXECUTION AND FILE TRANSFER</a:t>
            </a: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GB" sz="1600" b="1" dirty="0">
                <a:solidFill>
                  <a:schemeClr val="dk1"/>
                </a:solidFill>
              </a:rPr>
              <a:t>SFTP ENCRYPTION MECHANISM</a:t>
            </a: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GB" sz="1600" b="1" i="0" u="none" strike="noStrike" cap="none" dirty="0">
                <a:solidFill>
                  <a:schemeClr val="dk1"/>
                </a:solidFill>
                <a:sym typeface="Arial"/>
              </a:rPr>
              <a:t>REFLECTION – WHY SECURE PROTOCOLS MATTER </a:t>
            </a:r>
            <a:endParaRPr lang="en-GB" sz="1600" b="0" i="0" u="none" strike="noStrike" cap="none" dirty="0">
              <a:solidFill>
                <a:srgbClr val="000000"/>
              </a:solidFill>
              <a:sym typeface="Arial"/>
            </a:endParaRP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US" sz="1600" b="1" i="0" u="none" strike="noStrike" cap="none" dirty="0">
                <a:solidFill>
                  <a:schemeClr val="dk1"/>
                </a:solidFill>
                <a:sym typeface="Arial"/>
              </a:rPr>
              <a:t>Conclusion </a:t>
            </a:r>
            <a:endParaRPr sz="1600" b="0" i="0" u="none" strike="noStrike" cap="none" dirty="0">
              <a:solidFill>
                <a:srgbClr val="000000"/>
              </a:solidFill>
              <a:sym typeface="Arial"/>
            </a:endParaRP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US" sz="1600" b="1" i="0" u="none" strike="noStrike" cap="none" dirty="0">
                <a:solidFill>
                  <a:schemeClr val="dk1"/>
                </a:solidFill>
                <a:sym typeface="Arial"/>
              </a:rPr>
              <a:t>References</a:t>
            </a:r>
          </a:p>
          <a:p>
            <a:pPr marL="457200" marR="0" lvl="0" indent="-457200" algn="l" rtl="0">
              <a:lnSpc>
                <a:spcPct val="115000"/>
              </a:lnSpc>
              <a:spcBef>
                <a:spcPts val="800"/>
              </a:spcBef>
              <a:spcAft>
                <a:spcPts val="0"/>
              </a:spcAft>
              <a:buClr>
                <a:schemeClr val="dk1"/>
              </a:buClr>
              <a:buSzPts val="3200"/>
              <a:buFont typeface="Wingdings" panose="05000000000000000000" pitchFamily="2" charset="2"/>
              <a:buChar char="§"/>
            </a:pPr>
            <a:r>
              <a:rPr lang="en-US" sz="1600" b="1" dirty="0">
                <a:solidFill>
                  <a:schemeClr val="dk1"/>
                </a:solidFill>
              </a:rPr>
              <a:t>THANK YOU</a:t>
            </a:r>
            <a:endParaRPr sz="1600" b="1" i="0" u="none" strike="noStrike" cap="none" dirty="0">
              <a:solidFill>
                <a:schemeClr val="dk1"/>
              </a:solidFill>
              <a:sym typeface="Arial"/>
            </a:endParaRPr>
          </a:p>
          <a:p>
            <a:pPr marL="457200" marR="0" lvl="0" indent="-254000" algn="l" rtl="0">
              <a:lnSpc>
                <a:spcPct val="115000"/>
              </a:lnSpc>
              <a:spcBef>
                <a:spcPts val="800"/>
              </a:spcBef>
              <a:spcAft>
                <a:spcPts val="0"/>
              </a:spcAft>
              <a:buClr>
                <a:schemeClr val="dk1"/>
              </a:buClr>
              <a:buSzPts val="3200"/>
              <a:buFont typeface="Arial"/>
              <a:buNone/>
            </a:pPr>
            <a:endParaRPr sz="1600" b="0" i="0" u="none" strike="noStrike" cap="none" dirty="0">
              <a:solidFill>
                <a:schemeClr val="dk1"/>
              </a:solidFill>
              <a:sym typeface="Arial"/>
            </a:endParaRPr>
          </a:p>
          <a:p>
            <a:pPr marL="0" marR="0" lvl="0" indent="0" algn="l" rtl="0">
              <a:lnSpc>
                <a:spcPct val="115000"/>
              </a:lnSpc>
              <a:spcBef>
                <a:spcPts val="800"/>
              </a:spcBef>
              <a:spcAft>
                <a:spcPts val="0"/>
              </a:spcAft>
              <a:buClr>
                <a:srgbClr val="000000"/>
              </a:buClr>
              <a:buSzPts val="3200"/>
              <a:buFont typeface="Arial"/>
              <a:buNone/>
            </a:pPr>
            <a:endParaRPr sz="1600" b="0" i="0" u="none" strike="noStrike" cap="none" dirty="0">
              <a:solidFill>
                <a:schemeClr val="dk1"/>
              </a:solidFil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p:cNvSpPr txBox="1"/>
          <p:nvPr/>
        </p:nvSpPr>
        <p:spPr>
          <a:xfrm>
            <a:off x="0" y="1232642"/>
            <a:ext cx="11748053" cy="359273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000" b="1" dirty="0">
                <a:solidFill>
                  <a:schemeClr val="dk1"/>
                </a:solidFill>
              </a:rPr>
              <a:t>Title:-</a:t>
            </a:r>
          </a:p>
          <a:p>
            <a:pPr marL="0" marR="0" lvl="0" indent="0" algn="l" rtl="0">
              <a:lnSpc>
                <a:spcPct val="115000"/>
              </a:lnSpc>
              <a:spcBef>
                <a:spcPts val="0"/>
              </a:spcBef>
              <a:spcAft>
                <a:spcPts val="0"/>
              </a:spcAft>
              <a:buClr>
                <a:srgbClr val="000000"/>
              </a:buClr>
              <a:buSzPts val="2800"/>
              <a:buFont typeface="Arial"/>
              <a:buNone/>
            </a:pPr>
            <a:r>
              <a:rPr lang="en-US" sz="2800" b="1" i="0" u="none" strike="noStrike" cap="none" dirty="0">
                <a:solidFill>
                  <a:schemeClr val="dk1"/>
                </a:solidFill>
                <a:latin typeface="Arial"/>
                <a:ea typeface="Arial"/>
                <a:cs typeface="Arial"/>
                <a:sym typeface="Arial"/>
              </a:rPr>
              <a:t>          </a:t>
            </a:r>
            <a:r>
              <a:rPr lang="en-US" sz="3200" b="1" i="0" u="none" strike="noStrike" cap="none" dirty="0">
                <a:solidFill>
                  <a:schemeClr val="dk1"/>
                </a:solidFill>
                <a:sym typeface="Arial"/>
              </a:rPr>
              <a:t>Data in Transit; Comparative Analysis Demonstrating </a:t>
            </a:r>
          </a:p>
          <a:p>
            <a:pPr marL="457200" marR="0" lvl="0" indent="-457200" algn="l" rtl="0">
              <a:lnSpc>
                <a:spcPct val="115000"/>
              </a:lnSpc>
              <a:spcBef>
                <a:spcPts val="0"/>
              </a:spcBef>
              <a:spcAft>
                <a:spcPts val="0"/>
              </a:spcAft>
              <a:buClr>
                <a:srgbClr val="000000"/>
              </a:buClr>
              <a:buSzPts val="2800"/>
              <a:buFont typeface="Arial" panose="020B0604020202020204" pitchFamily="34" charset="0"/>
              <a:buChar char="•"/>
            </a:pPr>
            <a:r>
              <a:rPr lang="en-GB" sz="3200" b="1" dirty="0">
                <a:solidFill>
                  <a:schemeClr val="dk1"/>
                </a:solidFill>
              </a:rPr>
              <a:t>                                 FTP exposure</a:t>
            </a:r>
          </a:p>
          <a:p>
            <a:pPr lvl="0">
              <a:lnSpc>
                <a:spcPct val="115000"/>
              </a:lnSpc>
              <a:buSzPts val="2800"/>
            </a:pPr>
            <a:r>
              <a:rPr lang="en-GB" sz="2800" dirty="0">
                <a:solidFill>
                  <a:schemeClr val="dk1"/>
                </a:solidFill>
              </a:rPr>
              <a:t>                                                   </a:t>
            </a:r>
            <a:r>
              <a:rPr lang="en-GB" sz="2800" dirty="0" err="1">
                <a:solidFill>
                  <a:schemeClr val="dk1"/>
                </a:solidFill>
              </a:rPr>
              <a:t>vs</a:t>
            </a:r>
            <a:r>
              <a:rPr lang="en-GB" sz="2800" dirty="0">
                <a:solidFill>
                  <a:schemeClr val="dk1"/>
                </a:solidFill>
              </a:rPr>
              <a:t> </a:t>
            </a:r>
          </a:p>
          <a:p>
            <a:pPr lvl="0">
              <a:lnSpc>
                <a:spcPct val="115000"/>
              </a:lnSpc>
              <a:buSzPts val="2800"/>
            </a:pPr>
            <a:r>
              <a:rPr lang="en-GB" sz="2800" b="1" dirty="0">
                <a:solidFill>
                  <a:schemeClr val="dk1"/>
                </a:solidFill>
              </a:rPr>
              <a:t>                                      </a:t>
            </a:r>
            <a:r>
              <a:rPr lang="en-GB" sz="3200" b="1" dirty="0">
                <a:solidFill>
                  <a:schemeClr val="dk1"/>
                </a:solidFill>
              </a:rPr>
              <a:t>SFTP encryption</a:t>
            </a:r>
            <a:r>
              <a:rPr lang="en-US" sz="3200" b="1" dirty="0">
                <a:solidFill>
                  <a:schemeClr val="dk1"/>
                </a:solidFill>
              </a:rPr>
              <a:t>     </a:t>
            </a:r>
            <a:r>
              <a:rPr lang="en-US" sz="3200" b="1" i="0" u="none" strike="noStrike" cap="none" dirty="0">
                <a:solidFill>
                  <a:schemeClr val="dk1"/>
                </a:solidFill>
                <a:sym typeface="Arial"/>
              </a:rPr>
              <a:t> </a:t>
            </a:r>
            <a:endParaRPr sz="3200" b="1" i="0" u="none" strike="noStrike" cap="none" dirty="0">
              <a:solidFill>
                <a:srgbClr val="000000"/>
              </a:solidFil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21" name="Google Shape;121;p4"/>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p:cNvSpPr txBox="1"/>
          <p:nvPr/>
        </p:nvSpPr>
        <p:spPr>
          <a:xfrm>
            <a:off x="-3" y="974644"/>
            <a:ext cx="11748053" cy="568254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Aim</a:t>
            </a:r>
            <a:r>
              <a:rPr lang="en-US" sz="2800" b="1" i="0" u="none" strike="noStrike" cap="none" dirty="0">
                <a:solidFill>
                  <a:schemeClr val="dk1"/>
                </a:solidFill>
                <a:latin typeface="Arial"/>
                <a:ea typeface="Arial"/>
                <a:cs typeface="Arial"/>
                <a:sym typeface="Arial"/>
              </a:rPr>
              <a:t> </a:t>
            </a:r>
            <a:endParaRPr lang="en-US" sz="2400" b="1" i="0" u="none" strike="noStrike" cap="none" dirty="0">
              <a:solidFill>
                <a:schemeClr val="dk1"/>
              </a:solidFill>
              <a:sym typeface="Arial"/>
            </a:endParaRPr>
          </a:p>
          <a:p>
            <a:pPr lvl="0" algn="ctr">
              <a:lnSpc>
                <a:spcPct val="115000"/>
              </a:lnSpc>
              <a:buSzPts val="2800"/>
            </a:pPr>
            <a:r>
              <a:rPr lang="en-US" sz="2400" b="1" dirty="0">
                <a:solidFill>
                  <a:schemeClr val="dk1"/>
                </a:solidFill>
              </a:rPr>
              <a:t>           </a:t>
            </a:r>
            <a:r>
              <a:rPr lang="en-US" sz="2400" dirty="0">
                <a:solidFill>
                  <a:schemeClr val="dk1"/>
                </a:solidFill>
              </a:rPr>
              <a:t>To illustrate the</a:t>
            </a:r>
            <a:r>
              <a:rPr lang="en-GB" sz="2400" dirty="0">
                <a:solidFill>
                  <a:schemeClr val="dk1"/>
                </a:solidFill>
              </a:rPr>
              <a:t> risks of plaintext FTP transfers and how SFTP (via SSH) secures credentials and file contents.</a:t>
            </a:r>
            <a:endParaRPr lang="en-US" sz="2400" i="0" u="none" strike="noStrike" cap="none" dirty="0">
              <a:solidFill>
                <a:schemeClr val="dk1"/>
              </a:solidFill>
              <a:sym typeface="Arial"/>
            </a:endParaRPr>
          </a:p>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Objectives </a:t>
            </a:r>
          </a:p>
          <a:p>
            <a:pPr marL="342900" lvl="0" indent="-342900">
              <a:buSzPts val="2800"/>
              <a:buFont typeface="Arial" panose="020B0604020202020204" pitchFamily="34" charset="0"/>
              <a:buChar char="•"/>
            </a:pPr>
            <a:r>
              <a:rPr lang="en-GB" sz="2400" dirty="0"/>
              <a:t>Build FTP and SFTP environments and transfer test.txt.</a:t>
            </a:r>
          </a:p>
          <a:p>
            <a:pPr marL="342900" lvl="0" indent="-342900">
              <a:buSzPts val="2800"/>
              <a:buFont typeface="Arial" panose="020B0604020202020204" pitchFamily="34" charset="0"/>
              <a:buChar char="•"/>
            </a:pPr>
            <a:endParaRPr lang="en-GB" sz="2400" dirty="0"/>
          </a:p>
          <a:p>
            <a:pPr marL="342900" lvl="0" indent="-342900">
              <a:buSzPts val="2800"/>
              <a:buFont typeface="Arial" panose="020B0604020202020204" pitchFamily="34" charset="0"/>
              <a:buChar char="•"/>
            </a:pPr>
            <a:r>
              <a:rPr lang="en-GB" sz="2400" dirty="0"/>
              <a:t>Capture traffic with Wireshark and show differences.</a:t>
            </a:r>
          </a:p>
          <a:p>
            <a:pPr marL="342900" lvl="0" indent="-342900">
              <a:buSzPts val="2800"/>
              <a:buFont typeface="Arial" panose="020B0604020202020204" pitchFamily="34" charset="0"/>
              <a:buChar char="•"/>
            </a:pPr>
            <a:endParaRPr lang="en-GB" sz="2400" dirty="0"/>
          </a:p>
          <a:p>
            <a:pPr marL="342900" lvl="0" indent="-342900">
              <a:buSzPts val="2800"/>
              <a:buFont typeface="Arial" panose="020B0604020202020204" pitchFamily="34" charset="0"/>
              <a:buChar char="•"/>
            </a:pPr>
            <a:r>
              <a:rPr lang="en-GB" sz="2400" dirty="0"/>
              <a:t>Explain SFTP encryption (key exchange, symmetric cipher, MAC).</a:t>
            </a:r>
          </a:p>
          <a:p>
            <a:pPr marL="342900" lvl="0" indent="-342900">
              <a:buSzPts val="2800"/>
              <a:buFont typeface="Arial" panose="020B0604020202020204" pitchFamily="34" charset="0"/>
              <a:buChar char="•"/>
            </a:pPr>
            <a:endParaRPr lang="en-GB" sz="2400" dirty="0"/>
          </a:p>
          <a:p>
            <a:pPr marL="342900" lvl="0" indent="-342900">
              <a:buSzPts val="2800"/>
              <a:buFont typeface="Arial" panose="020B0604020202020204" pitchFamily="34" charset="0"/>
              <a:buChar char="•"/>
            </a:pPr>
            <a:r>
              <a:rPr lang="en-GB" sz="2400" dirty="0"/>
              <a:t>Produce a comparative analysis and recommendations.</a:t>
            </a:r>
            <a:endParaRPr sz="2400" b="0" i="0" u="none" strike="noStrike" cap="none" dirty="0">
              <a:solidFill>
                <a:srgbClr val="000000"/>
              </a:solidFil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99129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p:cNvSpPr txBox="1"/>
          <p:nvPr/>
        </p:nvSpPr>
        <p:spPr>
          <a:xfrm>
            <a:off x="0" y="907604"/>
            <a:ext cx="11748053" cy="87096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Methodology</a:t>
            </a:r>
            <a:r>
              <a:rPr lang="en-US" sz="2800" b="1" i="0" u="none" strike="noStrike" cap="none" dirty="0">
                <a:solidFill>
                  <a:schemeClr val="dk1"/>
                </a:solidFill>
                <a:latin typeface="Arial"/>
                <a:ea typeface="Arial"/>
                <a:cs typeface="Arial"/>
                <a:sym typeface="Arial"/>
              </a:rPr>
              <a:t> </a:t>
            </a:r>
            <a:endParaRPr sz="2800" b="0" i="0" u="none" strike="noStrike" cap="none" dirty="0">
              <a:solidFill>
                <a:schemeClr val="dk1"/>
              </a:solidFill>
              <a:latin typeface="Arial"/>
              <a:ea typeface="Arial"/>
              <a:cs typeface="Arial"/>
              <a:sym typeface="Arial"/>
            </a:endParaRPr>
          </a:p>
        </p:txBody>
      </p:sp>
      <p:sp>
        <p:nvSpPr>
          <p:cNvPr id="2" name="Rectangle 1"/>
          <p:cNvSpPr/>
          <p:nvPr/>
        </p:nvSpPr>
        <p:spPr>
          <a:xfrm>
            <a:off x="825004" y="1778571"/>
            <a:ext cx="10541992" cy="3785652"/>
          </a:xfrm>
          <a:prstGeom prst="rect">
            <a:avLst/>
          </a:prstGeom>
        </p:spPr>
        <p:txBody>
          <a:bodyPr wrap="square">
            <a:spAutoFit/>
          </a:bodyPr>
          <a:lstStyle/>
          <a:p>
            <a:r>
              <a:rPr lang="en-GB" sz="2400" dirty="0"/>
              <a:t>The sequence of the demonstration went thus;</a:t>
            </a:r>
          </a:p>
          <a:p>
            <a:pPr marL="457200" indent="-457200">
              <a:buAutoNum type="arabicPeriod"/>
            </a:pPr>
            <a:r>
              <a:rPr lang="en-GB" sz="2400" dirty="0"/>
              <a:t>Configure VM networking (Bridged adapter).</a:t>
            </a:r>
          </a:p>
          <a:p>
            <a:r>
              <a:rPr lang="en-GB" sz="2400" dirty="0"/>
              <a:t>2. Install &amp; configure vsftpd (FTP) and SSH (SFTP).</a:t>
            </a:r>
          </a:p>
          <a:p>
            <a:r>
              <a:rPr lang="en-GB" sz="2400" dirty="0"/>
              <a:t>3. Open necessary ports and configure passive range for FTP.</a:t>
            </a:r>
          </a:p>
          <a:p>
            <a:r>
              <a:rPr lang="en-GB" sz="2400" dirty="0"/>
              <a:t>4. Transfer file using FTP client (Windows File Explorer) and SFTP client (PowerShell).</a:t>
            </a:r>
          </a:p>
          <a:p>
            <a:r>
              <a:rPr lang="en-GB" sz="2400" dirty="0"/>
              <a:t>5. Capture traffic in Wireshark during both transfers.</a:t>
            </a:r>
          </a:p>
          <a:p>
            <a:r>
              <a:rPr lang="en-GB" sz="2400" dirty="0"/>
              <a:t>6. Analyze captures, extract credentials and file contents for FTP, verify encrypted SSH packets for SFTP.</a:t>
            </a:r>
          </a:p>
          <a:p>
            <a:r>
              <a:rPr lang="en-GB" sz="2400" dirty="0"/>
              <a:t>7. Summarize findings.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825004" y="1951992"/>
            <a:ext cx="10541991" cy="3249105"/>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p:cNvSpPr txBox="1"/>
          <p:nvPr/>
        </p:nvSpPr>
        <p:spPr>
          <a:xfrm>
            <a:off x="109330" y="729723"/>
            <a:ext cx="11748053" cy="87096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Concept of the Project  </a:t>
            </a:r>
            <a:endParaRPr sz="4400" b="0" i="0" u="none" strike="noStrike" cap="none" dirty="0">
              <a:solidFill>
                <a:schemeClr val="dk1"/>
              </a:solidFill>
              <a:latin typeface="Arial"/>
              <a:ea typeface="Arial"/>
              <a:cs typeface="Arial"/>
              <a:sym typeface="Arial"/>
            </a:endParaRPr>
          </a:p>
        </p:txBody>
      </p:sp>
      <p:sp>
        <p:nvSpPr>
          <p:cNvPr id="2" name="Rectangle 1"/>
          <p:cNvSpPr/>
          <p:nvPr/>
        </p:nvSpPr>
        <p:spPr>
          <a:xfrm>
            <a:off x="1138518" y="1717950"/>
            <a:ext cx="9422802" cy="1815882"/>
          </a:xfrm>
          <a:prstGeom prst="rect">
            <a:avLst/>
          </a:prstGeom>
        </p:spPr>
        <p:txBody>
          <a:bodyPr wrap="square">
            <a:spAutoFit/>
          </a:bodyPr>
          <a:lstStyle/>
          <a:p>
            <a:r>
              <a:rPr lang="en-GB" sz="2800" dirty="0"/>
              <a:t>The project focuses on illustrating secure and insecure file transfer mechanisms through practical configuration and network analysis. It uses real-time tools, authentication procedures, and </a:t>
            </a:r>
            <a:r>
              <a:rPr lang="en-GB" sz="2800"/>
              <a:t>packet captures.</a:t>
            </a:r>
            <a:endParaRPr lang="en-GB"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p:cNvSpPr txBox="1"/>
          <p:nvPr/>
        </p:nvSpPr>
        <p:spPr>
          <a:xfrm>
            <a:off x="0" y="719354"/>
            <a:ext cx="11748053" cy="1366488"/>
          </a:xfrm>
          <a:prstGeom prst="rect">
            <a:avLst/>
          </a:prstGeom>
          <a:noFill/>
          <a:ln>
            <a:noFill/>
          </a:ln>
        </p:spPr>
        <p:txBody>
          <a:bodyPr spcFirstLastPara="1" wrap="square" lIns="91425" tIns="45700" rIns="91425" bIns="45700" anchor="t" anchorCtr="0">
            <a:spAutoFit/>
          </a:bodyPr>
          <a:lstStyle/>
          <a:p>
            <a:pPr>
              <a:lnSpc>
                <a:spcPct val="115000"/>
              </a:lnSpc>
              <a:buSzPts val="2800"/>
            </a:pPr>
            <a:r>
              <a:rPr lang="en-US" sz="4400" b="1" dirty="0">
                <a:solidFill>
                  <a:schemeClr val="dk1"/>
                </a:solidFill>
              </a:rPr>
              <a:t>Tools Used</a:t>
            </a:r>
            <a:endParaRPr lang="en-US" sz="4400" dirty="0"/>
          </a:p>
          <a:p>
            <a:pPr marL="0" marR="0" lvl="0" indent="0" algn="l" rtl="0">
              <a:lnSpc>
                <a:spcPct val="115000"/>
              </a:lnSpc>
              <a:spcBef>
                <a:spcPts val="0"/>
              </a:spcBef>
              <a:spcAft>
                <a:spcPts val="0"/>
              </a:spcAft>
              <a:buClr>
                <a:srgbClr val="000000"/>
              </a:buClr>
              <a:buSzPts val="2800"/>
              <a:buFont typeface="Arial"/>
              <a:buNone/>
            </a:pPr>
            <a:r>
              <a:rPr lang="en-US" sz="2800" b="1" i="0" u="none" strike="noStrike" cap="none" dirty="0">
                <a:solidFill>
                  <a:schemeClr val="dk1"/>
                </a:solidFill>
                <a:latin typeface="Arial"/>
                <a:ea typeface="Arial"/>
                <a:cs typeface="Arial"/>
                <a:sym typeface="Arial"/>
              </a:rPr>
              <a:t> </a:t>
            </a:r>
            <a:endParaRPr sz="2800" b="0" i="0" u="none" strike="noStrike" cap="none" dirty="0">
              <a:solidFill>
                <a:schemeClr val="dk1"/>
              </a:solidFill>
              <a:latin typeface="Arial"/>
              <a:ea typeface="Arial"/>
              <a:cs typeface="Arial"/>
              <a:sym typeface="Arial"/>
            </a:endParaRPr>
          </a:p>
        </p:txBody>
      </p:sp>
      <p:sp>
        <p:nvSpPr>
          <p:cNvPr id="3" name="Rectangle 2"/>
          <p:cNvSpPr/>
          <p:nvPr/>
        </p:nvSpPr>
        <p:spPr>
          <a:xfrm>
            <a:off x="720627" y="1483656"/>
            <a:ext cx="11372761" cy="4832092"/>
          </a:xfrm>
          <a:prstGeom prst="rect">
            <a:avLst/>
          </a:prstGeom>
        </p:spPr>
        <p:txBody>
          <a:bodyPr wrap="square">
            <a:spAutoFit/>
          </a:bodyPr>
          <a:lstStyle/>
          <a:p>
            <a:r>
              <a:rPr lang="en-GB" sz="2200" dirty="0"/>
              <a:t>Function                                            Tool                                                      Purpose</a:t>
            </a:r>
          </a:p>
          <a:p>
            <a:r>
              <a:rPr lang="en-GB" sz="2200" dirty="0"/>
              <a:t>VM Networking                          VMware (Bridged)                           Connect client &amp; server</a:t>
            </a:r>
          </a:p>
          <a:p>
            <a:endParaRPr lang="en-GB" sz="2200" dirty="0"/>
          </a:p>
          <a:p>
            <a:r>
              <a:rPr lang="en-GB" sz="2200" dirty="0"/>
              <a:t>FTP Server                                   vsftpd (Kali)                                     Plaintext file transfer</a:t>
            </a:r>
          </a:p>
          <a:p>
            <a:endParaRPr lang="en-GB" sz="2200" dirty="0"/>
          </a:p>
          <a:p>
            <a:r>
              <a:rPr lang="en-GB" sz="2200" dirty="0"/>
              <a:t>SFTP Server                                    </a:t>
            </a:r>
            <a:r>
              <a:rPr lang="en-GB" sz="2200" dirty="0" err="1"/>
              <a:t>OpenSSH</a:t>
            </a:r>
            <a:r>
              <a:rPr lang="en-GB" sz="2200" dirty="0"/>
              <a:t>                            Secure encrypted transfer</a:t>
            </a:r>
          </a:p>
          <a:p>
            <a:endParaRPr lang="en-GB" sz="2200" dirty="0"/>
          </a:p>
          <a:p>
            <a:r>
              <a:rPr lang="en-GB" sz="2200" dirty="0"/>
              <a:t>Client                                   Windows File Explorer, PowerShell         FTP &amp; SFTP testing</a:t>
            </a:r>
          </a:p>
          <a:p>
            <a:endParaRPr lang="en-GB" sz="2200" dirty="0"/>
          </a:p>
          <a:p>
            <a:r>
              <a:rPr lang="en-GB" sz="2200" dirty="0"/>
              <a:t>Packet Capture                               Wireshark                                     Inspect traffic packets</a:t>
            </a:r>
          </a:p>
          <a:p>
            <a:endParaRPr lang="en-GB" sz="2200" dirty="0"/>
          </a:p>
          <a:p>
            <a:r>
              <a:rPr lang="en-GB" sz="2200" dirty="0"/>
              <a:t>Firewall                                                 </a:t>
            </a:r>
            <a:r>
              <a:rPr lang="en-GB" sz="2200" dirty="0" err="1"/>
              <a:t>ufw</a:t>
            </a:r>
            <a:r>
              <a:rPr lang="en-GB" sz="2200" dirty="0"/>
              <a:t>                                               Open ports 21, 22, </a:t>
            </a:r>
          </a:p>
          <a:p>
            <a:r>
              <a:rPr lang="en-GB" sz="2200" dirty="0"/>
              <a:t>                                                                                                                  and 40000–40100</a:t>
            </a:r>
          </a:p>
          <a:p>
            <a:endParaRPr lang="en-GB" sz="2200" dirty="0"/>
          </a:p>
        </p:txBody>
      </p:sp>
    </p:spTree>
    <p:extLst>
      <p:ext uri="{BB962C8B-B14F-4D97-AF65-F5344CB8AC3E}">
        <p14:creationId xmlns:p14="http://schemas.microsoft.com/office/powerpoint/2010/main" val="310246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2" name="Rectangle 1"/>
          <p:cNvSpPr/>
          <p:nvPr/>
        </p:nvSpPr>
        <p:spPr>
          <a:xfrm>
            <a:off x="27340" y="755373"/>
            <a:ext cx="12164660" cy="7909858"/>
          </a:xfrm>
          <a:prstGeom prst="rect">
            <a:avLst/>
          </a:prstGeom>
        </p:spPr>
        <p:txBody>
          <a:bodyPr wrap="square">
            <a:spAutoFit/>
          </a:bodyPr>
          <a:lstStyle/>
          <a:p>
            <a:pPr lvl="0"/>
            <a:r>
              <a:rPr lang="en-GB" sz="2800" b="1" dirty="0">
                <a:solidFill>
                  <a:schemeClr val="dk1"/>
                </a:solidFill>
              </a:rPr>
              <a:t>                         FTP SETUP AND CONFIGURATION</a:t>
            </a:r>
            <a:endParaRPr lang="en-GB" sz="2800" dirty="0">
              <a:latin typeface="+mj-lt"/>
              <a:ea typeface="Calibri" panose="020F0502020204030204" pitchFamily="34" charset="0"/>
            </a:endParaRPr>
          </a:p>
          <a:p>
            <a:r>
              <a:rPr lang="en-GB" sz="2800" dirty="0">
                <a:latin typeface="+mj-lt"/>
                <a:ea typeface="Calibri" panose="020F0502020204030204" pitchFamily="34" charset="0"/>
              </a:rPr>
              <a:t>File Transfer Protocol (FTP) is a standard network protocol used to transfer files between systems over a TCP/IP network. In this project, FTP is implemented to enable seamless file sharing between a </a:t>
            </a:r>
            <a:r>
              <a:rPr lang="en-GB" sz="2800" b="1" dirty="0">
                <a:latin typeface="+mj-lt"/>
                <a:ea typeface="Calibri" panose="020F0502020204030204" pitchFamily="34" charset="0"/>
              </a:rPr>
              <a:t>Windows host system</a:t>
            </a:r>
            <a:r>
              <a:rPr lang="en-GB" sz="2800" dirty="0">
                <a:latin typeface="+mj-lt"/>
                <a:ea typeface="Calibri" panose="020F0502020204030204" pitchFamily="34" charset="0"/>
              </a:rPr>
              <a:t> and a </a:t>
            </a:r>
            <a:r>
              <a:rPr lang="en-GB" sz="2800" b="1" dirty="0">
                <a:latin typeface="+mj-lt"/>
                <a:ea typeface="Calibri" panose="020F0502020204030204" pitchFamily="34" charset="0"/>
              </a:rPr>
              <a:t>Kali Linux virtual machine</a:t>
            </a:r>
            <a:r>
              <a:rPr lang="en-GB" sz="2800" dirty="0">
                <a:latin typeface="+mj-lt"/>
                <a:ea typeface="Calibri" panose="020F0502020204030204" pitchFamily="34" charset="0"/>
              </a:rPr>
              <a:t>. </a:t>
            </a:r>
          </a:p>
          <a:p>
            <a:endParaRPr lang="en-GB" sz="2800" dirty="0">
              <a:latin typeface="+mj-lt"/>
            </a:endParaRPr>
          </a:p>
          <a:p>
            <a:endParaRPr lang="en-GB" sz="2800" dirty="0">
              <a:latin typeface="+mj-lt"/>
            </a:endParaRPr>
          </a:p>
          <a:p>
            <a:endParaRPr lang="en-GB" sz="2800" dirty="0">
              <a:latin typeface="+mj-lt"/>
            </a:endParaRPr>
          </a:p>
          <a:p>
            <a:r>
              <a:rPr lang="en-GB" sz="2800" dirty="0">
                <a:latin typeface="+mj-lt"/>
              </a:rPr>
              <a:t>The Kali Linux VM’s network adapter was first configured to </a:t>
            </a:r>
            <a:r>
              <a:rPr lang="en-GB" sz="2800" b="1" dirty="0">
                <a:latin typeface="+mj-lt"/>
              </a:rPr>
              <a:t>Bridged mode</a:t>
            </a:r>
            <a:r>
              <a:rPr lang="en-GB" sz="2800" dirty="0">
                <a:latin typeface="+mj-lt"/>
              </a:rPr>
              <a:t> in VMware. This connected it to the same network as the Windows host, allowing </a:t>
            </a:r>
            <a:r>
              <a:rPr lang="en-GB" sz="2800" b="1" dirty="0">
                <a:latin typeface="+mj-lt"/>
              </a:rPr>
              <a:t>direct communication</a:t>
            </a:r>
            <a:r>
              <a:rPr lang="en-GB" sz="2800" dirty="0">
                <a:latin typeface="+mj-lt"/>
              </a:rPr>
              <a:t> needed for </a:t>
            </a:r>
            <a:r>
              <a:rPr lang="en-GB" sz="2800" b="1" dirty="0">
                <a:latin typeface="+mj-lt"/>
              </a:rPr>
              <a:t>FTP/SFTP file transfers </a:t>
            </a:r>
          </a:p>
          <a:p>
            <a:r>
              <a:rPr lang="en-GB" sz="3200" dirty="0">
                <a:latin typeface="+mj-lt"/>
              </a:rPr>
              <a:t> </a:t>
            </a:r>
            <a:r>
              <a:rPr lang="en-GB" sz="2400" i="1" dirty="0">
                <a:latin typeface="+mj-lt"/>
              </a:rPr>
              <a:t>Reference: Fig 1.1 Bridged network adapter settings….full doc on </a:t>
            </a:r>
            <a:r>
              <a:rPr lang="en-GB" sz="2400" i="1" dirty="0" err="1">
                <a:latin typeface="+mj-lt"/>
              </a:rPr>
              <a:t>google</a:t>
            </a:r>
            <a:r>
              <a:rPr lang="en-GB" sz="2400" i="1" dirty="0">
                <a:latin typeface="+mj-lt"/>
              </a:rPr>
              <a:t> drive</a:t>
            </a:r>
            <a:endParaRPr lang="en-GB" sz="2400" dirty="0">
              <a:latin typeface="+mj-lt"/>
            </a:endParaRPr>
          </a:p>
          <a:p>
            <a:endParaRPr lang="en-GB" sz="2800" b="1" dirty="0">
              <a:latin typeface="+mj-lt"/>
            </a:endParaRPr>
          </a:p>
          <a:p>
            <a:endParaRPr lang="en-GB" sz="2800" b="1" dirty="0">
              <a:latin typeface="+mj-lt"/>
            </a:endParaRPr>
          </a:p>
          <a:p>
            <a:endParaRPr lang="en-GB" sz="2800" b="1" dirty="0">
              <a:latin typeface="+mj-lt"/>
            </a:endParaRPr>
          </a:p>
          <a:p>
            <a:endParaRPr lang="en-GB" sz="2800" b="1" dirty="0">
              <a:latin typeface="+mj-lt"/>
            </a:endParaRPr>
          </a:p>
          <a:p>
            <a:endParaRPr lang="en-GB" sz="2800" b="1" dirty="0">
              <a:latin typeface="+mj-lt"/>
            </a:endParaRPr>
          </a:p>
          <a:p>
            <a:endParaRPr lang="en-GB" sz="2800" dirty="0">
              <a:latin typeface="+mj-lt"/>
            </a:endParaRPr>
          </a:p>
        </p:txBody>
      </p:sp>
    </p:spTree>
    <p:extLst>
      <p:ext uri="{BB962C8B-B14F-4D97-AF65-F5344CB8AC3E}">
        <p14:creationId xmlns:p14="http://schemas.microsoft.com/office/powerpoint/2010/main" val="2959758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2" name="Rectangle 1"/>
          <p:cNvSpPr/>
          <p:nvPr/>
        </p:nvSpPr>
        <p:spPr>
          <a:xfrm>
            <a:off x="34197" y="686562"/>
            <a:ext cx="12059191" cy="7294305"/>
          </a:xfrm>
          <a:prstGeom prst="rect">
            <a:avLst/>
          </a:prstGeom>
        </p:spPr>
        <p:txBody>
          <a:bodyPr wrap="square">
            <a:spAutoFit/>
          </a:bodyPr>
          <a:lstStyle/>
          <a:p>
            <a:r>
              <a:rPr lang="en-GB" sz="2800" dirty="0">
                <a:latin typeface="Times New Roman" panose="02020603050405020304" pitchFamily="18" charset="0"/>
                <a:ea typeface="Calibri" panose="020F0502020204030204" pitchFamily="34" charset="0"/>
              </a:rPr>
              <a:t>After the network adapter configuration, the FTP server was installed using the </a:t>
            </a:r>
            <a:r>
              <a:rPr lang="en-GB" sz="2800" b="1" dirty="0">
                <a:latin typeface="Times New Roman" panose="02020603050405020304" pitchFamily="18" charset="0"/>
                <a:ea typeface="Calibri" panose="020F0502020204030204" pitchFamily="34" charset="0"/>
              </a:rPr>
              <a:t>‘</a:t>
            </a:r>
            <a:r>
              <a:rPr lang="en-GB" sz="2800" b="1" dirty="0" err="1">
                <a:latin typeface="Times New Roman" panose="02020603050405020304" pitchFamily="18" charset="0"/>
                <a:ea typeface="Calibri" panose="020F0502020204030204" pitchFamily="34" charset="0"/>
              </a:rPr>
              <a:t>sudo</a:t>
            </a:r>
            <a:r>
              <a:rPr lang="en-GB" sz="2800" b="1" dirty="0">
                <a:latin typeface="Times New Roman" panose="02020603050405020304" pitchFamily="18" charset="0"/>
                <a:ea typeface="Calibri" panose="020F0502020204030204" pitchFamily="34" charset="0"/>
              </a:rPr>
              <a:t> apt install vsftpd’ </a:t>
            </a:r>
            <a:r>
              <a:rPr lang="en-GB" sz="2800" dirty="0">
                <a:latin typeface="Times New Roman" panose="02020603050405020304" pitchFamily="18" charset="0"/>
                <a:ea typeface="Calibri" panose="020F0502020204030204" pitchFamily="34" charset="0"/>
              </a:rPr>
              <a:t>command</a:t>
            </a:r>
            <a:r>
              <a:rPr lang="en-GB" sz="2800" b="1" dirty="0">
                <a:latin typeface="Times New Roman" panose="02020603050405020304" pitchFamily="18" charset="0"/>
                <a:ea typeface="Calibri" panose="020F0502020204030204" pitchFamily="34" charset="0"/>
              </a:rPr>
              <a:t>. </a:t>
            </a:r>
            <a:r>
              <a:rPr lang="en-GB" sz="2800" dirty="0">
                <a:latin typeface="Times New Roman" panose="02020603050405020304" pitchFamily="18" charset="0"/>
                <a:ea typeface="Calibri" panose="020F0502020204030204" pitchFamily="34" charset="0"/>
              </a:rPr>
              <a:t>This is allows Kali host and manage FTP connections for incoming file transfers. After this, the FTP server is started.</a:t>
            </a:r>
          </a:p>
          <a:p>
            <a:r>
              <a:rPr lang="en-GB" sz="2400" i="1" dirty="0"/>
              <a:t>   Reference: Fig 1.2 FTP Server installation….full doc on </a:t>
            </a:r>
            <a:r>
              <a:rPr lang="en-GB" sz="2400" i="1" dirty="0" err="1"/>
              <a:t>google</a:t>
            </a:r>
            <a:r>
              <a:rPr lang="en-GB" sz="2400" i="1" dirty="0"/>
              <a:t> drive</a:t>
            </a:r>
          </a:p>
          <a:p>
            <a:endParaRPr lang="en-GB" sz="2400" i="1" dirty="0"/>
          </a:p>
          <a:p>
            <a:endParaRPr lang="en-GB" sz="2400" dirty="0"/>
          </a:p>
          <a:p>
            <a:endParaRPr lang="en-GB" sz="2400" dirty="0"/>
          </a:p>
          <a:p>
            <a:endParaRPr lang="en-GB" sz="2400" dirty="0"/>
          </a:p>
          <a:p>
            <a:r>
              <a:rPr lang="en-GB" sz="2400" dirty="0"/>
              <a:t>The command </a:t>
            </a:r>
            <a:r>
              <a:rPr lang="en-GB" sz="2400" b="1" dirty="0"/>
              <a:t>‘SUDO SS TULN | GREP :21’</a:t>
            </a:r>
            <a:r>
              <a:rPr lang="en-GB" sz="2400" dirty="0"/>
              <a:t> was used to confirm that vsftpd or the FTP server is listening on port 21 and awaiting incoming FTP requests , meaning network communication is possible</a:t>
            </a:r>
          </a:p>
          <a:p>
            <a:r>
              <a:rPr lang="en-GB" sz="2400" i="1" dirty="0"/>
              <a:t>    Reference: Fig 1.4 FTP Connection Test….full doc on </a:t>
            </a:r>
            <a:r>
              <a:rPr lang="en-GB" sz="2400" i="1" dirty="0" err="1"/>
              <a:t>google</a:t>
            </a:r>
            <a:r>
              <a:rPr lang="en-GB" sz="2400" i="1" dirty="0"/>
              <a:t> drive</a:t>
            </a:r>
          </a:p>
          <a:p>
            <a:endParaRPr lang="en-GB" sz="2400" dirty="0"/>
          </a:p>
          <a:p>
            <a:endParaRPr lang="en-GB" sz="2400" dirty="0"/>
          </a:p>
          <a:p>
            <a:endParaRPr lang="en-GB" sz="3200" b="1" dirty="0"/>
          </a:p>
          <a:p>
            <a:endParaRPr lang="en-GB" sz="3200" b="1" dirty="0">
              <a:latin typeface="Times New Roman" panose="02020603050405020304" pitchFamily="18" charset="0"/>
            </a:endParaRPr>
          </a:p>
          <a:p>
            <a:endParaRPr lang="en-GB" sz="2800" dirty="0">
              <a:latin typeface="Times New Roman" panose="02020603050405020304" pitchFamily="18" charset="0"/>
              <a:ea typeface="Calibri" panose="020F0502020204030204" pitchFamily="34" charset="0"/>
            </a:endParaRPr>
          </a:p>
          <a:p>
            <a:endParaRPr lang="en-GB" sz="2800" dirty="0">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144179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3" name="Google Shape;143;p6"/>
          <p:cNvPicPr preferRelativeResize="0"/>
          <p:nvPr/>
        </p:nvPicPr>
        <p:blipFill rotWithShape="1">
          <a:blip r:embed="rId3">
            <a:alphaModFix amt="26000"/>
          </a:blip>
          <a:srcRect/>
          <a:stretch/>
        </p:blipFill>
        <p:spPr>
          <a:xfrm>
            <a:off x="825004" y="1893378"/>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9" name="Picture 8" descr="C:\Users\ADMIN\OneDrive\Desktop\CAPPING\10th step.png"/>
          <p:cNvPicPr/>
          <p:nvPr/>
        </p:nvPicPr>
        <p:blipFill rotWithShape="1">
          <a:blip r:embed="rId5">
            <a:extLst>
              <a:ext uri="{28A0092B-C50C-407E-A947-70E740481C1C}">
                <a14:useLocalDpi xmlns:a14="http://schemas.microsoft.com/office/drawing/2010/main" val="0"/>
              </a:ext>
            </a:extLst>
          </a:blip>
          <a:srcRect t="64559" r="961"/>
          <a:stretch/>
        </p:blipFill>
        <p:spPr bwMode="auto">
          <a:xfrm>
            <a:off x="9308" y="1391651"/>
            <a:ext cx="12164069" cy="2177668"/>
          </a:xfrm>
          <a:prstGeom prst="rect">
            <a:avLst/>
          </a:prstGeom>
          <a:noFill/>
          <a:ln>
            <a:noFill/>
          </a:ln>
        </p:spPr>
      </p:pic>
      <p:sp>
        <p:nvSpPr>
          <p:cNvPr id="2" name="Rectangle 1"/>
          <p:cNvSpPr/>
          <p:nvPr/>
        </p:nvSpPr>
        <p:spPr>
          <a:xfrm>
            <a:off x="-61131" y="658613"/>
            <a:ext cx="12154519" cy="646331"/>
          </a:xfrm>
          <a:prstGeom prst="rect">
            <a:avLst/>
          </a:prstGeom>
        </p:spPr>
        <p:txBody>
          <a:bodyPr wrap="square">
            <a:spAutoFit/>
          </a:bodyPr>
          <a:lstStyle/>
          <a:p>
            <a:r>
              <a:rPr lang="en-GB" sz="1750" dirty="0"/>
              <a:t>A new, dedicated FTP directory/folder was created using </a:t>
            </a:r>
            <a:r>
              <a:rPr lang="en-GB" sz="1750" b="1" dirty="0"/>
              <a:t>‘</a:t>
            </a:r>
            <a:r>
              <a:rPr lang="en-GB" sz="1750" b="1" dirty="0" err="1"/>
              <a:t>sudo</a:t>
            </a:r>
            <a:r>
              <a:rPr lang="en-GB" sz="1750" b="1" dirty="0"/>
              <a:t> </a:t>
            </a:r>
            <a:r>
              <a:rPr lang="en-GB" sz="1750" b="1" dirty="0" err="1"/>
              <a:t>mkdir</a:t>
            </a:r>
            <a:r>
              <a:rPr lang="en-GB" sz="1750" b="1" dirty="0"/>
              <a:t> -p /</a:t>
            </a:r>
            <a:r>
              <a:rPr lang="en-GB" sz="1750" b="1" dirty="0" err="1"/>
              <a:t>srv</a:t>
            </a:r>
            <a:r>
              <a:rPr lang="en-GB" sz="1750" b="1" dirty="0"/>
              <a:t>/ftp.’</a:t>
            </a:r>
            <a:r>
              <a:rPr lang="en-GB" sz="1750" dirty="0"/>
              <a:t> The test file to be transferred</a:t>
            </a:r>
            <a:r>
              <a:rPr lang="en-GB" sz="1750" b="1" dirty="0"/>
              <a:t> ‘test.txt’ </a:t>
            </a:r>
            <a:r>
              <a:rPr lang="en-GB" sz="1750" dirty="0"/>
              <a:t>was then created in this folder and its content was entered using the </a:t>
            </a:r>
            <a:r>
              <a:rPr lang="en-GB" sz="1750" b="1" dirty="0"/>
              <a:t>echo </a:t>
            </a:r>
            <a:r>
              <a:rPr lang="en-GB" sz="1750" dirty="0"/>
              <a:t>command as shown in the image below.           </a:t>
            </a:r>
          </a:p>
        </p:txBody>
      </p:sp>
      <p:sp>
        <p:nvSpPr>
          <p:cNvPr id="4" name="Rectangle 3"/>
          <p:cNvSpPr/>
          <p:nvPr/>
        </p:nvSpPr>
        <p:spPr>
          <a:xfrm>
            <a:off x="18858" y="3728027"/>
            <a:ext cx="12154519" cy="1366528"/>
          </a:xfrm>
          <a:prstGeom prst="rect">
            <a:avLst/>
          </a:prstGeom>
        </p:spPr>
        <p:txBody>
          <a:bodyPr wrap="square">
            <a:spAutoFit/>
          </a:bodyPr>
          <a:lstStyle/>
          <a:p>
            <a:pPr lvl="0">
              <a:lnSpc>
                <a:spcPct val="115000"/>
              </a:lnSpc>
              <a:buSzPts val="2800"/>
            </a:pPr>
            <a:r>
              <a:rPr lang="en-GB" sz="1800" dirty="0"/>
              <a:t>After this, the FTP Protocol </a:t>
            </a:r>
            <a:r>
              <a:rPr lang="en-GB" sz="1800" dirty="0">
                <a:hlinkClick r:id="rId6"/>
              </a:rPr>
              <a:t>‘</a:t>
            </a:r>
            <a:r>
              <a:rPr lang="en-GB" sz="1800" b="1" u="sng" dirty="0">
                <a:hlinkClick r:id="rId6"/>
              </a:rPr>
              <a:t>FTP://10.42.4.150</a:t>
            </a:r>
            <a:r>
              <a:rPr lang="en-GB" sz="1800" b="1" u="sng" dirty="0"/>
              <a:t>’</a:t>
            </a:r>
            <a:r>
              <a:rPr lang="en-GB" sz="1800" dirty="0">
                <a:solidFill>
                  <a:schemeClr val="dk1"/>
                </a:solidFill>
              </a:rPr>
              <a:t> </a:t>
            </a:r>
            <a:r>
              <a:rPr lang="en-GB" sz="1800" dirty="0"/>
              <a:t>command was entered in the Windows File Explorer , the directory or folder content to be transferred was displayed, </a:t>
            </a:r>
            <a:r>
              <a:rPr lang="en-GB" sz="1800" dirty="0" err="1"/>
              <a:t>i.e</a:t>
            </a:r>
            <a:r>
              <a:rPr lang="en-GB" sz="1800" b="1" dirty="0"/>
              <a:t>; test.txt </a:t>
            </a:r>
            <a:r>
              <a:rPr lang="en-GB" sz="1800" dirty="0"/>
              <a:t>shown below. This indicates that Windows client </a:t>
            </a:r>
            <a:r>
              <a:rPr lang="en-GB" sz="1800" b="1" dirty="0"/>
              <a:t>(The File Explorer)</a:t>
            </a:r>
            <a:r>
              <a:rPr lang="en-GB" sz="1800" dirty="0"/>
              <a:t> was able to connect, authenticate and retrieve the file successfully from the </a:t>
            </a:r>
            <a:r>
              <a:rPr lang="en-GB" sz="1800" b="1" dirty="0"/>
              <a:t>Kali FTP server.</a:t>
            </a:r>
            <a:r>
              <a:rPr lang="en-GB" sz="1800" dirty="0"/>
              <a:t> </a:t>
            </a:r>
          </a:p>
          <a:p>
            <a:pPr lvl="0">
              <a:lnSpc>
                <a:spcPct val="115000"/>
              </a:lnSpc>
              <a:buSzPts val="2800"/>
            </a:pPr>
            <a:endParaRPr lang="en-GB" sz="1800" dirty="0"/>
          </a:p>
        </p:txBody>
      </p:sp>
      <p:pic>
        <p:nvPicPr>
          <p:cNvPr id="11" name="Picture 10" descr="C:\Users\ADMIN\OneDrive\Desktop\CAPPING\12th step.png"/>
          <p:cNvPicPr/>
          <p:nvPr/>
        </p:nvPicPr>
        <p:blipFill rotWithShape="1">
          <a:blip r:embed="rId7" cstate="print">
            <a:extLst>
              <a:ext uri="{28A0092B-C50C-407E-A947-70E740481C1C}">
                <a14:useLocalDpi xmlns:a14="http://schemas.microsoft.com/office/drawing/2010/main" val="0"/>
              </a:ext>
            </a:extLst>
          </a:blip>
          <a:srcRect l="-326" t="-607" r="326" b="51626"/>
          <a:stretch/>
        </p:blipFill>
        <p:spPr bwMode="auto">
          <a:xfrm>
            <a:off x="9307" y="4774773"/>
            <a:ext cx="12164070" cy="2001166"/>
          </a:xfrm>
          <a:prstGeom prst="rect">
            <a:avLst/>
          </a:prstGeom>
          <a:noFill/>
          <a:ln>
            <a:noFill/>
          </a:ln>
        </p:spPr>
      </p:pic>
    </p:spTree>
    <p:extLst>
      <p:ext uri="{BB962C8B-B14F-4D97-AF65-F5344CB8AC3E}">
        <p14:creationId xmlns:p14="http://schemas.microsoft.com/office/powerpoint/2010/main" val="34884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9" name="Picture 8"/>
          <p:cNvPicPr/>
          <p:nvPr/>
        </p:nvPicPr>
        <p:blipFill>
          <a:blip r:embed="rId5"/>
          <a:stretch>
            <a:fillRect/>
          </a:stretch>
        </p:blipFill>
        <p:spPr>
          <a:xfrm>
            <a:off x="-3" y="502031"/>
            <a:ext cx="12192000" cy="4938997"/>
          </a:xfrm>
          <a:prstGeom prst="rect">
            <a:avLst/>
          </a:prstGeom>
        </p:spPr>
      </p:pic>
      <p:sp>
        <p:nvSpPr>
          <p:cNvPr id="2" name="Rectangle 1"/>
          <p:cNvSpPr/>
          <p:nvPr/>
        </p:nvSpPr>
        <p:spPr>
          <a:xfrm>
            <a:off x="353072" y="4657896"/>
            <a:ext cx="3152636" cy="5486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FIG 2.1</a:t>
            </a:r>
          </a:p>
        </p:txBody>
      </p:sp>
      <p:cxnSp>
        <p:nvCxnSpPr>
          <p:cNvPr id="4" name="Straight Arrow Connector 3"/>
          <p:cNvCxnSpPr/>
          <p:nvPr/>
        </p:nvCxnSpPr>
        <p:spPr>
          <a:xfrm>
            <a:off x="3954780" y="1880868"/>
            <a:ext cx="15544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901440" y="2111813"/>
            <a:ext cx="15544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0" y="5551527"/>
            <a:ext cx="12191997" cy="1366528"/>
          </a:xfrm>
          <a:prstGeom prst="rect">
            <a:avLst/>
          </a:prstGeom>
        </p:spPr>
        <p:txBody>
          <a:bodyPr wrap="square">
            <a:spAutoFit/>
          </a:bodyPr>
          <a:lstStyle/>
          <a:p>
            <a:pPr>
              <a:lnSpc>
                <a:spcPct val="115000"/>
              </a:lnSpc>
              <a:buSzPts val="2800"/>
            </a:pPr>
            <a:r>
              <a:rPr lang="en-GB" sz="1800" dirty="0"/>
              <a:t>After the file transfer, the filter ‘</a:t>
            </a:r>
            <a:r>
              <a:rPr lang="en-GB" sz="1800" b="1" dirty="0"/>
              <a:t>ftp || ftp-data’</a:t>
            </a:r>
            <a:r>
              <a:rPr lang="en-GB" sz="1800" dirty="0"/>
              <a:t> was applied, to isolate and display every component of the File Transfer Protocol Session, revealing the </a:t>
            </a:r>
            <a:r>
              <a:rPr lang="en-GB" sz="1800" b="1" dirty="0"/>
              <a:t>USERNAME</a:t>
            </a:r>
            <a:r>
              <a:rPr lang="en-GB" sz="1800" dirty="0"/>
              <a:t> and </a:t>
            </a:r>
            <a:r>
              <a:rPr lang="en-GB" sz="1800" b="1" dirty="0"/>
              <a:t>PASSWORD</a:t>
            </a:r>
            <a:r>
              <a:rPr lang="en-GB" sz="1800" dirty="0"/>
              <a:t> of the FTP server</a:t>
            </a:r>
            <a:r>
              <a:rPr lang="en-GB" sz="1800" b="1" dirty="0"/>
              <a:t>, FILE SIZE </a:t>
            </a:r>
            <a:r>
              <a:rPr lang="en-GB" sz="1800" dirty="0"/>
              <a:t>AND </a:t>
            </a:r>
            <a:r>
              <a:rPr lang="en-GB" sz="1800" b="1" dirty="0"/>
              <a:t>CONTENT</a:t>
            </a:r>
            <a:r>
              <a:rPr lang="en-GB" sz="1800" dirty="0"/>
              <a:t> (see Fig 2.1 &amp; 2.3 below).  This shows that FTP is unencrypted and hence insecure.</a:t>
            </a:r>
          </a:p>
          <a:p>
            <a:pPr lvl="0">
              <a:lnSpc>
                <a:spcPct val="115000"/>
              </a:lnSpc>
              <a:buSzPts val="2800"/>
            </a:pPr>
            <a:r>
              <a:rPr lang="en-GB" sz="1800" dirty="0"/>
              <a:t>.</a:t>
            </a:r>
          </a:p>
        </p:txBody>
      </p:sp>
    </p:spTree>
    <p:extLst>
      <p:ext uri="{BB962C8B-B14F-4D97-AF65-F5344CB8AC3E}">
        <p14:creationId xmlns:p14="http://schemas.microsoft.com/office/powerpoint/2010/main" val="101895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9" name="Picture 8" descr="C:\Users\ADMIN\OneDrive\Desktop\CAPPING\Wireshark · Follow TCP Stream (tcp.stream eq 12) · WiFi 2 20_10_2025 14_27_29.png"/>
          <p:cNvPicPr/>
          <p:nvPr/>
        </p:nvPicPr>
        <p:blipFill>
          <a:blip r:embed="rId5">
            <a:extLst>
              <a:ext uri="{28A0092B-C50C-407E-A947-70E740481C1C}">
                <a14:useLocalDpi xmlns:a14="http://schemas.microsoft.com/office/drawing/2010/main" val="0"/>
              </a:ext>
            </a:extLst>
          </a:blip>
          <a:srcRect/>
          <a:stretch>
            <a:fillRect/>
          </a:stretch>
        </p:blipFill>
        <p:spPr bwMode="auto">
          <a:xfrm>
            <a:off x="0" y="748896"/>
            <a:ext cx="12191999" cy="6167719"/>
          </a:xfrm>
          <a:prstGeom prst="rect">
            <a:avLst/>
          </a:prstGeom>
          <a:noFill/>
          <a:ln>
            <a:noFill/>
          </a:ln>
        </p:spPr>
      </p:pic>
      <p:sp>
        <p:nvSpPr>
          <p:cNvPr id="10" name="Rectangle 9"/>
          <p:cNvSpPr/>
          <p:nvPr/>
        </p:nvSpPr>
        <p:spPr>
          <a:xfrm>
            <a:off x="825004" y="5065990"/>
            <a:ext cx="3152636" cy="548640"/>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FIG 2.3</a:t>
            </a:r>
          </a:p>
        </p:txBody>
      </p:sp>
      <p:cxnSp>
        <p:nvCxnSpPr>
          <p:cNvPr id="11" name="Straight Arrow Connector 10"/>
          <p:cNvCxnSpPr/>
          <p:nvPr/>
        </p:nvCxnSpPr>
        <p:spPr>
          <a:xfrm flipH="1">
            <a:off x="2987040" y="5709843"/>
            <a:ext cx="1424940" cy="6172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3686667" y="1410796"/>
            <a:ext cx="581946" cy="9204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260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2" name="Rectangle 1"/>
          <p:cNvSpPr/>
          <p:nvPr/>
        </p:nvSpPr>
        <p:spPr>
          <a:xfrm>
            <a:off x="134814" y="755373"/>
            <a:ext cx="11922369" cy="6309420"/>
          </a:xfrm>
          <a:prstGeom prst="rect">
            <a:avLst/>
          </a:prstGeom>
        </p:spPr>
        <p:txBody>
          <a:bodyPr wrap="square">
            <a:spAutoFit/>
          </a:bodyPr>
          <a:lstStyle/>
          <a:p>
            <a:r>
              <a:rPr lang="en-GB" sz="2800" b="1" dirty="0"/>
              <a:t>FTP Data Exposure Process</a:t>
            </a:r>
          </a:p>
          <a:p>
            <a:endParaRPr lang="en-GB" dirty="0"/>
          </a:p>
          <a:p>
            <a:r>
              <a:rPr lang="en-GB" sz="1800" dirty="0"/>
              <a:t>1.</a:t>
            </a:r>
            <a:r>
              <a:rPr lang="en-GB" sz="1800" b="1" dirty="0"/>
              <a:t> Connect</a:t>
            </a:r>
            <a:r>
              <a:rPr lang="en-GB" sz="1800" dirty="0"/>
              <a:t>: Client opens an FTP control session to the server (TCP port 21)</a:t>
            </a:r>
          </a:p>
          <a:p>
            <a:r>
              <a:rPr lang="en-GB" sz="1800" dirty="0"/>
              <a:t>                                                                                                                                                      </a:t>
            </a:r>
          </a:p>
          <a:p>
            <a:r>
              <a:rPr lang="en-GB" sz="1800" b="1" dirty="0"/>
              <a:t>2. Authenticate</a:t>
            </a:r>
            <a:r>
              <a:rPr lang="en-GB" sz="1800" dirty="0"/>
              <a:t>: The client sends USER &lt;username&gt; and PASS &lt;password&gt; over the control channel; these credentials are not encrypted and are visible to anyone sniffing the network.</a:t>
            </a:r>
          </a:p>
          <a:p>
            <a:endParaRPr lang="en-GB" sz="1800" dirty="0"/>
          </a:p>
          <a:p>
            <a:r>
              <a:rPr lang="en-GB" sz="1800" b="1" dirty="0"/>
              <a:t>3. Open Data Channel</a:t>
            </a:r>
            <a:r>
              <a:rPr lang="en-GB" sz="1800" dirty="0"/>
              <a:t>: For file transfer, FTP opens a separate data connection  (</a:t>
            </a:r>
            <a:r>
              <a:rPr lang="en-GB" sz="1800" dirty="0" err="1"/>
              <a:t>server→client</a:t>
            </a:r>
            <a:r>
              <a:rPr lang="en-GB" sz="1800" dirty="0"/>
              <a:t> on a port the client provides), this channel carries data unencrypted. </a:t>
            </a:r>
          </a:p>
          <a:p>
            <a:r>
              <a:rPr lang="en-GB" sz="1800" dirty="0"/>
              <a:t>                                                                                                                                                                    </a:t>
            </a:r>
          </a:p>
          <a:p>
            <a:r>
              <a:rPr lang="en-GB" sz="1800" b="1" dirty="0"/>
              <a:t>4. Sniffing</a:t>
            </a:r>
            <a:r>
              <a:rPr lang="en-GB" sz="1800" dirty="0"/>
              <a:t>: An attacker able to intercept traffic (MITM, rogue AP) can capture both the control channel (credentials) and the data channel (file contents) with a packet sniffer like </a:t>
            </a:r>
            <a:r>
              <a:rPr lang="en-GB" sz="1800" dirty="0" err="1"/>
              <a:t>Wireshark</a:t>
            </a:r>
            <a:r>
              <a:rPr lang="en-GB" sz="1800" dirty="0"/>
              <a:t>.</a:t>
            </a:r>
          </a:p>
          <a:p>
            <a:endParaRPr lang="en-GB" sz="1800" dirty="0"/>
          </a:p>
          <a:p>
            <a:r>
              <a:rPr lang="en-GB" sz="1800" b="1" dirty="0"/>
              <a:t>5. Credential Reuse &amp; Lateral Compromise: </a:t>
            </a:r>
            <a:r>
              <a:rPr lang="en-GB" sz="1800" dirty="0"/>
              <a:t>With plaintext credentials an attacker can log in as the user, upload or download files, or gain access to other systems.</a:t>
            </a:r>
          </a:p>
          <a:p>
            <a:endParaRPr lang="en-GB" sz="1800" dirty="0"/>
          </a:p>
          <a:p>
            <a:r>
              <a:rPr lang="en-GB" sz="1800" b="1" dirty="0"/>
              <a:t>6. Outcome</a:t>
            </a:r>
            <a:r>
              <a:rPr lang="en-GB" sz="1800" dirty="0"/>
              <a:t>: Full Account and Data Compromise</a:t>
            </a:r>
          </a:p>
          <a:p>
            <a:endParaRPr lang="en-GB" sz="1800" dirty="0"/>
          </a:p>
          <a:p>
            <a:r>
              <a:rPr lang="en-GB" sz="1800" dirty="0"/>
              <a:t>Resulting impact includes data theft, unauthorized modifications, malware </a:t>
            </a:r>
            <a:r>
              <a:rPr lang="en-GB" sz="1800" dirty="0" err="1"/>
              <a:t>insertion,e.t.c</a:t>
            </a:r>
            <a:r>
              <a:rPr lang="en-GB" sz="1800" dirty="0"/>
              <a:t>.</a:t>
            </a:r>
          </a:p>
          <a:p>
            <a:endParaRPr lang="en-GB" dirty="0"/>
          </a:p>
          <a:p>
            <a:endParaRPr lang="en-GB" dirty="0"/>
          </a:p>
          <a:p>
            <a:pPr lvl="0"/>
            <a:r>
              <a:rPr lang="en-US" dirty="0">
                <a:solidFill>
                  <a:schemeClr val="dk1"/>
                </a:solidFill>
              </a:rPr>
              <a:t>                         </a:t>
            </a:r>
            <a:endParaRPr lang="en-GB" dirty="0"/>
          </a:p>
        </p:txBody>
      </p:sp>
    </p:spTree>
    <p:extLst>
      <p:ext uri="{BB962C8B-B14F-4D97-AF65-F5344CB8AC3E}">
        <p14:creationId xmlns:p14="http://schemas.microsoft.com/office/powerpoint/2010/main" val="2169712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295726" y="2024208"/>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p:cNvSpPr txBox="1"/>
          <p:nvPr/>
        </p:nvSpPr>
        <p:spPr>
          <a:xfrm>
            <a:off x="109330" y="782802"/>
            <a:ext cx="11748053" cy="523180"/>
          </a:xfrm>
          <a:prstGeom prst="rect">
            <a:avLst/>
          </a:prstGeom>
          <a:noFill/>
          <a:ln>
            <a:noFill/>
          </a:ln>
        </p:spPr>
        <p:txBody>
          <a:bodyPr spcFirstLastPara="1" wrap="square" lIns="91425" tIns="45700" rIns="91425" bIns="45700" anchor="t" anchorCtr="0">
            <a:spAutoFit/>
          </a:bodyPr>
          <a:lstStyle/>
          <a:p>
            <a:r>
              <a:rPr lang="en-GB" sz="2800" b="1" dirty="0"/>
              <a:t>SFTP File Transfer Configuration and Execution</a:t>
            </a:r>
            <a:endParaRPr lang="en-GB" sz="2800" dirty="0"/>
          </a:p>
        </p:txBody>
      </p:sp>
      <p:sp>
        <p:nvSpPr>
          <p:cNvPr id="2" name="Rectangle 1"/>
          <p:cNvSpPr/>
          <p:nvPr/>
        </p:nvSpPr>
        <p:spPr>
          <a:xfrm>
            <a:off x="109330" y="1336292"/>
            <a:ext cx="11984058" cy="923330"/>
          </a:xfrm>
          <a:prstGeom prst="rect">
            <a:avLst/>
          </a:prstGeom>
        </p:spPr>
        <p:txBody>
          <a:bodyPr wrap="square">
            <a:spAutoFit/>
          </a:bodyPr>
          <a:lstStyle/>
          <a:p>
            <a:r>
              <a:rPr lang="en-GB" sz="1800" dirty="0">
                <a:latin typeface="+mj-lt"/>
                <a:ea typeface="Times New Roman" panose="02020603050405020304" pitchFamily="18" charset="0"/>
              </a:rPr>
              <a:t>Secure File Transfer Protocol (SFTP) enables secure file access, transfer, and management over an encrypted SSH (Secure Shell) connection, it provides end-to-end encryption, ensuring both authentication details and file contents are protected during transmission.</a:t>
            </a:r>
            <a:endParaRPr lang="en-GB" sz="1800" dirty="0">
              <a:effectLst/>
              <a:latin typeface="+mj-lt"/>
              <a:ea typeface="Times New Roman" panose="02020603050405020304" pitchFamily="18" charset="0"/>
            </a:endParaRPr>
          </a:p>
        </p:txBody>
      </p:sp>
      <p:sp>
        <p:nvSpPr>
          <p:cNvPr id="4" name="Rectangle 3"/>
          <p:cNvSpPr/>
          <p:nvPr/>
        </p:nvSpPr>
        <p:spPr>
          <a:xfrm>
            <a:off x="86955" y="2502201"/>
            <a:ext cx="11748053" cy="4524315"/>
          </a:xfrm>
          <a:prstGeom prst="rect">
            <a:avLst/>
          </a:prstGeom>
        </p:spPr>
        <p:txBody>
          <a:bodyPr wrap="square">
            <a:spAutoFit/>
          </a:bodyPr>
          <a:lstStyle/>
          <a:p>
            <a:r>
              <a:rPr lang="en-GB" sz="1800" dirty="0">
                <a:latin typeface="+mj-lt"/>
                <a:ea typeface="Calibri" panose="020F0502020204030204" pitchFamily="34" charset="0"/>
                <a:cs typeface="Times New Roman" panose="02020603050405020304" pitchFamily="18" charset="0"/>
              </a:rPr>
              <a:t>The SSH (Secure Shell) service is required for SFTP, it runs on top </a:t>
            </a:r>
            <a:r>
              <a:rPr lang="en-GB" sz="1800" dirty="0">
                <a:latin typeface="Calibri" panose="020F0502020204030204" pitchFamily="34" charset="0"/>
                <a:ea typeface="Calibri" panose="020F0502020204030204" pitchFamily="34" charset="0"/>
                <a:cs typeface="Times New Roman" panose="02020603050405020304" pitchFamily="18" charset="0"/>
              </a:rPr>
              <a:t>of</a:t>
            </a:r>
            <a:r>
              <a:rPr lang="en-GB" sz="1800" dirty="0">
                <a:latin typeface="+mj-lt"/>
                <a:ea typeface="Calibri" panose="020F0502020204030204" pitchFamily="34" charset="0"/>
                <a:cs typeface="Times New Roman" panose="02020603050405020304" pitchFamily="18" charset="0"/>
              </a:rPr>
              <a:t> SSH </a:t>
            </a:r>
            <a:r>
              <a:rPr lang="en-GB" sz="1800" dirty="0">
                <a:latin typeface="Calibri" panose="020F0502020204030204" pitchFamily="34" charset="0"/>
                <a:ea typeface="Calibri" panose="020F0502020204030204" pitchFamily="34" charset="0"/>
                <a:cs typeface="Times New Roman" panose="02020603050405020304" pitchFamily="18" charset="0"/>
              </a:rPr>
              <a:t>using port 22.</a:t>
            </a:r>
            <a:r>
              <a:rPr lang="en-GB" sz="1800" dirty="0">
                <a:ea typeface="Calibri" panose="020F0502020204030204" pitchFamily="34" charset="0"/>
              </a:rPr>
              <a:t> </a:t>
            </a:r>
            <a:r>
              <a:rPr lang="en-GB" sz="1800" dirty="0">
                <a:latin typeface="+mj-lt"/>
                <a:ea typeface="Calibri" panose="020F0502020204030204" pitchFamily="34" charset="0"/>
              </a:rPr>
              <a:t>T</a:t>
            </a:r>
            <a:r>
              <a:rPr lang="en-GB" sz="1800" dirty="0">
                <a:latin typeface="+mj-lt"/>
                <a:ea typeface="Times New Roman" panose="02020603050405020304" pitchFamily="18" charset="0"/>
              </a:rPr>
              <a:t>he commands </a:t>
            </a:r>
            <a:r>
              <a:rPr lang="en-GB" sz="1800" b="1" dirty="0">
                <a:latin typeface="+mj-lt"/>
                <a:ea typeface="Times New Roman" panose="02020603050405020304" pitchFamily="18" charset="0"/>
              </a:rPr>
              <a:t>‘</a:t>
            </a:r>
            <a:r>
              <a:rPr lang="en-GB" sz="1800" b="1" dirty="0" err="1">
                <a:latin typeface="+mj-lt"/>
                <a:ea typeface="Times New Roman" panose="02020603050405020304" pitchFamily="18" charset="0"/>
              </a:rPr>
              <a:t>sudo</a:t>
            </a:r>
            <a:r>
              <a:rPr lang="en-GB" sz="1800" b="1" dirty="0">
                <a:latin typeface="+mj-lt"/>
                <a:ea typeface="Times New Roman" panose="02020603050405020304" pitchFamily="18" charset="0"/>
              </a:rPr>
              <a:t> </a:t>
            </a:r>
            <a:r>
              <a:rPr lang="en-GB" sz="1800" b="1" dirty="0" err="1">
                <a:latin typeface="+mj-lt"/>
                <a:ea typeface="Times New Roman" panose="02020603050405020304" pitchFamily="18" charset="0"/>
              </a:rPr>
              <a:t>ufw</a:t>
            </a:r>
            <a:r>
              <a:rPr lang="en-GB" sz="1800" b="1" dirty="0">
                <a:latin typeface="+mj-lt"/>
                <a:ea typeface="Times New Roman" panose="02020603050405020304" pitchFamily="18" charset="0"/>
              </a:rPr>
              <a:t> allow 22/</a:t>
            </a:r>
            <a:r>
              <a:rPr lang="en-GB" sz="1800" b="1" dirty="0" err="1">
                <a:latin typeface="+mj-lt"/>
                <a:ea typeface="Times New Roman" panose="02020603050405020304" pitchFamily="18" charset="0"/>
              </a:rPr>
              <a:t>tcp</a:t>
            </a:r>
            <a:r>
              <a:rPr lang="en-GB" sz="1800" b="1" dirty="0">
                <a:latin typeface="+mj-lt"/>
                <a:ea typeface="Times New Roman" panose="02020603050405020304" pitchFamily="18" charset="0"/>
              </a:rPr>
              <a:t>,’ </a:t>
            </a:r>
            <a:r>
              <a:rPr lang="en-GB" sz="1800" dirty="0">
                <a:latin typeface="+mj-lt"/>
                <a:ea typeface="Times New Roman" panose="02020603050405020304" pitchFamily="18" charset="0"/>
              </a:rPr>
              <a:t>and  </a:t>
            </a:r>
            <a:r>
              <a:rPr lang="en-GB" sz="1800" b="1" dirty="0">
                <a:latin typeface="+mj-lt"/>
                <a:ea typeface="Times New Roman" panose="02020603050405020304" pitchFamily="18" charset="0"/>
              </a:rPr>
              <a:t>‘</a:t>
            </a:r>
            <a:r>
              <a:rPr lang="en-GB" sz="1800" b="1" dirty="0" err="1">
                <a:latin typeface="+mj-lt"/>
                <a:ea typeface="Times New Roman" panose="02020603050405020304" pitchFamily="18" charset="0"/>
              </a:rPr>
              <a:t>sudo</a:t>
            </a:r>
            <a:r>
              <a:rPr lang="en-GB" sz="1800" b="1" dirty="0">
                <a:latin typeface="+mj-lt"/>
                <a:ea typeface="Times New Roman" panose="02020603050405020304" pitchFamily="18" charset="0"/>
              </a:rPr>
              <a:t> </a:t>
            </a:r>
            <a:r>
              <a:rPr lang="en-GB" sz="1800" b="1" dirty="0" err="1">
                <a:latin typeface="+mj-lt"/>
                <a:ea typeface="Times New Roman" panose="02020603050405020304" pitchFamily="18" charset="0"/>
              </a:rPr>
              <a:t>ufw</a:t>
            </a:r>
            <a:r>
              <a:rPr lang="en-GB" sz="1800" b="1" dirty="0">
                <a:latin typeface="+mj-lt"/>
                <a:ea typeface="Times New Roman" panose="02020603050405020304" pitchFamily="18" charset="0"/>
              </a:rPr>
              <a:t> reload’</a:t>
            </a:r>
            <a:r>
              <a:rPr lang="en-GB" sz="1800" dirty="0">
                <a:latin typeface="+mj-lt"/>
                <a:ea typeface="Times New Roman" panose="02020603050405020304" pitchFamily="18" charset="0"/>
              </a:rPr>
              <a:t> were used to open port 22 in the firewall as well as reload the rules to allow incoming SSH/SFTP connections and prepare the server for secure file transfer sessions </a:t>
            </a:r>
          </a:p>
          <a:p>
            <a:r>
              <a:rPr lang="en-GB" sz="1800" i="1" dirty="0"/>
              <a:t>          Reference: Fig 2.4 Network Configuration for SFTP….full doc on </a:t>
            </a:r>
            <a:r>
              <a:rPr lang="en-GB" sz="1800" i="1" dirty="0" err="1"/>
              <a:t>google</a:t>
            </a:r>
            <a:r>
              <a:rPr lang="en-GB" sz="1800" i="1" dirty="0"/>
              <a:t> drive</a:t>
            </a:r>
          </a:p>
          <a:p>
            <a:endParaRPr lang="en-GB" sz="1800" dirty="0">
              <a:latin typeface="+mj-lt"/>
              <a:ea typeface="Times New Roman" panose="02020603050405020304" pitchFamily="18" charset="0"/>
            </a:endParaRPr>
          </a:p>
          <a:p>
            <a:endParaRPr lang="en-GB" sz="1800" dirty="0">
              <a:latin typeface="+mj-lt"/>
              <a:ea typeface="Times New Roman" panose="02020603050405020304" pitchFamily="18" charset="0"/>
            </a:endParaRPr>
          </a:p>
          <a:p>
            <a:endParaRPr lang="en-GB" sz="1800" dirty="0">
              <a:latin typeface="+mj-lt"/>
              <a:ea typeface="Times New Roman" panose="02020603050405020304" pitchFamily="18" charset="0"/>
            </a:endParaRPr>
          </a:p>
          <a:p>
            <a:r>
              <a:rPr lang="en-GB" sz="1800" dirty="0">
                <a:latin typeface="+mj-lt"/>
                <a:ea typeface="Times New Roman" panose="02020603050405020304" pitchFamily="18" charset="0"/>
              </a:rPr>
              <a:t>After the network configuration was completed, the file to be transferred was downloaded from the remote system KALI LINUX to the local working folder/directory- still on KALI LINUX, this was done to verify that; </a:t>
            </a:r>
          </a:p>
          <a:p>
            <a:pPr marL="342900" indent="-342900">
              <a:buAutoNum type="arabicPeriod"/>
            </a:pPr>
            <a:r>
              <a:rPr lang="en-GB" sz="1800" dirty="0">
                <a:effectLst/>
                <a:latin typeface="+mj-lt"/>
                <a:ea typeface="Times New Roman" panose="02020603050405020304" pitchFamily="18" charset="0"/>
              </a:rPr>
              <a:t>The SFTP service was configured correctly </a:t>
            </a:r>
          </a:p>
          <a:p>
            <a:pPr marL="342900" indent="-342900">
              <a:buAutoNum type="arabicPeriod"/>
            </a:pPr>
            <a:r>
              <a:rPr lang="en-GB" sz="1800" dirty="0">
                <a:latin typeface="+mj-lt"/>
                <a:ea typeface="Times New Roman" panose="02020603050405020304" pitchFamily="18" charset="0"/>
              </a:rPr>
              <a:t>The user authentication was working</a:t>
            </a:r>
          </a:p>
          <a:p>
            <a:pPr marL="342900" indent="-342900">
              <a:buAutoNum type="arabicPeriod"/>
            </a:pPr>
            <a:r>
              <a:rPr lang="en-GB" sz="1800" dirty="0">
                <a:effectLst/>
                <a:latin typeface="+mj-lt"/>
                <a:ea typeface="Times New Roman" panose="02020603050405020304" pitchFamily="18" charset="0"/>
              </a:rPr>
              <a:t>The transfer mechanism was operational before the file transfer </a:t>
            </a:r>
            <a:r>
              <a:rPr lang="en-GB" sz="1800" dirty="0">
                <a:latin typeface="+mj-lt"/>
                <a:ea typeface="Times New Roman" panose="02020603050405020304" pitchFamily="18" charset="0"/>
              </a:rPr>
              <a:t>was carried out on </a:t>
            </a:r>
            <a:r>
              <a:rPr lang="en-GB" sz="1800" dirty="0">
                <a:effectLst/>
                <a:latin typeface="+mj-lt"/>
                <a:ea typeface="Times New Roman" panose="02020603050405020304" pitchFamily="18" charset="0"/>
              </a:rPr>
              <a:t>Windows</a:t>
            </a:r>
          </a:p>
          <a:p>
            <a:r>
              <a:rPr lang="en-GB" sz="1800" dirty="0">
                <a:latin typeface="+mj-lt"/>
                <a:ea typeface="Times New Roman" panose="02020603050405020304" pitchFamily="18" charset="0"/>
              </a:rPr>
              <a:t>        </a:t>
            </a:r>
            <a:r>
              <a:rPr lang="en-GB" sz="1800" i="1" dirty="0"/>
              <a:t>   Reference: Fig 2.45 SFTP File Transfer and Verification….full doc on </a:t>
            </a:r>
            <a:r>
              <a:rPr lang="en-GB" sz="1800" i="1" dirty="0" err="1"/>
              <a:t>google</a:t>
            </a:r>
            <a:r>
              <a:rPr lang="en-GB" sz="1800" i="1" dirty="0"/>
              <a:t> drive</a:t>
            </a:r>
          </a:p>
          <a:p>
            <a:r>
              <a:rPr lang="en-GB" sz="1800" dirty="0">
                <a:effectLst/>
                <a:latin typeface="+mj-lt"/>
                <a:ea typeface="Times New Roman" panose="02020603050405020304" pitchFamily="18" charset="0"/>
              </a:rPr>
              <a:t> </a:t>
            </a:r>
            <a:endParaRPr lang="en-GB" sz="1800" dirty="0">
              <a:latin typeface="+mj-lt"/>
              <a:ea typeface="Times New Roman" panose="02020603050405020304" pitchFamily="18" charset="0"/>
            </a:endParaRPr>
          </a:p>
          <a:p>
            <a:endParaRPr lang="en-GB" sz="1800" dirty="0">
              <a:effectLst/>
              <a:latin typeface="+mj-lt"/>
              <a:ea typeface="Times New Roman" panose="02020603050405020304" pitchFamily="18" charset="0"/>
            </a:endParaRPr>
          </a:p>
          <a:p>
            <a:r>
              <a:rPr lang="en-GB" sz="1800" dirty="0">
                <a:latin typeface="+mj-lt"/>
                <a:ea typeface="Times New Roman" panose="02020603050405020304" pitchFamily="18" charset="0"/>
              </a:rPr>
              <a:t> </a:t>
            </a:r>
            <a:endParaRPr lang="en-GB" sz="1800" dirty="0">
              <a:effectLst/>
              <a:latin typeface="+mj-lt"/>
              <a:ea typeface="Times New Roman" panose="02020603050405020304" pitchFamily="18" charset="0"/>
            </a:endParaRPr>
          </a:p>
        </p:txBody>
      </p:sp>
    </p:spTree>
    <p:extLst>
      <p:ext uri="{BB962C8B-B14F-4D97-AF65-F5344CB8AC3E}">
        <p14:creationId xmlns:p14="http://schemas.microsoft.com/office/powerpoint/2010/main" val="3766597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51" name="Google Shape;151;p7"/>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52" name="Google Shape;152;p7"/>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4" name="Google Shape;154;p7"/>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55" name="Google Shape;155;p7"/>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9" name="Picture 8" descr="C:\Users\ADMIN\OneDrive\Desktop\CAPPING\Windows PowerShell 20_10_2025 15_54_33.png"/>
          <p:cNvPicPr/>
          <p:nvPr/>
        </p:nvPicPr>
        <p:blipFill>
          <a:blip r:embed="rId5">
            <a:extLst>
              <a:ext uri="{28A0092B-C50C-407E-A947-70E740481C1C}">
                <a14:useLocalDpi xmlns:a14="http://schemas.microsoft.com/office/drawing/2010/main" val="0"/>
              </a:ext>
            </a:extLst>
          </a:blip>
          <a:srcRect/>
          <a:stretch>
            <a:fillRect/>
          </a:stretch>
        </p:blipFill>
        <p:spPr bwMode="auto">
          <a:xfrm>
            <a:off x="0" y="2186543"/>
            <a:ext cx="12192000" cy="4671460"/>
          </a:xfrm>
          <a:prstGeom prst="rect">
            <a:avLst/>
          </a:prstGeom>
          <a:noFill/>
          <a:ln>
            <a:noFill/>
          </a:ln>
        </p:spPr>
      </p:pic>
      <p:sp>
        <p:nvSpPr>
          <p:cNvPr id="3" name="Rectangle 2"/>
          <p:cNvSpPr/>
          <p:nvPr/>
        </p:nvSpPr>
        <p:spPr>
          <a:xfrm>
            <a:off x="-39756" y="1038105"/>
            <a:ext cx="12093388" cy="923330"/>
          </a:xfrm>
          <a:prstGeom prst="rect">
            <a:avLst/>
          </a:prstGeom>
        </p:spPr>
        <p:txBody>
          <a:bodyPr wrap="square">
            <a:spAutoFit/>
          </a:bodyPr>
          <a:lstStyle/>
          <a:p>
            <a:r>
              <a:rPr lang="en-GB" sz="1800" dirty="0">
                <a:ea typeface="Times New Roman" panose="02020603050405020304" pitchFamily="18" charset="0"/>
              </a:rPr>
              <a:t>Following the Verification, </a:t>
            </a:r>
            <a:r>
              <a:rPr lang="en-GB" sz="1800" dirty="0"/>
              <a:t> the command </a:t>
            </a:r>
            <a:r>
              <a:rPr lang="en-GB" sz="1800" b="1" dirty="0"/>
              <a:t>‘</a:t>
            </a:r>
            <a:r>
              <a:rPr lang="en-GB" sz="1800" b="1" dirty="0" err="1"/>
              <a:t>sftp</a:t>
            </a:r>
            <a:r>
              <a:rPr lang="en-GB" sz="1800" b="1" dirty="0"/>
              <a:t> </a:t>
            </a:r>
            <a:r>
              <a:rPr lang="en-GB" sz="1800" b="1" u="sng" dirty="0"/>
              <a:t>username</a:t>
            </a:r>
            <a:r>
              <a:rPr lang="en-GB" sz="1800" b="1" u="sng" dirty="0">
                <a:hlinkClick r:id="rId6"/>
              </a:rPr>
              <a:t>@10.42.4.150</a:t>
            </a:r>
            <a:r>
              <a:rPr lang="en-GB" sz="1800" b="1" dirty="0"/>
              <a:t>’</a:t>
            </a:r>
            <a:r>
              <a:rPr lang="en-GB" sz="1800" dirty="0"/>
              <a:t> was executed in Windows PowerShell to initiate a secure connection to the Kali server (IP 10.42.4.150), and then the file to be transferred  was retrieved and saved on the Windows system from the Kali Server securely as shown below. (FIG 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51" name="Google Shape;151;p7"/>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52" name="Google Shape;152;p7"/>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4" name="Google Shape;154;p7"/>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55" name="Google Shape;155;p7"/>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9" name="Picture 8" descr="C:\Users\ADMIN\OneDrive\Desktop\CAPPING\SSH.png"/>
          <p:cNvPicPr/>
          <p:nvPr/>
        </p:nvPicPr>
        <p:blipFill>
          <a:blip r:embed="rId5">
            <a:extLst>
              <a:ext uri="{28A0092B-C50C-407E-A947-70E740481C1C}">
                <a14:useLocalDpi xmlns:a14="http://schemas.microsoft.com/office/drawing/2010/main" val="0"/>
              </a:ext>
            </a:extLst>
          </a:blip>
          <a:srcRect/>
          <a:stretch>
            <a:fillRect/>
          </a:stretch>
        </p:blipFill>
        <p:spPr bwMode="auto">
          <a:xfrm>
            <a:off x="0" y="1732956"/>
            <a:ext cx="12192000" cy="5218831"/>
          </a:xfrm>
          <a:prstGeom prst="rect">
            <a:avLst/>
          </a:prstGeom>
          <a:noFill/>
          <a:ln>
            <a:noFill/>
          </a:ln>
        </p:spPr>
      </p:pic>
      <p:sp>
        <p:nvSpPr>
          <p:cNvPr id="2" name="Rectangle 1"/>
          <p:cNvSpPr/>
          <p:nvPr/>
        </p:nvSpPr>
        <p:spPr>
          <a:xfrm>
            <a:off x="0" y="823479"/>
            <a:ext cx="12192000" cy="923330"/>
          </a:xfrm>
          <a:prstGeom prst="rect">
            <a:avLst/>
          </a:prstGeom>
        </p:spPr>
        <p:txBody>
          <a:bodyPr wrap="square">
            <a:spAutoFit/>
          </a:bodyPr>
          <a:lstStyle/>
          <a:p>
            <a:r>
              <a:rPr lang="en-GB" sz="1800" dirty="0">
                <a:latin typeface="Times New Roman" panose="02020603050405020304" pitchFamily="18" charset="0"/>
                <a:ea typeface="Times New Roman" panose="02020603050405020304" pitchFamily="18" charset="0"/>
              </a:rPr>
              <a:t>The </a:t>
            </a:r>
            <a:r>
              <a:rPr lang="en-GB" sz="1800" dirty="0" err="1">
                <a:latin typeface="Times New Roman" panose="02020603050405020304" pitchFamily="18" charset="0"/>
                <a:ea typeface="Times New Roman" panose="02020603050405020304" pitchFamily="18" charset="0"/>
              </a:rPr>
              <a:t>Wireshark</a:t>
            </a:r>
            <a:r>
              <a:rPr lang="en-GB" sz="1800" dirty="0">
                <a:latin typeface="Times New Roman" panose="02020603050405020304" pitchFamily="18" charset="0"/>
                <a:ea typeface="Times New Roman" panose="02020603050405020304" pitchFamily="18" charset="0"/>
              </a:rPr>
              <a:t> </a:t>
            </a:r>
            <a:r>
              <a:rPr lang="en-GB" sz="1800" b="1" dirty="0">
                <a:latin typeface="Times New Roman" panose="02020603050405020304" pitchFamily="18" charset="0"/>
                <a:ea typeface="Times New Roman" panose="02020603050405020304" pitchFamily="18" charset="0"/>
              </a:rPr>
              <a:t>‘</a:t>
            </a:r>
            <a:r>
              <a:rPr lang="en-GB" sz="1800" b="1" dirty="0" err="1">
                <a:latin typeface="Times New Roman" panose="02020603050405020304" pitchFamily="18" charset="0"/>
                <a:ea typeface="Times New Roman" panose="02020603050405020304" pitchFamily="18" charset="0"/>
              </a:rPr>
              <a:t>ssh</a:t>
            </a:r>
            <a:r>
              <a:rPr lang="en-GB" sz="1800" b="1" dirty="0">
                <a:latin typeface="Times New Roman" panose="02020603050405020304" pitchFamily="18" charset="0"/>
                <a:ea typeface="Times New Roman" panose="02020603050405020304" pitchFamily="18" charset="0"/>
              </a:rPr>
              <a:t> filter’</a:t>
            </a:r>
            <a:r>
              <a:rPr lang="en-GB" sz="1800" dirty="0">
                <a:latin typeface="Times New Roman" panose="02020603050405020304" pitchFamily="18" charset="0"/>
                <a:ea typeface="Times New Roman" panose="02020603050405020304" pitchFamily="18" charset="0"/>
              </a:rPr>
              <a:t>, was applied to isolate SSH packets captured during the SFTP file transfer. Unlike the FTP capture, which displayed readable credentials and file data, all SFTP packets appeared as </a:t>
            </a:r>
            <a:r>
              <a:rPr lang="en-GB" sz="1800" b="1" dirty="0">
                <a:latin typeface="Times New Roman" panose="02020603050405020304" pitchFamily="18" charset="0"/>
                <a:ea typeface="Times New Roman" panose="02020603050405020304" pitchFamily="18" charset="0"/>
              </a:rPr>
              <a:t>‘Encrypted packet’</a:t>
            </a:r>
            <a:r>
              <a:rPr lang="en-GB" sz="1800" dirty="0">
                <a:latin typeface="Times New Roman" panose="02020603050405020304" pitchFamily="18" charset="0"/>
                <a:ea typeface="Times New Roman" panose="02020603050405020304" pitchFamily="18" charset="0"/>
              </a:rPr>
              <a:t> entries. It can be seen below that all payload and data are encrypted in </a:t>
            </a:r>
            <a:r>
              <a:rPr lang="en-GB" sz="1800" dirty="0" err="1">
                <a:latin typeface="Times New Roman" panose="02020603050405020304" pitchFamily="18" charset="0"/>
                <a:ea typeface="Times New Roman" panose="02020603050405020304" pitchFamily="18" charset="0"/>
              </a:rPr>
              <a:t>ciphertext</a:t>
            </a:r>
            <a:r>
              <a:rPr lang="en-GB" sz="1800" dirty="0">
                <a:latin typeface="Times New Roman" panose="02020603050405020304" pitchFamily="18" charset="0"/>
                <a:ea typeface="Times New Roman" panose="02020603050405020304" pitchFamily="18" charset="0"/>
              </a:rPr>
              <a:t> showing that SFTP is far more secure compared to FTP.</a:t>
            </a:r>
            <a:endParaRPr lang="en-GB" sz="1800" dirty="0"/>
          </a:p>
        </p:txBody>
      </p:sp>
    </p:spTree>
    <p:extLst>
      <p:ext uri="{BB962C8B-B14F-4D97-AF65-F5344CB8AC3E}">
        <p14:creationId xmlns:p14="http://schemas.microsoft.com/office/powerpoint/2010/main" val="233753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51" name="Google Shape;151;p7"/>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52" name="Google Shape;152;p7"/>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4" name="Google Shape;154;p7"/>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55" name="Google Shape;155;p7"/>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2" name="Rectangle 1"/>
          <p:cNvSpPr/>
          <p:nvPr/>
        </p:nvSpPr>
        <p:spPr>
          <a:xfrm>
            <a:off x="0" y="528340"/>
            <a:ext cx="10112659" cy="4770537"/>
          </a:xfrm>
          <a:prstGeom prst="rect">
            <a:avLst/>
          </a:prstGeom>
        </p:spPr>
        <p:txBody>
          <a:bodyPr wrap="square">
            <a:spAutoFit/>
          </a:bodyPr>
          <a:lstStyle/>
          <a:p>
            <a:endParaRPr lang="en-GB" dirty="0"/>
          </a:p>
          <a:p>
            <a:r>
              <a:rPr lang="en-GB" sz="2800" b="1" dirty="0"/>
              <a:t>SFTP ENCRYPTION MECHANISM</a:t>
            </a:r>
          </a:p>
          <a:p>
            <a:endParaRPr lang="en-GB" dirty="0"/>
          </a:p>
          <a:p>
            <a:pPr marL="285750" indent="-285750">
              <a:buFont typeface="Arial" panose="020B0604020202020204" pitchFamily="34" charset="0"/>
              <a:buChar char="•"/>
            </a:pPr>
            <a:r>
              <a:rPr lang="en-GB" sz="1800" b="1" dirty="0"/>
              <a:t>Built on SSH</a:t>
            </a:r>
            <a:r>
              <a:rPr lang="en-GB" sz="1800" dirty="0"/>
              <a:t>: SFTP operates within a secure SSH tunnel, encrypting both commands and data.</a:t>
            </a:r>
          </a:p>
          <a:p>
            <a:pPr marL="285750" indent="-285750">
              <a:buFont typeface="Arial" panose="020B0604020202020204" pitchFamily="34" charset="0"/>
              <a:buChar char="•"/>
            </a:pPr>
            <a:endParaRPr lang="en-GB" sz="1800" dirty="0"/>
          </a:p>
          <a:p>
            <a:pPr marL="285750" indent="-285750">
              <a:buFont typeface="Arial" panose="020B0604020202020204" pitchFamily="34" charset="0"/>
              <a:buChar char="•"/>
            </a:pPr>
            <a:r>
              <a:rPr lang="en-GB" sz="1800" b="1" dirty="0"/>
              <a:t>Handshake Phase</a:t>
            </a:r>
            <a:r>
              <a:rPr lang="en-GB" sz="1800" dirty="0"/>
              <a:t>: Client and server negotiate algorithms and generate an encryption key using </a:t>
            </a:r>
            <a:r>
              <a:rPr lang="en-GB" sz="1800" dirty="0" err="1"/>
              <a:t>Diffie</a:t>
            </a:r>
            <a:r>
              <a:rPr lang="en-GB" sz="1800" dirty="0"/>
              <a:t>–Hellman or ECDH.</a:t>
            </a:r>
          </a:p>
          <a:p>
            <a:pPr marL="285750" indent="-285750">
              <a:buFont typeface="Arial" panose="020B0604020202020204" pitchFamily="34" charset="0"/>
              <a:buChar char="•"/>
            </a:pPr>
            <a:endParaRPr lang="en-GB" sz="1800" dirty="0"/>
          </a:p>
          <a:p>
            <a:pPr marL="285750" indent="-285750">
              <a:buFont typeface="Arial" panose="020B0604020202020204" pitchFamily="34" charset="0"/>
              <a:buChar char="•"/>
            </a:pPr>
            <a:r>
              <a:rPr lang="en-GB" sz="1800" b="1" dirty="0"/>
              <a:t>Server Authentication</a:t>
            </a:r>
            <a:r>
              <a:rPr lang="en-GB" sz="1800" dirty="0"/>
              <a:t>: The client verifies the server’s public key to confirm identity.</a:t>
            </a:r>
          </a:p>
          <a:p>
            <a:pPr marL="285750" indent="-285750">
              <a:buFont typeface="Arial" panose="020B0604020202020204" pitchFamily="34" charset="0"/>
              <a:buChar char="•"/>
            </a:pPr>
            <a:endParaRPr lang="en-GB" sz="1800" b="1" dirty="0"/>
          </a:p>
          <a:p>
            <a:pPr marL="285750" indent="-285750">
              <a:buFont typeface="Arial" panose="020B0604020202020204" pitchFamily="34" charset="0"/>
              <a:buChar char="•"/>
            </a:pPr>
            <a:r>
              <a:rPr lang="en-GB" sz="1800" b="1" dirty="0"/>
              <a:t>Data Encryption</a:t>
            </a:r>
            <a:r>
              <a:rPr lang="en-GB" sz="1800" dirty="0"/>
              <a:t>: Files and commands are encrypted with AES for confidentiality.</a:t>
            </a:r>
          </a:p>
          <a:p>
            <a:pPr marL="285750" indent="-285750">
              <a:buFont typeface="Arial" panose="020B0604020202020204" pitchFamily="34" charset="0"/>
              <a:buChar char="•"/>
            </a:pPr>
            <a:endParaRPr lang="en-GB" sz="1800" b="1" dirty="0"/>
          </a:p>
          <a:p>
            <a:pPr marL="285750" indent="-285750">
              <a:buFont typeface="Arial" panose="020B0604020202020204" pitchFamily="34" charset="0"/>
              <a:buChar char="•"/>
            </a:pPr>
            <a:r>
              <a:rPr lang="en-GB" sz="1800" b="1" dirty="0"/>
              <a:t>Integrity Protection</a:t>
            </a:r>
            <a:r>
              <a:rPr lang="en-GB" sz="1800" dirty="0"/>
              <a:t>: HMAC-SHA2 ensures packets aren’t tampered with during transfer.</a:t>
            </a:r>
          </a:p>
          <a:p>
            <a:pPr marL="285750" indent="-285750">
              <a:buFont typeface="Arial" panose="020B0604020202020204" pitchFamily="34" charset="0"/>
              <a:buChar char="•"/>
            </a:pPr>
            <a:endParaRPr lang="en-GB" sz="1800" dirty="0"/>
          </a:p>
          <a:p>
            <a:pPr marL="285750" indent="-285750">
              <a:buFont typeface="Arial" panose="020B0604020202020204" pitchFamily="34" charset="0"/>
              <a:buChar char="•"/>
            </a:pPr>
            <a:r>
              <a:rPr lang="en-GB" sz="1800" b="1" dirty="0"/>
              <a:t>Result</a:t>
            </a:r>
            <a:r>
              <a:rPr lang="en-GB" sz="1800" dirty="0"/>
              <a:t>: End-to-end encrypted, authenticated, and integrity-verified file transfers.</a:t>
            </a:r>
          </a:p>
          <a:p>
            <a:endParaRPr lang="en-GB" dirty="0"/>
          </a:p>
        </p:txBody>
      </p:sp>
    </p:spTree>
    <p:extLst>
      <p:ext uri="{BB962C8B-B14F-4D97-AF65-F5344CB8AC3E}">
        <p14:creationId xmlns:p14="http://schemas.microsoft.com/office/powerpoint/2010/main" val="1341283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 </a:t>
            </a:r>
            <a:endParaRPr sz="1400" b="0" i="0" u="none" strike="noStrike" cap="none">
              <a:solidFill>
                <a:srgbClr val="000000"/>
              </a:solidFill>
              <a:latin typeface="Arial"/>
              <a:ea typeface="Arial"/>
              <a:cs typeface="Arial"/>
              <a:sym typeface="Arial"/>
            </a:endParaRPr>
          </a:p>
        </p:txBody>
      </p:sp>
      <p:pic>
        <p:nvPicPr>
          <p:cNvPr id="162" name="Google Shape;162;p8"/>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63" name="Google Shape;163;p8"/>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5" name="Google Shape;165;p8"/>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66" name="Google Shape;166;p8"/>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2" name="Rectangle 1"/>
          <p:cNvSpPr/>
          <p:nvPr/>
        </p:nvSpPr>
        <p:spPr>
          <a:xfrm>
            <a:off x="-39756" y="609310"/>
            <a:ext cx="12431048" cy="2185214"/>
          </a:xfrm>
          <a:prstGeom prst="rect">
            <a:avLst/>
          </a:prstGeom>
        </p:spPr>
        <p:txBody>
          <a:bodyPr wrap="square">
            <a:spAutoFit/>
          </a:bodyPr>
          <a:lstStyle/>
          <a:p>
            <a:r>
              <a:rPr lang="en-GB" sz="2800" b="1" dirty="0"/>
              <a:t>Reflection – Why Secure Protocols Matter</a:t>
            </a:r>
          </a:p>
          <a:p>
            <a:endParaRPr lang="en-GB" sz="1800" dirty="0"/>
          </a:p>
          <a:p>
            <a:pPr marL="285750" indent="-285750">
              <a:buFont typeface="Arial" panose="020B0604020202020204" pitchFamily="34" charset="0"/>
              <a:buChar char="•"/>
            </a:pPr>
            <a:r>
              <a:rPr lang="en-GB" sz="1800" b="1" dirty="0"/>
              <a:t>Protect Sensitive Data</a:t>
            </a:r>
            <a:r>
              <a:rPr lang="en-GB" sz="1800" dirty="0"/>
              <a:t>: Encryption keeps information private and unreadable to outsiders.</a:t>
            </a:r>
          </a:p>
          <a:p>
            <a:pPr marL="285750" indent="-285750">
              <a:buFont typeface="Arial" panose="020B0604020202020204" pitchFamily="34" charset="0"/>
              <a:buChar char="•"/>
            </a:pPr>
            <a:r>
              <a:rPr lang="en-GB" sz="1800" b="1" dirty="0"/>
              <a:t>Ensure Integrity</a:t>
            </a:r>
            <a:r>
              <a:rPr lang="en-GB" sz="1800" dirty="0"/>
              <a:t>: Secure protocols confirm that data isn’t altered or corrupted in transit.</a:t>
            </a:r>
          </a:p>
          <a:p>
            <a:pPr marL="285750" indent="-285750">
              <a:buFont typeface="Arial" panose="020B0604020202020204" pitchFamily="34" charset="0"/>
              <a:buChar char="•"/>
            </a:pPr>
            <a:r>
              <a:rPr lang="en-GB" sz="1800" b="1" dirty="0"/>
              <a:t>Verify Authenticity</a:t>
            </a:r>
            <a:r>
              <a:rPr lang="en-GB" sz="1800" dirty="0"/>
              <a:t>: They validate identities, preventing impersonation or unauthorized access.</a:t>
            </a:r>
          </a:p>
          <a:p>
            <a:pPr marL="285750" indent="-285750">
              <a:buFont typeface="Arial" panose="020B0604020202020204" pitchFamily="34" charset="0"/>
              <a:buChar char="•"/>
            </a:pPr>
            <a:r>
              <a:rPr lang="en-GB" sz="1800" b="1" dirty="0"/>
              <a:t>Build Digital Trust</a:t>
            </a:r>
            <a:r>
              <a:rPr lang="en-GB" sz="1800" dirty="0"/>
              <a:t>: Reliable communication fosters confidence between systems and users.</a:t>
            </a:r>
          </a:p>
          <a:p>
            <a:pPr marL="285750" indent="-285750">
              <a:buFont typeface="Arial" panose="020B0604020202020204" pitchFamily="34" charset="0"/>
              <a:buChar char="•"/>
            </a:pPr>
            <a:r>
              <a:rPr lang="en-GB" sz="1800" b="1" dirty="0"/>
              <a:t>Strengthen </a:t>
            </a:r>
            <a:r>
              <a:rPr lang="en-GB" sz="1800" b="1" dirty="0" err="1"/>
              <a:t>Cybersecurity</a:t>
            </a:r>
            <a:r>
              <a:rPr lang="en-GB" sz="1800" dirty="0"/>
              <a:t>: In today’s threat landscape, secure protocols are vital for safe and stable operations.</a:t>
            </a:r>
          </a:p>
        </p:txBody>
      </p:sp>
      <p:sp>
        <p:nvSpPr>
          <p:cNvPr id="3" name="Rectangle 2"/>
          <p:cNvSpPr/>
          <p:nvPr/>
        </p:nvSpPr>
        <p:spPr>
          <a:xfrm>
            <a:off x="-1" y="3185331"/>
            <a:ext cx="12192001" cy="3785652"/>
          </a:xfrm>
          <a:prstGeom prst="rect">
            <a:avLst/>
          </a:prstGeom>
        </p:spPr>
        <p:txBody>
          <a:bodyPr wrap="square">
            <a:spAutoFit/>
          </a:bodyPr>
          <a:lstStyle/>
          <a:p>
            <a:r>
              <a:rPr lang="en-GB" sz="2800" b="1" dirty="0"/>
              <a:t>Conclusion</a:t>
            </a:r>
          </a:p>
          <a:p>
            <a:endParaRPr lang="en-GB" dirty="0"/>
          </a:p>
          <a:p>
            <a:r>
              <a:rPr lang="en-GB" sz="1800" dirty="0"/>
              <a:t>FTP successfully enabled file transfers between systems but transmitted data, usernames, and passwords in plaintext, making it highly insecure.</a:t>
            </a:r>
          </a:p>
          <a:p>
            <a:endParaRPr lang="en-GB" sz="1800" dirty="0"/>
          </a:p>
          <a:p>
            <a:r>
              <a:rPr lang="en-GB" sz="1800" dirty="0"/>
              <a:t>SFTP (Secure FTP), on the other hand, uses SSH encryption, protecting all transmissions from eavesdropping or interception.</a:t>
            </a:r>
          </a:p>
          <a:p>
            <a:endParaRPr lang="en-GB" sz="1800" dirty="0"/>
          </a:p>
          <a:p>
            <a:r>
              <a:rPr lang="en-GB" sz="1800" dirty="0"/>
              <a:t>The project clearly demonstrates the security risks of legacy protocols like FTP and the importance of adopting encrypted alternatives.</a:t>
            </a:r>
          </a:p>
          <a:p>
            <a:endParaRPr lang="en-GB" sz="1800" dirty="0"/>
          </a:p>
          <a:p>
            <a:r>
              <a:rPr lang="en-GB" sz="1800" dirty="0"/>
              <a:t>In real-world environments, SFTP or FTPS should always replace traditional FTP for confidential or sensitive data transfer.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 </a:t>
            </a:r>
            <a:endParaRPr sz="1400" b="0" i="0" u="none" strike="noStrike" cap="none">
              <a:solidFill>
                <a:srgbClr val="000000"/>
              </a:solidFill>
              <a:latin typeface="Arial"/>
              <a:ea typeface="Arial"/>
              <a:cs typeface="Arial"/>
              <a:sym typeface="Arial"/>
            </a:endParaRPr>
          </a:p>
        </p:txBody>
      </p:sp>
      <p:pic>
        <p:nvPicPr>
          <p:cNvPr id="162" name="Google Shape;162;p8"/>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63" name="Google Shape;163;p8"/>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4" name="Google Shape;164;p8"/>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65" name="Google Shape;165;p8"/>
          <p:cNvPicPr preferRelativeResize="0"/>
          <p:nvPr/>
        </p:nvPicPr>
        <p:blipFill rotWithShape="1">
          <a:blip r:embed="rId3">
            <a:alphaModFix amt="26000"/>
          </a:blip>
          <a:srcRect/>
          <a:stretch/>
        </p:blipFill>
        <p:spPr>
          <a:xfrm>
            <a:off x="607924" y="2009748"/>
            <a:ext cx="10541991" cy="2804748"/>
          </a:xfrm>
          <a:prstGeom prst="rect">
            <a:avLst/>
          </a:prstGeom>
          <a:noFill/>
          <a:ln>
            <a:noFill/>
          </a:ln>
          <a:effectLst>
            <a:outerShdw dist="50800" sx="1000" sy="1000" algn="ctr" rotWithShape="0">
              <a:srgbClr val="000000"/>
            </a:outerShdw>
          </a:effectLst>
        </p:spPr>
      </p:pic>
      <p:pic>
        <p:nvPicPr>
          <p:cNvPr id="166" name="Google Shape;166;p8"/>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2" name="Rectangle 1"/>
          <p:cNvSpPr/>
          <p:nvPr/>
        </p:nvSpPr>
        <p:spPr>
          <a:xfrm>
            <a:off x="-1406688" y="537037"/>
            <a:ext cx="5090411" cy="1472711"/>
          </a:xfrm>
          <a:prstGeom prst="rect">
            <a:avLst/>
          </a:prstGeom>
        </p:spPr>
        <p:txBody>
          <a:bodyPr wrap="square">
            <a:spAutoFit/>
          </a:bodyPr>
          <a:lstStyle/>
          <a:p>
            <a:pPr lvl="0" algn="ctr">
              <a:lnSpc>
                <a:spcPct val="115000"/>
              </a:lnSpc>
              <a:buSzPts val="9600"/>
            </a:pPr>
            <a:r>
              <a:rPr lang="en-US" b="1" dirty="0">
                <a:solidFill>
                  <a:schemeClr val="dk1"/>
                </a:solidFill>
              </a:rPr>
              <a:t>			</a:t>
            </a:r>
            <a:r>
              <a:rPr lang="en-US" sz="3200" b="1" dirty="0">
                <a:solidFill>
                  <a:schemeClr val="dk1"/>
                </a:solidFill>
              </a:rPr>
              <a:t>REFERENCES</a:t>
            </a:r>
          </a:p>
          <a:p>
            <a:pPr lvl="0" algn="ctr">
              <a:lnSpc>
                <a:spcPct val="115000"/>
              </a:lnSpc>
              <a:buSzPts val="9600"/>
            </a:pPr>
            <a:endParaRPr lang="en-US" sz="3200" b="1" dirty="0">
              <a:solidFill>
                <a:schemeClr val="dk1"/>
              </a:solidFill>
            </a:endParaRPr>
          </a:p>
        </p:txBody>
      </p:sp>
      <p:sp>
        <p:nvSpPr>
          <p:cNvPr id="3" name="Rectangle 2"/>
          <p:cNvSpPr/>
          <p:nvPr/>
        </p:nvSpPr>
        <p:spPr>
          <a:xfrm>
            <a:off x="1569524" y="1578872"/>
            <a:ext cx="9444388" cy="4893647"/>
          </a:xfrm>
          <a:prstGeom prst="rect">
            <a:avLst/>
          </a:prstGeom>
        </p:spPr>
        <p:txBody>
          <a:bodyPr wrap="square">
            <a:spAutoFit/>
          </a:bodyPr>
          <a:lstStyle/>
          <a:p>
            <a:r>
              <a:rPr lang="en-US" sz="2400" b="1" dirty="0"/>
              <a:t>Template :</a:t>
            </a:r>
            <a:r>
              <a:rPr lang="en-US" sz="2400" dirty="0" err="1"/>
              <a:t>Techcrush</a:t>
            </a:r>
            <a:endParaRPr lang="en-US" sz="2400" dirty="0"/>
          </a:p>
          <a:p>
            <a:endParaRPr lang="en-US" sz="2400" dirty="0"/>
          </a:p>
          <a:p>
            <a:r>
              <a:rPr lang="en-US" sz="2400" b="1" dirty="0"/>
              <a:t>Slide Notes: </a:t>
            </a:r>
          </a:p>
          <a:p>
            <a:r>
              <a:rPr lang="en-US" sz="2400" dirty="0"/>
              <a:t>Kali Linux Docs – </a:t>
            </a:r>
            <a:r>
              <a:rPr lang="en-US" sz="2400" dirty="0" err="1"/>
              <a:t>vsftpd</a:t>
            </a:r>
            <a:r>
              <a:rPr lang="en-US" sz="2400" dirty="0"/>
              <a:t> Server Setup, Offensive Security</a:t>
            </a:r>
          </a:p>
          <a:p>
            <a:r>
              <a:rPr lang="en-US" sz="2400" dirty="0" err="1"/>
              <a:t>Wireshark</a:t>
            </a:r>
            <a:r>
              <a:rPr lang="en-US" sz="2400" dirty="0"/>
              <a:t> Foundation – FTP &amp; SFTP Traffic Analysis</a:t>
            </a:r>
          </a:p>
          <a:p>
            <a:r>
              <a:rPr lang="en-US" sz="2400" dirty="0" err="1"/>
              <a:t>OpenSSH</a:t>
            </a:r>
            <a:r>
              <a:rPr lang="en-US" sz="2400" dirty="0"/>
              <a:t> Project – SFTP Protocol Overview </a:t>
            </a:r>
          </a:p>
          <a:p>
            <a:r>
              <a:rPr lang="en-US" sz="2400" dirty="0"/>
              <a:t>VMware Docs – Network Modes</a:t>
            </a:r>
            <a:endParaRPr lang="en-US" sz="2400" b="1" dirty="0"/>
          </a:p>
          <a:p>
            <a:endParaRPr lang="en-US" sz="2400" b="1" dirty="0"/>
          </a:p>
          <a:p>
            <a:r>
              <a:rPr lang="en-US" sz="2400" b="1" dirty="0"/>
              <a:t>Project Files :  </a:t>
            </a:r>
          </a:p>
          <a:p>
            <a:r>
              <a:rPr lang="en-US" sz="2400" b="1" dirty="0"/>
              <a:t> </a:t>
            </a:r>
            <a:r>
              <a:rPr lang="en-US" sz="2400" dirty="0"/>
              <a:t>FTP &amp; SFTP Configuration </a:t>
            </a:r>
          </a:p>
          <a:p>
            <a:r>
              <a:rPr lang="en-GB" sz="2400" dirty="0"/>
              <a:t> Comparison of FTP and SFTP </a:t>
            </a:r>
          </a:p>
          <a:p>
            <a:r>
              <a:rPr lang="en-GB" sz="2400" dirty="0"/>
              <a:t> SFTP Confidentiality and Integrity </a:t>
            </a:r>
          </a:p>
          <a:p>
            <a:endParaRPr lang="en-GB" sz="2400" dirty="0"/>
          </a:p>
        </p:txBody>
      </p:sp>
    </p:spTree>
    <p:extLst>
      <p:ext uri="{BB962C8B-B14F-4D97-AF65-F5344CB8AC3E}">
        <p14:creationId xmlns:p14="http://schemas.microsoft.com/office/powerpoint/2010/main" val="146936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 </a:t>
            </a:r>
            <a:endParaRPr sz="1400" b="0" i="0" u="none" strike="noStrike" cap="none">
              <a:solidFill>
                <a:srgbClr val="000000"/>
              </a:solidFill>
              <a:latin typeface="Arial"/>
              <a:ea typeface="Arial"/>
              <a:cs typeface="Arial"/>
              <a:sym typeface="Arial"/>
            </a:endParaRPr>
          </a:p>
        </p:txBody>
      </p:sp>
      <p:pic>
        <p:nvPicPr>
          <p:cNvPr id="162" name="Google Shape;162;p8"/>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63" name="Google Shape;163;p8"/>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4" name="Google Shape;164;p8"/>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Disclaimer: This training material belongs to techcrush and shouldn’t be shared</a:t>
            </a:r>
            <a:endParaRPr sz="1400" b="0" i="0" u="none" strike="noStrike" cap="none">
              <a:solidFill>
                <a:srgbClr val="000000"/>
              </a:solidFill>
              <a:latin typeface="Arial"/>
              <a:ea typeface="Arial"/>
              <a:cs typeface="Arial"/>
              <a:sym typeface="Arial"/>
            </a:endParaRPr>
          </a:p>
        </p:txBody>
      </p:sp>
      <p:pic>
        <p:nvPicPr>
          <p:cNvPr id="165" name="Google Shape;165;p8"/>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66" name="Google Shape;166;p8"/>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67" name="Google Shape;167;p8"/>
          <p:cNvSpPr txBox="1"/>
          <p:nvPr/>
        </p:nvSpPr>
        <p:spPr>
          <a:xfrm>
            <a:off x="-1409815" y="413253"/>
            <a:ext cx="11477177" cy="5189072"/>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Clr>
                <a:srgbClr val="000000"/>
              </a:buClr>
              <a:buSzPts val="9600"/>
              <a:buFont typeface="Arial"/>
              <a:buNone/>
            </a:pPr>
            <a:r>
              <a:rPr lang="en-US" sz="9600" b="0" i="0" u="none" strike="noStrike" cap="none" dirty="0">
                <a:solidFill>
                  <a:schemeClr val="dk1"/>
                </a:solidFill>
                <a:latin typeface="Arial"/>
                <a:ea typeface="Arial"/>
                <a:cs typeface="Arial"/>
                <a:sym typeface="Arial"/>
              </a:rPr>
              <a:t>			</a:t>
            </a:r>
          </a:p>
          <a:p>
            <a:pPr marL="0" marR="0" lvl="0" indent="0" algn="ctr" rtl="0">
              <a:lnSpc>
                <a:spcPct val="115000"/>
              </a:lnSpc>
              <a:spcBef>
                <a:spcPts val="0"/>
              </a:spcBef>
              <a:spcAft>
                <a:spcPts val="0"/>
              </a:spcAft>
              <a:buClr>
                <a:srgbClr val="000000"/>
              </a:buClr>
              <a:buSzPts val="9600"/>
              <a:buFont typeface="Arial"/>
              <a:buNone/>
            </a:pPr>
            <a:r>
              <a:rPr lang="en-US" sz="9600" b="1" i="0" u="none" strike="noStrike" cap="none" dirty="0">
                <a:solidFill>
                  <a:schemeClr val="dk1"/>
                </a:solidFill>
                <a:latin typeface="Arial"/>
                <a:ea typeface="Arial"/>
                <a:cs typeface="Arial"/>
                <a:sym typeface="Arial"/>
              </a:rPr>
              <a:t>THANK</a:t>
            </a:r>
          </a:p>
          <a:p>
            <a:pPr marL="0" marR="0" lvl="0" indent="0" algn="ctr" rtl="0">
              <a:lnSpc>
                <a:spcPct val="115000"/>
              </a:lnSpc>
              <a:spcBef>
                <a:spcPts val="0"/>
              </a:spcBef>
              <a:spcAft>
                <a:spcPts val="0"/>
              </a:spcAft>
              <a:buClr>
                <a:srgbClr val="000000"/>
              </a:buClr>
              <a:buSzPts val="9600"/>
              <a:buFont typeface="Arial"/>
              <a:buNone/>
            </a:pPr>
            <a:r>
              <a:rPr lang="en-US" sz="9600" b="1" dirty="0">
                <a:solidFill>
                  <a:schemeClr val="dk1"/>
                </a:solidFill>
              </a:rPr>
              <a:t>                    </a:t>
            </a:r>
            <a:r>
              <a:rPr lang="en-US" sz="9600" b="1" i="0" u="none" strike="noStrike" cap="none" dirty="0">
                <a:solidFill>
                  <a:schemeClr val="dk1"/>
                </a:solidFill>
                <a:latin typeface="Arial"/>
                <a:ea typeface="Arial"/>
                <a:cs typeface="Arial"/>
                <a:sym typeface="Arial"/>
              </a:rPr>
              <a:t> YOU</a:t>
            </a:r>
            <a:endParaRPr sz="9600" b="1"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8032215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558</TotalTime>
  <Words>1764</Words>
  <Application>Microsoft Office PowerPoint</Application>
  <PresentationFormat>Widescreen</PresentationFormat>
  <Paragraphs>202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Olaniyi Eluwole</dc:creator>
  <cp:lastModifiedBy>hanifa salihu</cp:lastModifiedBy>
  <cp:revision>67</cp:revision>
  <dcterms:created xsi:type="dcterms:W3CDTF">2024-10-09T19:59:03Z</dcterms:created>
  <dcterms:modified xsi:type="dcterms:W3CDTF">2025-12-15T07:56:36Z</dcterms:modified>
</cp:coreProperties>
</file>